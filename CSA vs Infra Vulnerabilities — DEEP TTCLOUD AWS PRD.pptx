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briefing covers two kinds of security finding raised against the Inextrack Application for PMI server in DEEP TTCLOUD AWS PRD: CSA (cloud security assessment) configuration findings and infrastructure software vulnerabilities reported through Defender and Brinqa.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agreeing owners and dates: SQL and Windows hardening with the DBA and platform team, Secrets Manager rotation with the application team, and the infrastructure plan with Operations Accenture for Track and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Simplest way to remember it: a CSA finding means something is set up wrong; an infrastructure vulnerability means something installed is out of date or flawed. The first is fixed by changing configuration, the second by patching or removing software.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CSA findings come from cloud security posture checks. Each control is written as "Ensure X" and either passes or fails. Because there is no vulnerable software involved, the fix is always a configuration, permission or policy change, and the finding closes when the next assessment run sees the compliant state. The exact expansion of CSA can vary by team; here it refers to the cloud configuration compliance checks shown on the following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Important point for the team: a library counts even if nothing is actively using it. If an old virtual environment or a user's profile folder still holds urllib3 2.2.2, Defender reports it. So deleting unused copies is a legitimate and often the fastest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of the seven controls are SQL Server hardening settings on the EC2-hosted instance. One is Windows access control, one is AWS Secrets Manager hygiene. The three sp_configure items can usually be fixed in a single change window.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Short-term: run the check query to confirm the current values. Before disabling CLR, run SELECT name FROM sys.assemblies WHERE is_user_defined = 1; if anything returns, the application depends on CLR and you need either a documented exception or a code change. Before disabling Database Mail XPs, check SQL Agent operators, alerts and jobs that send notifications. Scan for startup procs only takes effect after a service restart, so schedule a change window.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RDP: removing members from the local group does not lock out administrators; access should be brokered by PAM or SSM Session Manager. If a Group Policy Restricted Groups setting populates the group, change the GPO or the finding returns at the next refresh. SQL logging: also set Login auditing to "Both failed and successful logins" in server properties. PAM model: follow the PMI PAM standard, which typically means no shared or direct sysadmin logins, sa disabled, and privileged sessions checked out from the vault. Secrets Manager: 365 days is the maximum the control allows; 90 days is a common choice. Running rotate-secret with rotation rules also triggers an immediate rotation.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Counts are rows in the Brinqa export for this one host: 118 findings across 25 distinct software packages. 19 are rated High; the rest Medium. Only two are out of SLA: WinSCP 6.1.2 for the PuTTY ECDSA key-recovery issue, and .NET Core 3.1.31, which is end of life and will not receive further patches. Remediation owner is Operations Accenture for Track and Trace; risk owner is DEEP TTCLOUD AWS PRD.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of the 118 rows are duplicates of a handful of outdated Python and Node packages, copied across environments and developer tools. That's good news: consolidating environments and removing tooling from the production server closes many findings at once, far faster than chasing each CVE individually.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Prioritise the two out-of-SLA items and the 19 High findings. For High items in Python libraries (cryptography, setuptools, Pillow 9.4.0) and Node packages (minimatch, lodash 3.10.1, form-data, uuid), the fastest route is often deleting the environment or tool that holds them. For live Prefect environments, upgrade Prefect itself rather than pinning starlette or urllib3 separately, so dependencies stay compatible. Test every change in QAS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finds every venv on the box so you can decide which ones are live. Step 2: deleting a dead environment removes every finding inside it immediately; confirm with the application owner before deleting. Step 3: pip-audit lists the exact CVEs left and the fixed versions available. Also clear the uv cache under the s-itrackec2 profile (uv cache clean) and the pipx shared packages, which hold their own old copies. For the Node packages bundled inside VS Code, Visual Studio and Azure Data Studio, update or uninstall the tool itself; do not patch its node_modules folder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Local checks prove the fix right away; the scanners confirm it later. Defender inventory and Brinqa both refresh on a schedule, so a finding can stay open for a while after the fix. If it is still open after a full refresh cycle, check the disk paths listed in the finding: usually a forgotten copy remains in another venv or user profile.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446980"/>
          </a:xfrm>
          <a:prstGeom prst="rect">
            <a:avLst/>
          </a:prstGeom>
          <a:noFill/>
          <a:ln/>
        </p:spPr>
        <p:txBody>
          <a:bodyPr wrap="square" lIns="0" tIns="0" rIns="0" bIns="0" rtlCol="0" anchor="t"/>
          <a:lstStyle>
            <a:lvl1pPr algn="l" indent="0" marL="0">
              <a:lnSpc>
                <a:spcPct val="115000"/>
              </a:lnSpc>
              <a:buNone/>
              <a:defRPr lang="en-US" sz="3200" dirty="0">
                <a:solidFill>
                  <a:srgbClr val="14213D"/>
                </a:solidFill>
                <a:latin typeface="Arial" pitchFamily="34" charset="0"/>
                <a:ea typeface="Arial" pitchFamily="34" charset="-122"/>
                <a:cs typeface="Arial"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9501"/>
            <a:ext cx="10566400" cy="4165699"/>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446980"/>
          </a:xfrm>
          <a:prstGeom prst="rect">
            <a:avLst/>
          </a:prstGeom>
          <a:noFill/>
          <a:ln/>
        </p:spPr>
        <p:txBody>
          <a:bodyPr wrap="square" lIns="0" tIns="0" rIns="0" bIns="0" rtlCol="0" anchor="t"/>
          <a:lstStyle>
            <a:lvl1pPr algn="l" indent="0" marL="0">
              <a:lnSpc>
                <a:spcPct val="115000"/>
              </a:lnSpc>
              <a:buNone/>
              <a:defRPr lang="en-US" sz="3200" dirty="0">
                <a:solidFill>
                  <a:srgbClr val="14213D"/>
                </a:solidFill>
                <a:latin typeface="Arial" pitchFamily="34" charset="0"/>
                <a:ea typeface="Arial" pitchFamily="34" charset="-122"/>
                <a:cs typeface="Arial"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9501"/>
            <a:ext cx="10566400" cy="4165699"/>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F08A3C"/>
                </a:solidFill>
                <a:latin typeface="Courier New" pitchFamily="49" charset="0"/>
                <a:ea typeface="Courier New" pitchFamily="49" charset="-122"/>
                <a:cs typeface="Courier New" pitchFamily="49" charset="-120"/>
              </a:rPr>
              <a:t>SECURITY BRIEFING · OCTOBER 2026</a:t>
            </a:r>
            <a:endParaRPr lang="en-US" sz="1400" dirty="0"/>
          </a:p>
        </p:txBody>
      </p:sp>
      <p:sp>
        <p:nvSpPr>
          <p:cNvPr id="3" name="Text 1"/>
          <p:cNvSpPr/>
          <p:nvPr>
            <p:ph type="title"/>
          </p:nvPr>
        </p:nvSpPr>
        <p:spPr>
          <a:xfrm>
            <a:off x="812800" y="1879699"/>
            <a:ext cx="10883392" cy="2265561"/>
          </a:xfrm>
          <a:prstGeom prst="rect">
            <a:avLst/>
          </a:prstGeom>
          <a:noFill/>
          <a:ln/>
        </p:spPr>
        <p:txBody>
          <a:bodyPr wrap="square" lIns="0" tIns="0" rIns="0" bIns="0" rtlCol="0" anchor="t">
            <a:normAutofit/>
          </a:bodyPr>
          <a:lstStyle/>
          <a:p>
            <a:pPr algn="l" indent="0" marL="0">
              <a:lnSpc>
                <a:spcPts val="5880"/>
              </a:lnSpc>
              <a:buNone/>
            </a:pPr>
            <a:r>
              <a:rPr lang="en-US" sz="5600" b="1" i="0" dirty="0">
                <a:solidFill>
                  <a:srgbClr val="F6F4EF"/>
                </a:solidFill>
                <a:latin typeface="Arial" pitchFamily="34" charset="0"/>
                <a:ea typeface="Arial" pitchFamily="34" charset="-122"/>
                <a:cs typeface="Arial" pitchFamily="34" charset="-120"/>
              </a:rPr>
              <a:t>CSA findings &amp;</a:t>
            </a:r>
            <a:endParaRPr lang="en-US" sz="5600" dirty="0"/>
          </a:p>
          <a:p>
            <a:pPr algn="l" indent="0" marL="0">
              <a:lnSpc>
                <a:spcPts val="5880"/>
              </a:lnSpc>
              <a:buNone/>
            </a:pPr>
            <a:r>
              <a:rPr lang="en-US" sz="5600" b="1" i="0" dirty="0">
                <a:solidFill>
                  <a:srgbClr val="F6F4EF"/>
                </a:solidFill>
                <a:latin typeface="Arial" pitchFamily="34" charset="0"/>
                <a:ea typeface="Arial" pitchFamily="34" charset="-122"/>
                <a:cs typeface="Arial" pitchFamily="34" charset="-120"/>
              </a:rPr>
              <a:t>infrastructure</a:t>
            </a:r>
            <a:endParaRPr lang="en-US" sz="5600" dirty="0"/>
          </a:p>
          <a:p>
            <a:pPr algn="l" indent="0" marL="0">
              <a:lnSpc>
                <a:spcPts val="5880"/>
              </a:lnSpc>
              <a:buNone/>
            </a:pPr>
            <a:r>
              <a:rPr lang="en-US" sz="5600" b="1" i="0" dirty="0">
                <a:solidFill>
                  <a:srgbClr val="F6F4EF"/>
                </a:solidFill>
                <a:latin typeface="Arial" pitchFamily="34" charset="0"/>
                <a:ea typeface="Arial" pitchFamily="34" charset="-122"/>
                <a:cs typeface="Arial" pitchFamily="34" charset="-120"/>
              </a:rPr>
              <a:t>vulnerabilities</a:t>
            </a:r>
            <a:endParaRPr lang="en-US" sz="5600" dirty="0"/>
          </a:p>
        </p:txBody>
      </p:sp>
      <p:sp>
        <p:nvSpPr>
          <p:cNvPr id="4" name="Text 2"/>
          <p:cNvSpPr/>
          <p:nvPr/>
        </p:nvSpPr>
        <p:spPr>
          <a:xfrm>
            <a:off x="812800" y="4373860"/>
            <a:ext cx="8502650" cy="665361"/>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CFDB"/>
                </a:solidFill>
                <a:latin typeface="Arial" pitchFamily="34" charset="0"/>
                <a:ea typeface="Arial" pitchFamily="34" charset="-122"/>
                <a:cs typeface="Arial" pitchFamily="34" charset="-120"/>
              </a:rPr>
              <a:t>What each one means, what was found on the Inextrack server, and how to fix and verify it</a:t>
            </a:r>
            <a:endParaRPr lang="en-US" sz="1800" dirty="0"/>
          </a:p>
        </p:txBody>
      </p:sp>
      <p:sp>
        <p:nvSpPr>
          <p:cNvPr id="5" name="Text 3"/>
          <p:cNvSpPr/>
          <p:nvPr/>
        </p:nvSpPr>
        <p:spPr>
          <a:xfrm>
            <a:off x="812800" y="58318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FDB"/>
                </a:solidFill>
                <a:latin typeface="Courier New" pitchFamily="49" charset="0"/>
                <a:ea typeface="Courier New" pitchFamily="49" charset="-122"/>
                <a:cs typeface="Courier New" pitchFamily="49" charset="-120"/>
              </a:rPr>
              <a:t>ec2amaz-k3vu1tm.pmintl.net · i-0ca4b6a2f212eb0b3 · DEEP TTCLOUD AWS PRD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1859359"/>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08A3C"/>
                </a:solidFill>
                <a:latin typeface="Courier New" pitchFamily="49" charset="0"/>
                <a:ea typeface="Courier New" pitchFamily="49" charset="-122"/>
                <a:cs typeface="Courier New" pitchFamily="49" charset="-120"/>
              </a:rPr>
              <a:t>IN ONE LINE EACH</a:t>
            </a:r>
            <a:endParaRPr lang="en-US" sz="1200" dirty="0"/>
          </a:p>
        </p:txBody>
      </p:sp>
      <p:sp>
        <p:nvSpPr>
          <p:cNvPr id="3" name="Text 1"/>
          <p:cNvSpPr/>
          <p:nvPr/>
        </p:nvSpPr>
        <p:spPr>
          <a:xfrm>
            <a:off x="812800" y="2428280"/>
            <a:ext cx="10883392" cy="609600"/>
          </a:xfrm>
          <a:prstGeom prst="rect">
            <a:avLst/>
          </a:prstGeom>
          <a:noFill/>
          <a:ln/>
        </p:spPr>
        <p:txBody>
          <a:bodyPr wrap="square" lIns="0" tIns="0" rIns="0" bIns="0" rtlCol="0" anchor="t">
            <a:normAutofit/>
          </a:bodyPr>
          <a:lstStyle/>
          <a:p>
            <a:pPr algn="l" indent="0" marL="0">
              <a:lnSpc>
                <a:spcPts val="4600"/>
              </a:lnSpc>
              <a:buNone/>
            </a:pPr>
            <a:r>
              <a:rPr lang="en-US" sz="4000" b="1" dirty="0">
                <a:solidFill>
                  <a:srgbClr val="F08A3C"/>
                </a:solidFill>
                <a:latin typeface="Arial" pitchFamily="34" charset="0"/>
                <a:ea typeface="Arial" pitchFamily="34" charset="-122"/>
                <a:cs typeface="Arial" pitchFamily="34" charset="-120"/>
              </a:rPr>
              <a:t>CSA</a:t>
            </a:r>
            <a:r>
              <a:rPr lang="en-US" sz="4000" b="1" dirty="0">
                <a:solidFill>
                  <a:srgbClr val="F6F4EF"/>
                </a:solidFill>
                <a:latin typeface="Arial" pitchFamily="34" charset="0"/>
                <a:ea typeface="Arial" pitchFamily="34" charset="-122"/>
                <a:cs typeface="Arial" pitchFamily="34" charset="-120"/>
              </a:rPr>
              <a:t> · fix the configuration.</a:t>
            </a:r>
            <a:endParaRPr lang="en-US" sz="4000" dirty="0"/>
          </a:p>
        </p:txBody>
      </p:sp>
      <p:sp>
        <p:nvSpPr>
          <p:cNvPr id="4" name="Text 2"/>
          <p:cNvSpPr/>
          <p:nvPr/>
        </p:nvSpPr>
        <p:spPr>
          <a:xfrm>
            <a:off x="812800" y="3215680"/>
            <a:ext cx="10883392" cy="609600"/>
          </a:xfrm>
          <a:prstGeom prst="rect">
            <a:avLst/>
          </a:prstGeom>
          <a:noFill/>
          <a:ln/>
        </p:spPr>
        <p:txBody>
          <a:bodyPr wrap="square" lIns="0" tIns="0" rIns="0" bIns="0" rtlCol="0" anchor="t">
            <a:normAutofit/>
          </a:bodyPr>
          <a:lstStyle/>
          <a:p>
            <a:pPr algn="l" indent="0" marL="0">
              <a:lnSpc>
                <a:spcPts val="4600"/>
              </a:lnSpc>
              <a:buNone/>
            </a:pPr>
            <a:r>
              <a:rPr lang="en-US" sz="4000" b="1" dirty="0">
                <a:solidFill>
                  <a:srgbClr val="8FB3D1"/>
                </a:solidFill>
                <a:latin typeface="Arial" pitchFamily="34" charset="0"/>
                <a:ea typeface="Arial" pitchFamily="34" charset="-122"/>
                <a:cs typeface="Arial" pitchFamily="34" charset="-120"/>
              </a:rPr>
              <a:t>Infra</a:t>
            </a:r>
            <a:r>
              <a:rPr lang="en-US" sz="4000" b="1" dirty="0">
                <a:solidFill>
                  <a:srgbClr val="F6F4EF"/>
                </a:solidFill>
                <a:latin typeface="Arial" pitchFamily="34" charset="0"/>
                <a:ea typeface="Arial" pitchFamily="34" charset="-122"/>
                <a:cs typeface="Arial" pitchFamily="34" charset="-120"/>
              </a:rPr>
              <a:t> · fix or remove the software.</a:t>
            </a:r>
            <a:endParaRPr lang="en-US" sz="4000" dirty="0"/>
          </a:p>
        </p:txBody>
      </p:sp>
      <p:sp>
        <p:nvSpPr>
          <p:cNvPr id="5" name="Text 3"/>
          <p:cNvSpPr/>
          <p:nvPr/>
        </p:nvSpPr>
        <p:spPr>
          <a:xfrm>
            <a:off x="812800" y="4155480"/>
            <a:ext cx="9156700" cy="665361"/>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CFDB"/>
                </a:solidFill>
                <a:latin typeface="Arial" pitchFamily="34" charset="0"/>
                <a:ea typeface="Arial" pitchFamily="34" charset="-122"/>
                <a:cs typeface="Arial" pitchFamily="34" charset="-120"/>
              </a:rPr>
              <a:t>Both are closed only when the next scan agrees. Start with the two out-of-SLA items and the 19 High findings.</a:t>
            </a:r>
            <a:endParaRPr lang="en-US" sz="1800" dirty="0"/>
          </a:p>
        </p:txBody>
      </p:sp>
      <p:sp>
        <p:nvSpPr>
          <p:cNvPr id="6" name="Text 4"/>
          <p:cNvSpPr/>
          <p:nvPr/>
        </p:nvSpPr>
        <p:spPr>
          <a:xfrm>
            <a:off x="812800" y="6238280"/>
            <a:ext cx="527137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4B8"/>
                </a:solidFill>
                <a:latin typeface="Arial" pitchFamily="34" charset="0"/>
                <a:ea typeface="Arial" pitchFamily="34" charset="-122"/>
                <a:cs typeface="Arial" pitchFamily="34" charset="-120"/>
              </a:rPr>
              <a:t>CSA &amp; infrastructure vulnerabilities · DEEP TTCLOUD AWS PRD</a:t>
            </a:r>
            <a:endParaRPr lang="en-US" sz="1200" dirty="0"/>
          </a:p>
        </p:txBody>
      </p:sp>
      <p:sp>
        <p:nvSpPr>
          <p:cNvPr id="7" name="Text 5"/>
          <p:cNvSpPr/>
          <p:nvPr/>
        </p:nvSpPr>
        <p:spPr>
          <a:xfrm>
            <a:off x="11158835" y="6238280"/>
            <a:ext cx="220365"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AA4B8"/>
                </a:solidFill>
                <a:latin typeface="Arial" pitchFamily="34" charset="0"/>
                <a:ea typeface="Arial" pitchFamily="34" charset="-122"/>
                <a:cs typeface="Arial" pitchFamily="34" charset="-120"/>
              </a:rPr>
              <a:t>13</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31A"/>
                </a:solidFill>
                <a:latin typeface="Courier New" pitchFamily="49" charset="0"/>
                <a:ea typeface="Courier New" pitchFamily="49" charset="-122"/>
                <a:cs typeface="Courier New" pitchFamily="49" charset="-120"/>
              </a:rPr>
              <a:t>THE BASICS</a:t>
            </a:r>
            <a:endParaRPr lang="en-US" sz="1200" dirty="0"/>
          </a:p>
        </p:txBody>
      </p:sp>
      <p:sp>
        <p:nvSpPr>
          <p:cNvPr id="3" name="Text 1"/>
          <p:cNvSpPr/>
          <p:nvPr>
            <p:ph type="title"/>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Arial" pitchFamily="34" charset="0"/>
                <a:ea typeface="Arial" pitchFamily="34" charset="-122"/>
                <a:cs typeface="Arial" pitchFamily="34" charset="-120"/>
              </a:rPr>
              <a:t>Two kinds of security finding</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92201"/>
          <a:ext cx="10553700" cy="3502521"/>
        </p:xfrm>
        <a:graphic>
          <a:graphicData uri="http://schemas.openxmlformats.org/drawingml/2006/table">
            <a:tbl>
              <a:tblPr/>
              <a:tblGrid>
                <a:gridCol w="2110740"/>
                <a:gridCol w="4221480"/>
                <a:gridCol w="4221480"/>
              </a:tblGrid>
              <a:tr h="500360">
                <a:tc>
                  <a:txBody>
                    <a:bodyPr/>
                    <a:lstStyle/>
                    <a:p>
                      <a:pPr indent="0" marL="0">
                        <a:lnSpc>
                          <a:spcPts val="2240"/>
                        </a:lnSpc>
                        <a:buNone/>
                      </a:pPr>
                      <a:endParaRPr lang="en-US" sz="1600" dirty="0">
                        <a:latin typeface="Arial" charset="0"/>
                        <a:ea typeface="Arial" charset="0"/>
                        <a:cs typeface="Arial" charset="0"/>
                      </a:endParaRPr>
                    </a:p>
                  </a:txBody>
                  <a:tcPr marL="127000" marR="127000" marT="101600" marB="101600" anchor="t">
                    <a:lnL w="12700" cap="flat" cmpd="sng" algn="ctr">
                      <a:solidFill>
                        <a:srgbClr val="C4C3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indent="0" marL="0">
                        <a:lnSpc>
                          <a:spcPts val="2240"/>
                        </a:lnSpc>
                        <a:buNone/>
                      </a:pPr>
                      <a:r>
                        <a:rPr lang="en-US" sz="1600" b="1" dirty="0">
                          <a:solidFill>
                            <a:srgbClr val="B4531A"/>
                          </a:solidFill>
                          <a:latin typeface="Arial" pitchFamily="34" charset="0"/>
                          <a:ea typeface="Arial" pitchFamily="34" charset="-122"/>
                          <a:cs typeface="Arial" pitchFamily="34" charset="-120"/>
                        </a:rPr>
                        <a:t>CSA finding</a:t>
                      </a:r>
                      <a:endParaRPr lang="en-US" sz="1600" dirty="0">
                        <a:latin typeface="Arial" charset="0"/>
                        <a:ea typeface="Arial" charset="0"/>
                        <a:cs typeface="Arial" charset="0"/>
                      </a:endParaRPr>
                    </a:p>
                  </a:txBody>
                  <a:tcPr marL="127000" marR="127000" marT="101600" marB="10160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indent="0" marL="0">
                        <a:lnSpc>
                          <a:spcPts val="2240"/>
                        </a:lnSpc>
                        <a:buNone/>
                      </a:pPr>
                      <a:r>
                        <a:rPr lang="en-US" sz="1600" b="1" dirty="0">
                          <a:solidFill>
                            <a:srgbClr val="2F6690"/>
                          </a:solidFill>
                          <a:latin typeface="Arial" pitchFamily="34" charset="0"/>
                          <a:ea typeface="Arial" pitchFamily="34" charset="-122"/>
                          <a:cs typeface="Arial" pitchFamily="34" charset="-120"/>
                        </a:rPr>
                        <a:t>Infrastructure vulnerability</a:t>
                      </a:r>
                      <a:endParaRPr lang="en-US" sz="1600" dirty="0">
                        <a:latin typeface="Arial" charset="0"/>
                        <a:ea typeface="Arial" charset="0"/>
                        <a:cs typeface="Arial" charset="0"/>
                      </a:endParaRPr>
                    </a:p>
                  </a:txBody>
                  <a:tcPr marL="127000" marR="127000" marT="101600" marB="10160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r>
              <a:tr h="500360">
                <a:tc>
                  <a:txBody>
                    <a:bodyPr/>
                    <a:lstStyle/>
                    <a:p>
                      <a:pPr indent="0" marL="0">
                        <a:lnSpc>
                          <a:spcPts val="2240"/>
                        </a:lnSpc>
                        <a:buNone/>
                      </a:pPr>
                      <a:r>
                        <a:rPr lang="en-US" sz="1600" dirty="0">
                          <a:solidFill>
                            <a:srgbClr val="1B1F2A"/>
                          </a:solidFill>
                          <a:latin typeface="Arial" pitchFamily="34" charset="0"/>
                          <a:ea typeface="Arial" pitchFamily="34" charset="-122"/>
                          <a:cs typeface="Arial" pitchFamily="34" charset="-120"/>
                        </a:rPr>
                        <a:t>Question asked</a:t>
                      </a:r>
                      <a:endParaRPr lang="en-US" sz="1600" dirty="0">
                        <a:latin typeface="Arial" charset="0"/>
                        <a:ea typeface="Arial" charset="0"/>
                        <a:cs typeface="Arial" charset="0"/>
                      </a:endParaRPr>
                    </a:p>
                  </a:txBody>
                  <a:tcPr marL="127000" marR="127000" marT="101600" marB="10160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240"/>
                        </a:lnSpc>
                        <a:buNone/>
                      </a:pPr>
                      <a:r>
                        <a:rPr lang="en-US" sz="1600" dirty="0">
                          <a:solidFill>
                            <a:srgbClr val="1B1F2A"/>
                          </a:solidFill>
                          <a:latin typeface="Arial" pitchFamily="34" charset="0"/>
                          <a:ea typeface="Arial" pitchFamily="34" charset="-122"/>
                          <a:cs typeface="Arial" pitchFamily="34" charset="-120"/>
                        </a:rPr>
                        <a:t>Is this resource configured safely?</a:t>
                      </a:r>
                      <a:endParaRPr lang="en-US" sz="1600" dirty="0">
                        <a:latin typeface="Arial" charset="0"/>
                        <a:ea typeface="Arial" charset="0"/>
                        <a:cs typeface="Arial" charset="0"/>
                      </a:endParaRPr>
                    </a:p>
                  </a:txBody>
                  <a:tcPr marL="127000" marR="127000" marT="101600" marB="10160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240"/>
                        </a:lnSpc>
                        <a:buNone/>
                      </a:pPr>
                      <a:r>
                        <a:rPr lang="en-US" sz="1600" dirty="0">
                          <a:solidFill>
                            <a:srgbClr val="1B1F2A"/>
                          </a:solidFill>
                          <a:latin typeface="Arial" pitchFamily="34" charset="0"/>
                          <a:ea typeface="Arial" pitchFamily="34" charset="-122"/>
                          <a:cs typeface="Arial" pitchFamily="34" charset="-120"/>
                        </a:rPr>
                        <a:t>Does installed software have a known flaw?</a:t>
                      </a:r>
                      <a:endParaRPr lang="en-US" sz="1600" dirty="0">
                        <a:latin typeface="Arial" charset="0"/>
                        <a:ea typeface="Arial" charset="0"/>
                        <a:cs typeface="Arial" charset="0"/>
                      </a:endParaRPr>
                    </a:p>
                  </a:txBody>
                  <a:tcPr marL="127000" marR="127000" marT="101600" marB="10160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500360">
                <a:tc>
                  <a:txBody>
                    <a:bodyPr/>
                    <a:lstStyle/>
                    <a:p>
                      <a:pPr indent="0" marL="0">
                        <a:lnSpc>
                          <a:spcPts val="2240"/>
                        </a:lnSpc>
                        <a:buNone/>
                      </a:pPr>
                      <a:r>
                        <a:rPr lang="en-US" sz="1600" dirty="0">
                          <a:solidFill>
                            <a:srgbClr val="1B1F2A"/>
                          </a:solidFill>
                          <a:latin typeface="Arial" pitchFamily="34" charset="0"/>
                          <a:ea typeface="Arial" pitchFamily="34" charset="-122"/>
                          <a:cs typeface="Arial" pitchFamily="34" charset="-120"/>
                        </a:rPr>
                        <a:t>Measured against</a:t>
                      </a:r>
                      <a:endParaRPr lang="en-US" sz="1600" dirty="0">
                        <a:latin typeface="Arial" charset="0"/>
                        <a:ea typeface="Arial" charset="0"/>
                        <a:cs typeface="Arial" charset="0"/>
                      </a:endParaRPr>
                    </a:p>
                  </a:txBody>
                  <a:tcPr marL="127000" marR="127000" marT="101600" marB="10160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240"/>
                        </a:lnSpc>
                        <a:buNone/>
                      </a:pPr>
                      <a:r>
                        <a:rPr lang="en-US" sz="1600" dirty="0">
                          <a:solidFill>
                            <a:srgbClr val="1B1F2A"/>
                          </a:solidFill>
                          <a:latin typeface="Arial" pitchFamily="34" charset="0"/>
                          <a:ea typeface="Arial" pitchFamily="34" charset="-122"/>
                          <a:cs typeface="Arial" pitchFamily="34" charset="-120"/>
                        </a:rPr>
                        <a:t>CIS / AWS benchmarks, PMI standards</a:t>
                      </a:r>
                      <a:endParaRPr lang="en-US" sz="1600" dirty="0">
                        <a:latin typeface="Arial" charset="0"/>
                        <a:ea typeface="Arial" charset="0"/>
                        <a:cs typeface="Arial" charset="0"/>
                      </a:endParaRPr>
                    </a:p>
                  </a:txBody>
                  <a:tcPr marL="127000" marR="127000" marT="101600" marB="10160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240"/>
                        </a:lnSpc>
                        <a:buNone/>
                      </a:pPr>
                      <a:r>
                        <a:rPr lang="en-US" sz="1600" dirty="0">
                          <a:solidFill>
                            <a:srgbClr val="1B1F2A"/>
                          </a:solidFill>
                          <a:latin typeface="Arial" pitchFamily="34" charset="0"/>
                          <a:ea typeface="Arial" pitchFamily="34" charset="-122"/>
                          <a:cs typeface="Arial" pitchFamily="34" charset="-120"/>
                        </a:rPr>
                        <a:t>Published CVEs for that version</a:t>
                      </a:r>
                      <a:endParaRPr lang="en-US" sz="1600" dirty="0">
                        <a:latin typeface="Arial" charset="0"/>
                        <a:ea typeface="Arial" charset="0"/>
                        <a:cs typeface="Arial" charset="0"/>
                      </a:endParaRPr>
                    </a:p>
                  </a:txBody>
                  <a:tcPr marL="127000" marR="127000" marT="101600" marB="10160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500360">
                <a:tc>
                  <a:txBody>
                    <a:bodyPr/>
                    <a:lstStyle/>
                    <a:p>
                      <a:pPr indent="0" marL="0">
                        <a:lnSpc>
                          <a:spcPts val="2240"/>
                        </a:lnSpc>
                        <a:buNone/>
                      </a:pPr>
                      <a:r>
                        <a:rPr lang="en-US" sz="1600" dirty="0">
                          <a:solidFill>
                            <a:srgbClr val="1B1F2A"/>
                          </a:solidFill>
                          <a:latin typeface="Arial" pitchFamily="34" charset="0"/>
                          <a:ea typeface="Arial" pitchFamily="34" charset="-122"/>
                          <a:cs typeface="Arial" pitchFamily="34" charset="-120"/>
                        </a:rPr>
                        <a:t>Example here</a:t>
                      </a:r>
                      <a:endParaRPr lang="en-US" sz="1600" dirty="0">
                        <a:latin typeface="Arial" charset="0"/>
                        <a:ea typeface="Arial" charset="0"/>
                        <a:cs typeface="Arial" charset="0"/>
                      </a:endParaRPr>
                    </a:p>
                  </a:txBody>
                  <a:tcPr marL="127000" marR="127000" marT="101600" marB="10160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240"/>
                        </a:lnSpc>
                        <a:buNone/>
                      </a:pPr>
                      <a:r>
                        <a:rPr lang="en-US" sz="1600" dirty="0">
                          <a:solidFill>
                            <a:srgbClr val="1B1F2A"/>
                          </a:solidFill>
                          <a:latin typeface="Arial" pitchFamily="34" charset="0"/>
                          <a:ea typeface="Arial" pitchFamily="34" charset="-122"/>
                          <a:cs typeface="Arial" pitchFamily="34" charset="-120"/>
                        </a:rPr>
                        <a:t>CLR enabled on SQL Server</a:t>
                      </a:r>
                      <a:endParaRPr lang="en-US" sz="1600" dirty="0">
                        <a:latin typeface="Arial" charset="0"/>
                        <a:ea typeface="Arial" charset="0"/>
                        <a:cs typeface="Arial" charset="0"/>
                      </a:endParaRPr>
                    </a:p>
                  </a:txBody>
                  <a:tcPr marL="127000" marR="127000" marT="101600" marB="10160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240"/>
                        </a:lnSpc>
                        <a:buNone/>
                      </a:pPr>
                      <a:r>
                        <a:rPr lang="en-US" sz="1600" dirty="0">
                          <a:solidFill>
                            <a:srgbClr val="1B1F2A"/>
                          </a:solidFill>
                          <a:latin typeface="Arial" pitchFamily="34" charset="0"/>
                          <a:ea typeface="Arial" pitchFamily="34" charset="-122"/>
                          <a:cs typeface="Arial" pitchFamily="34" charset="-120"/>
                        </a:rPr>
                        <a:t>urllib3 2.2.2 · CVE-2025-66418</a:t>
                      </a:r>
                      <a:endParaRPr lang="en-US" sz="1600" dirty="0">
                        <a:latin typeface="Arial" charset="0"/>
                        <a:ea typeface="Arial" charset="0"/>
                        <a:cs typeface="Arial" charset="0"/>
                      </a:endParaRPr>
                    </a:p>
                  </a:txBody>
                  <a:tcPr marL="127000" marR="127000" marT="101600" marB="10160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500360">
                <a:tc>
                  <a:txBody>
                    <a:bodyPr/>
                    <a:lstStyle/>
                    <a:p>
                      <a:pPr indent="0" marL="0">
                        <a:lnSpc>
                          <a:spcPts val="2240"/>
                        </a:lnSpc>
                        <a:buNone/>
                      </a:pPr>
                      <a:r>
                        <a:rPr lang="en-US" sz="1600" dirty="0">
                          <a:solidFill>
                            <a:srgbClr val="1B1F2A"/>
                          </a:solidFill>
                          <a:latin typeface="Arial" pitchFamily="34" charset="0"/>
                          <a:ea typeface="Arial" pitchFamily="34" charset="-122"/>
                          <a:cs typeface="Arial" pitchFamily="34" charset="-120"/>
                        </a:rPr>
                        <a:t>Found by</a:t>
                      </a:r>
                      <a:endParaRPr lang="en-US" sz="1600" dirty="0">
                        <a:latin typeface="Arial" charset="0"/>
                        <a:ea typeface="Arial" charset="0"/>
                        <a:cs typeface="Arial" charset="0"/>
                      </a:endParaRPr>
                    </a:p>
                  </a:txBody>
                  <a:tcPr marL="127000" marR="127000" marT="101600" marB="10160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240"/>
                        </a:lnSpc>
                        <a:buNone/>
                      </a:pPr>
                      <a:r>
                        <a:rPr lang="en-US" sz="1600" dirty="0">
                          <a:solidFill>
                            <a:srgbClr val="1B1F2A"/>
                          </a:solidFill>
                          <a:latin typeface="Arial" pitchFamily="34" charset="0"/>
                          <a:ea typeface="Arial" pitchFamily="34" charset="-122"/>
                          <a:cs typeface="Arial" pitchFamily="34" charset="-120"/>
                        </a:rPr>
                        <a:t>Cloud posture scan of the account</a:t>
                      </a:r>
                      <a:endParaRPr lang="en-US" sz="1600" dirty="0">
                        <a:latin typeface="Arial" charset="0"/>
                        <a:ea typeface="Arial" charset="0"/>
                        <a:cs typeface="Arial" charset="0"/>
                      </a:endParaRPr>
                    </a:p>
                  </a:txBody>
                  <a:tcPr marL="127000" marR="127000" marT="101600" marB="10160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240"/>
                        </a:lnSpc>
                        <a:buNone/>
                      </a:pPr>
                      <a:r>
                        <a:rPr lang="en-US" sz="1600" dirty="0">
                          <a:solidFill>
                            <a:srgbClr val="1B1F2A"/>
                          </a:solidFill>
                          <a:latin typeface="Arial" pitchFamily="34" charset="0"/>
                          <a:ea typeface="Arial" pitchFamily="34" charset="-122"/>
                          <a:cs typeface="Arial" pitchFamily="34" charset="-120"/>
                        </a:rPr>
                        <a:t>Defender software inventory → Brinqa</a:t>
                      </a:r>
                      <a:endParaRPr lang="en-US" sz="1600" dirty="0">
                        <a:latin typeface="Arial" charset="0"/>
                        <a:ea typeface="Arial" charset="0"/>
                        <a:cs typeface="Arial" charset="0"/>
                      </a:endParaRPr>
                    </a:p>
                  </a:txBody>
                  <a:tcPr marL="127000" marR="127000" marT="101600" marB="10160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500360">
                <a:tc>
                  <a:txBody>
                    <a:bodyPr/>
                    <a:lstStyle/>
                    <a:p>
                      <a:pPr indent="0" marL="0">
                        <a:lnSpc>
                          <a:spcPts val="2240"/>
                        </a:lnSpc>
                        <a:buNone/>
                      </a:pPr>
                      <a:r>
                        <a:rPr lang="en-US" sz="1600" dirty="0">
                          <a:solidFill>
                            <a:srgbClr val="1B1F2A"/>
                          </a:solidFill>
                          <a:latin typeface="Arial" pitchFamily="34" charset="0"/>
                          <a:ea typeface="Arial" pitchFamily="34" charset="-122"/>
                          <a:cs typeface="Arial" pitchFamily="34" charset="-120"/>
                        </a:rPr>
                        <a:t>The fix</a:t>
                      </a:r>
                      <a:endParaRPr lang="en-US" sz="1600" dirty="0">
                        <a:latin typeface="Arial" charset="0"/>
                        <a:ea typeface="Arial" charset="0"/>
                        <a:cs typeface="Arial" charset="0"/>
                      </a:endParaRPr>
                    </a:p>
                  </a:txBody>
                  <a:tcPr marL="127000" marR="127000" marT="101600" marB="10160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240"/>
                        </a:lnSpc>
                        <a:buNone/>
                      </a:pPr>
                      <a:r>
                        <a:rPr lang="en-US" sz="1600" dirty="0">
                          <a:solidFill>
                            <a:srgbClr val="1B1F2A"/>
                          </a:solidFill>
                          <a:latin typeface="Arial" pitchFamily="34" charset="0"/>
                          <a:ea typeface="Arial" pitchFamily="34" charset="-122"/>
                          <a:cs typeface="Arial" pitchFamily="34" charset="-120"/>
                        </a:rPr>
                        <a:t>Change a setting, policy or permission</a:t>
                      </a:r>
                      <a:endParaRPr lang="en-US" sz="1600" dirty="0">
                        <a:latin typeface="Arial" charset="0"/>
                        <a:ea typeface="Arial" charset="0"/>
                        <a:cs typeface="Arial" charset="0"/>
                      </a:endParaRPr>
                    </a:p>
                  </a:txBody>
                  <a:tcPr marL="127000" marR="127000" marT="101600" marB="10160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240"/>
                        </a:lnSpc>
                        <a:buNone/>
                      </a:pPr>
                      <a:r>
                        <a:rPr lang="en-US" sz="1600" dirty="0">
                          <a:solidFill>
                            <a:srgbClr val="1B1F2A"/>
                          </a:solidFill>
                          <a:latin typeface="Arial" pitchFamily="34" charset="0"/>
                          <a:ea typeface="Arial" pitchFamily="34" charset="-122"/>
                          <a:cs typeface="Arial" pitchFamily="34" charset="-120"/>
                        </a:rPr>
                        <a:t>Patch, upgrade or remove the software</a:t>
                      </a:r>
                      <a:endParaRPr lang="en-US" sz="1600" dirty="0">
                        <a:latin typeface="Arial" charset="0"/>
                        <a:ea typeface="Arial" charset="0"/>
                        <a:cs typeface="Arial" charset="0"/>
                      </a:endParaRPr>
                    </a:p>
                  </a:txBody>
                  <a:tcPr marL="127000" marR="127000" marT="101600" marB="10160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500360">
                <a:tc>
                  <a:txBody>
                    <a:bodyPr/>
                    <a:lstStyle/>
                    <a:p>
                      <a:pPr indent="0" marL="0">
                        <a:lnSpc>
                          <a:spcPts val="2240"/>
                        </a:lnSpc>
                        <a:buNone/>
                      </a:pPr>
                      <a:r>
                        <a:rPr lang="en-US" sz="1600" dirty="0">
                          <a:solidFill>
                            <a:srgbClr val="1B1F2A"/>
                          </a:solidFill>
                          <a:latin typeface="Arial" pitchFamily="34" charset="0"/>
                          <a:ea typeface="Arial" pitchFamily="34" charset="-122"/>
                          <a:cs typeface="Arial" pitchFamily="34" charset="-120"/>
                        </a:rPr>
                        <a:t>Closed when</a:t>
                      </a:r>
                      <a:endParaRPr lang="en-US" sz="1600" dirty="0">
                        <a:latin typeface="Arial" charset="0"/>
                        <a:ea typeface="Arial" charset="0"/>
                        <a:cs typeface="Arial" charset="0"/>
                      </a:endParaRPr>
                    </a:p>
                  </a:txBody>
                  <a:tcPr marL="127000" marR="127000" marT="101600" marB="10160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240"/>
                        </a:lnSpc>
                        <a:buNone/>
                      </a:pPr>
                      <a:r>
                        <a:rPr lang="en-US" sz="1600" dirty="0">
                          <a:solidFill>
                            <a:srgbClr val="1B1F2A"/>
                          </a:solidFill>
                          <a:latin typeface="Arial" pitchFamily="34" charset="0"/>
                          <a:ea typeface="Arial" pitchFamily="34" charset="-122"/>
                          <a:cs typeface="Arial" pitchFamily="34" charset="-120"/>
                        </a:rPr>
                        <a:t>Next scan sees the compliant setting</a:t>
                      </a:r>
                      <a:endParaRPr lang="en-US" sz="1600" dirty="0">
                        <a:latin typeface="Arial" charset="0"/>
                        <a:ea typeface="Arial" charset="0"/>
                        <a:cs typeface="Arial" charset="0"/>
                      </a:endParaRPr>
                    </a:p>
                  </a:txBody>
                  <a:tcPr marL="127000" marR="127000" marT="101600" marB="10160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240"/>
                        </a:lnSpc>
                        <a:buNone/>
                      </a:pPr>
                      <a:r>
                        <a:rPr lang="en-US" sz="1600" dirty="0">
                          <a:solidFill>
                            <a:srgbClr val="1B1F2A"/>
                          </a:solidFill>
                          <a:latin typeface="Arial" pitchFamily="34" charset="0"/>
                          <a:ea typeface="Arial" pitchFamily="34" charset="-122"/>
                          <a:cs typeface="Arial" pitchFamily="34" charset="-120"/>
                        </a:rPr>
                        <a:t>Vulnerable version is gone from disk</a:t>
                      </a:r>
                      <a:endParaRPr lang="en-US" sz="1600" dirty="0">
                        <a:latin typeface="Arial" charset="0"/>
                        <a:ea typeface="Arial" charset="0"/>
                        <a:cs typeface="Arial" charset="0"/>
                      </a:endParaRPr>
                    </a:p>
                  </a:txBody>
                  <a:tcPr marL="127000" marR="127000" marT="101600" marB="10160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5" name="Text 2"/>
          <p:cNvSpPr/>
          <p:nvPr/>
        </p:nvSpPr>
        <p:spPr>
          <a:xfrm>
            <a:off x="812800" y="6238280"/>
            <a:ext cx="527137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270"/>
                </a:solidFill>
                <a:latin typeface="Arial" pitchFamily="34" charset="0"/>
                <a:ea typeface="Arial" pitchFamily="34" charset="-122"/>
                <a:cs typeface="Arial" pitchFamily="34" charset="-120"/>
              </a:rPr>
              <a:t>CSA &amp; infrastructure vulnerabilities · DEEP TTCLOUD AWS PRD</a:t>
            </a:r>
            <a:endParaRPr lang="en-US" sz="1200" dirty="0"/>
          </a:p>
        </p:txBody>
      </p:sp>
      <p:sp>
        <p:nvSpPr>
          <p:cNvPr id="6" name="Text 3"/>
          <p:cNvSpPr/>
          <p:nvPr/>
        </p:nvSpPr>
        <p:spPr>
          <a:xfrm>
            <a:off x="11158835" y="6238280"/>
            <a:ext cx="220365"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270"/>
                </a:solidFill>
                <a:latin typeface="Arial" pitchFamily="34" charset="0"/>
                <a:ea typeface="Arial" pitchFamily="34" charset="-122"/>
                <a:cs typeface="Arial" pitchFamily="34" charset="-120"/>
              </a:rPr>
              <a:t>02</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31A"/>
                </a:solidFill>
                <a:latin typeface="Courier New" pitchFamily="49" charset="0"/>
                <a:ea typeface="Courier New" pitchFamily="49" charset="-122"/>
                <a:cs typeface="Courier New" pitchFamily="49" charset="-120"/>
              </a:rPr>
              <a:t>CSA · CLOUD SECURITY ASSESSMENT</a:t>
            </a:r>
            <a:endParaRPr lang="en-US" sz="1200" dirty="0"/>
          </a:p>
        </p:txBody>
      </p:sp>
      <p:sp>
        <p:nvSpPr>
          <p:cNvPr id="3" name="Text 1"/>
          <p:cNvSpPr/>
          <p:nvPr>
            <p:ph type="title"/>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Arial" pitchFamily="34" charset="0"/>
                <a:ea typeface="Arial" pitchFamily="34" charset="-122"/>
                <a:cs typeface="Arial" pitchFamily="34" charset="-120"/>
              </a:rPr>
              <a:t>What a CSA finding is</a:t>
            </a:r>
            <a:endParaRPr lang="en-US" sz="3200" dirty="0"/>
          </a:p>
        </p:txBody>
      </p:sp>
      <p:sp>
        <p:nvSpPr>
          <p:cNvPr id="4" name="Text 2"/>
          <p:cNvSpPr/>
          <p:nvPr/>
        </p:nvSpPr>
        <p:spPr>
          <a:xfrm>
            <a:off x="812800" y="1879501"/>
            <a:ext cx="9810750" cy="7112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1B1F2A"/>
                </a:solidFill>
                <a:latin typeface="Arial" pitchFamily="34" charset="0"/>
                <a:ea typeface="Arial" pitchFamily="34" charset="-122"/>
                <a:cs typeface="Arial" pitchFamily="34" charset="-120"/>
              </a:rPr>
              <a:t>A continuous check of cloud resources against a security baseline. A failed control is a </a:t>
            </a:r>
            <a:r>
              <a:rPr lang="en-US" sz="2000" b="1" dirty="0">
                <a:solidFill>
                  <a:srgbClr val="1B1F2A"/>
                </a:solidFill>
                <a:latin typeface="Arial" pitchFamily="34" charset="0"/>
                <a:ea typeface="Arial" pitchFamily="34" charset="-122"/>
                <a:cs typeface="Arial" pitchFamily="34" charset="-120"/>
              </a:rPr>
              <a:t>misconfiguration</a:t>
            </a:r>
            <a:r>
              <a:rPr lang="en-US" sz="2000" dirty="0">
                <a:solidFill>
                  <a:srgbClr val="1B1F2A"/>
                </a:solidFill>
                <a:latin typeface="Arial" pitchFamily="34" charset="0"/>
                <a:ea typeface="Arial" pitchFamily="34" charset="-122"/>
                <a:cs typeface="Arial" pitchFamily="34" charset="-120"/>
              </a:rPr>
              <a:t>: nothing needs patching, a setting needs changing.</a:t>
            </a:r>
            <a:endParaRPr lang="en-US" sz="2000" dirty="0"/>
          </a:p>
        </p:txBody>
      </p:sp>
      <p:sp>
        <p:nvSpPr>
          <p:cNvPr id="5" name="Shape 3"/>
          <p:cNvSpPr/>
          <p:nvPr/>
        </p:nvSpPr>
        <p:spPr>
          <a:xfrm>
            <a:off x="812800" y="2870101"/>
            <a:ext cx="3386634" cy="1668463"/>
          </a:xfrm>
          <a:prstGeom prst="roundRect">
            <a:avLst>
              <a:gd name="adj" fmla="val 4567"/>
            </a:avLst>
          </a:prstGeom>
          <a:solidFill>
            <a:srgbClr val="FFFFFF"/>
          </a:solidFill>
          <a:ln/>
        </p:spPr>
      </p:sp>
      <p:sp>
        <p:nvSpPr>
          <p:cNvPr id="6" name="Shape 4"/>
          <p:cNvSpPr/>
          <p:nvPr/>
        </p:nvSpPr>
        <p:spPr>
          <a:xfrm>
            <a:off x="812800" y="2870101"/>
            <a:ext cx="3386634" cy="1668463"/>
          </a:xfrm>
          <a:custGeom>
            <a:avLst/>
            <a:gdLst/>
            <a:ahLst/>
            <a:cxnLst/>
            <a:rect l="l" t="t" r="r" b="b"/>
            <a:pathLst>
              <a:path w="3386634" h="1668463">
                <a:moveTo>
                  <a:pt x="0" y="76200"/>
                </a:moveTo>
                <a:lnTo>
                  <a:pt x="0" y="76200"/>
                </a:lnTo>
                <a:arcTo hR="76200" wR="76200" stAng="10800000" swAng="5400000"/>
                <a:lnTo>
                  <a:pt x="3310434" y="0"/>
                </a:lnTo>
                <a:arcTo hR="76200" wR="76200" stAng="16200000" swAng="5400000"/>
                <a:lnTo>
                  <a:pt x="3386634" y="76200"/>
                </a:lnTo>
                <a:arcTo hR="38100" wR="76200" stAng="0" swAng="-5400000"/>
                <a:lnTo>
                  <a:pt x="76200" y="38100"/>
                </a:lnTo>
                <a:arcTo hR="38100" wR="76200" stAng="16200000" swAng="-5400000"/>
                <a:close/>
              </a:path>
            </a:pathLst>
          </a:custGeom>
          <a:solidFill>
            <a:srgbClr val="B4531A"/>
          </a:solidFill>
          <a:ln/>
        </p:spPr>
      </p:sp>
      <p:sp>
        <p:nvSpPr>
          <p:cNvPr id="7" name="Text 5"/>
          <p:cNvSpPr/>
          <p:nvPr/>
        </p:nvSpPr>
        <p:spPr>
          <a:xfrm>
            <a:off x="1066800" y="3162201"/>
            <a:ext cx="2964993"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Arial" pitchFamily="34" charset="0"/>
                <a:ea typeface="Arial" pitchFamily="34" charset="-122"/>
                <a:cs typeface="Arial" pitchFamily="34" charset="-120"/>
              </a:rPr>
              <a:t>The baseline</a:t>
            </a:r>
            <a:endParaRPr lang="en-US" sz="1800" dirty="0"/>
          </a:p>
        </p:txBody>
      </p:sp>
      <p:sp>
        <p:nvSpPr>
          <p:cNvPr id="8" name="Text 6"/>
          <p:cNvSpPr/>
          <p:nvPr/>
        </p:nvSpPr>
        <p:spPr>
          <a:xfrm>
            <a:off x="1066800" y="3538041"/>
            <a:ext cx="2964993"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04C"/>
                </a:solidFill>
                <a:latin typeface="Arial" pitchFamily="34" charset="0"/>
                <a:ea typeface="Arial" pitchFamily="34" charset="-122"/>
                <a:cs typeface="Arial" pitchFamily="34" charset="-120"/>
              </a:rPr>
              <a:t>CIS Benchmarks, AWS security best practices and PMI's own hardening standards</a:t>
            </a:r>
            <a:endParaRPr lang="en-US" sz="1400" dirty="0"/>
          </a:p>
        </p:txBody>
      </p:sp>
      <p:sp>
        <p:nvSpPr>
          <p:cNvPr id="9" name="Shape 7"/>
          <p:cNvSpPr/>
          <p:nvPr/>
        </p:nvSpPr>
        <p:spPr>
          <a:xfrm>
            <a:off x="4402634" y="2870101"/>
            <a:ext cx="3386733" cy="1668463"/>
          </a:xfrm>
          <a:prstGeom prst="roundRect">
            <a:avLst>
              <a:gd name="adj" fmla="val 4567"/>
            </a:avLst>
          </a:prstGeom>
          <a:solidFill>
            <a:srgbClr val="FFFFFF"/>
          </a:solidFill>
          <a:ln/>
        </p:spPr>
      </p:sp>
      <p:sp>
        <p:nvSpPr>
          <p:cNvPr id="10" name="Shape 8"/>
          <p:cNvSpPr/>
          <p:nvPr/>
        </p:nvSpPr>
        <p:spPr>
          <a:xfrm>
            <a:off x="4402634" y="2870101"/>
            <a:ext cx="3386733" cy="1668463"/>
          </a:xfrm>
          <a:custGeom>
            <a:avLst/>
            <a:gdLst/>
            <a:ahLst/>
            <a:cxnLst/>
            <a:rect l="l" t="t" r="r" b="b"/>
            <a:pathLst>
              <a:path w="3386733" h="1668463">
                <a:moveTo>
                  <a:pt x="0" y="76200"/>
                </a:moveTo>
                <a:lnTo>
                  <a:pt x="0" y="76200"/>
                </a:lnTo>
                <a:arcTo hR="76200" wR="76200" stAng="10800000" swAng="5400000"/>
                <a:lnTo>
                  <a:pt x="3310533" y="0"/>
                </a:lnTo>
                <a:arcTo hR="76200" wR="76200" stAng="16200000" swAng="5400000"/>
                <a:lnTo>
                  <a:pt x="3386733" y="76200"/>
                </a:lnTo>
                <a:arcTo hR="38100" wR="76200" stAng="0" swAng="-5400000"/>
                <a:lnTo>
                  <a:pt x="76200" y="38100"/>
                </a:lnTo>
                <a:arcTo hR="38100" wR="76200" stAng="16200000" swAng="-5400000"/>
                <a:close/>
              </a:path>
            </a:pathLst>
          </a:custGeom>
          <a:solidFill>
            <a:srgbClr val="B4531A"/>
          </a:solidFill>
          <a:ln/>
        </p:spPr>
      </p:sp>
      <p:sp>
        <p:nvSpPr>
          <p:cNvPr id="11" name="Text 9"/>
          <p:cNvSpPr/>
          <p:nvPr/>
        </p:nvSpPr>
        <p:spPr>
          <a:xfrm>
            <a:off x="4656634" y="3162201"/>
            <a:ext cx="2965095"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Arial" pitchFamily="34" charset="0"/>
                <a:ea typeface="Arial" pitchFamily="34" charset="-122"/>
                <a:cs typeface="Arial" pitchFamily="34" charset="-120"/>
              </a:rPr>
              <a:t>What it covers</a:t>
            </a:r>
            <a:endParaRPr lang="en-US" sz="1800" dirty="0"/>
          </a:p>
        </p:txBody>
      </p:sp>
      <p:sp>
        <p:nvSpPr>
          <p:cNvPr id="12" name="Text 10"/>
          <p:cNvSpPr/>
          <p:nvPr/>
        </p:nvSpPr>
        <p:spPr>
          <a:xfrm>
            <a:off x="4656634" y="3538041"/>
            <a:ext cx="2965095"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04C"/>
                </a:solidFill>
                <a:latin typeface="Arial" pitchFamily="34" charset="0"/>
                <a:ea typeface="Arial" pitchFamily="34" charset="-122"/>
                <a:cs typeface="Arial" pitchFamily="34" charset="-120"/>
              </a:rPr>
              <a:t>Windows on EC2, SQL Server on EC2, and AWS services such as Secrets Manager</a:t>
            </a:r>
            <a:endParaRPr lang="en-US" sz="1400" dirty="0"/>
          </a:p>
        </p:txBody>
      </p:sp>
      <p:sp>
        <p:nvSpPr>
          <p:cNvPr id="13" name="Shape 11"/>
          <p:cNvSpPr/>
          <p:nvPr/>
        </p:nvSpPr>
        <p:spPr>
          <a:xfrm>
            <a:off x="7992566" y="2870101"/>
            <a:ext cx="3386634" cy="1668463"/>
          </a:xfrm>
          <a:prstGeom prst="roundRect">
            <a:avLst>
              <a:gd name="adj" fmla="val 4567"/>
            </a:avLst>
          </a:prstGeom>
          <a:solidFill>
            <a:srgbClr val="FFFFFF"/>
          </a:solidFill>
          <a:ln/>
        </p:spPr>
      </p:sp>
      <p:sp>
        <p:nvSpPr>
          <p:cNvPr id="14" name="Shape 12"/>
          <p:cNvSpPr/>
          <p:nvPr/>
        </p:nvSpPr>
        <p:spPr>
          <a:xfrm>
            <a:off x="7992566" y="2870101"/>
            <a:ext cx="3386634" cy="1668463"/>
          </a:xfrm>
          <a:custGeom>
            <a:avLst/>
            <a:gdLst/>
            <a:ahLst/>
            <a:cxnLst/>
            <a:rect l="l" t="t" r="r" b="b"/>
            <a:pathLst>
              <a:path w="3386634" h="1668463">
                <a:moveTo>
                  <a:pt x="0" y="76200"/>
                </a:moveTo>
                <a:lnTo>
                  <a:pt x="0" y="76200"/>
                </a:lnTo>
                <a:arcTo hR="76200" wR="76200" stAng="10800000" swAng="5400000"/>
                <a:lnTo>
                  <a:pt x="3310434" y="0"/>
                </a:lnTo>
                <a:arcTo hR="76200" wR="76200" stAng="16200000" swAng="5400000"/>
                <a:lnTo>
                  <a:pt x="3386634" y="76200"/>
                </a:lnTo>
                <a:arcTo hR="38100" wR="76200" stAng="0" swAng="-5400000"/>
                <a:lnTo>
                  <a:pt x="76200" y="38100"/>
                </a:lnTo>
                <a:arcTo hR="38100" wR="76200" stAng="16200000" swAng="-5400000"/>
                <a:close/>
              </a:path>
            </a:pathLst>
          </a:custGeom>
          <a:solidFill>
            <a:srgbClr val="B4531A"/>
          </a:solidFill>
          <a:ln/>
        </p:spPr>
      </p:sp>
      <p:sp>
        <p:nvSpPr>
          <p:cNvPr id="15" name="Text 13"/>
          <p:cNvSpPr/>
          <p:nvPr/>
        </p:nvSpPr>
        <p:spPr>
          <a:xfrm>
            <a:off x="8246566" y="3162201"/>
            <a:ext cx="2964993"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Arial" pitchFamily="34" charset="0"/>
                <a:ea typeface="Arial" pitchFamily="34" charset="-122"/>
                <a:cs typeface="Arial" pitchFamily="34" charset="-120"/>
              </a:rPr>
              <a:t>The result</a:t>
            </a:r>
            <a:endParaRPr lang="en-US" sz="1800" dirty="0"/>
          </a:p>
        </p:txBody>
      </p:sp>
      <p:sp>
        <p:nvSpPr>
          <p:cNvPr id="16" name="Text 14"/>
          <p:cNvSpPr/>
          <p:nvPr/>
        </p:nvSpPr>
        <p:spPr>
          <a:xfrm>
            <a:off x="8246566" y="3538041"/>
            <a:ext cx="2964993"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04C"/>
                </a:solidFill>
                <a:latin typeface="Arial" pitchFamily="34" charset="0"/>
                <a:ea typeface="Arial" pitchFamily="34" charset="-122"/>
                <a:cs typeface="Arial" pitchFamily="34" charset="-120"/>
              </a:rPr>
              <a:t>Pass or fail per control, phrased as “Ensure …”, with no CVE attached</a:t>
            </a:r>
            <a:endParaRPr lang="en-US" sz="1400" dirty="0"/>
          </a:p>
        </p:txBody>
      </p:sp>
      <p:sp>
        <p:nvSpPr>
          <p:cNvPr id="17" name="Text 15"/>
          <p:cNvSpPr/>
          <p:nvPr/>
        </p:nvSpPr>
        <p:spPr>
          <a:xfrm>
            <a:off x="812800" y="6238280"/>
            <a:ext cx="527137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270"/>
                </a:solidFill>
                <a:latin typeface="Arial" pitchFamily="34" charset="0"/>
                <a:ea typeface="Arial" pitchFamily="34" charset="-122"/>
                <a:cs typeface="Arial" pitchFamily="34" charset="-120"/>
              </a:rPr>
              <a:t>CSA &amp; infrastructure vulnerabilities · DEEP TTCLOUD AWS PRD</a:t>
            </a:r>
            <a:endParaRPr lang="en-US" sz="1200" dirty="0"/>
          </a:p>
        </p:txBody>
      </p:sp>
      <p:sp>
        <p:nvSpPr>
          <p:cNvPr id="18" name="Text 16"/>
          <p:cNvSpPr/>
          <p:nvPr/>
        </p:nvSpPr>
        <p:spPr>
          <a:xfrm>
            <a:off x="11158835" y="6238280"/>
            <a:ext cx="220365"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270"/>
                </a:solidFill>
                <a:latin typeface="Arial" pitchFamily="34" charset="0"/>
                <a:ea typeface="Arial" pitchFamily="34" charset="-122"/>
                <a:cs typeface="Arial" pitchFamily="34" charset="-120"/>
              </a:rPr>
              <a:t>03</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F6690"/>
                </a:solidFill>
                <a:latin typeface="Courier New" pitchFamily="49" charset="0"/>
                <a:ea typeface="Courier New" pitchFamily="49" charset="-122"/>
                <a:cs typeface="Courier New" pitchFamily="49" charset="-120"/>
              </a:rPr>
              <a:t>INFRASTRUCTURE VULNERABILITY</a:t>
            </a:r>
            <a:endParaRPr lang="en-US" sz="1200" dirty="0"/>
          </a:p>
        </p:txBody>
      </p:sp>
      <p:sp>
        <p:nvSpPr>
          <p:cNvPr id="3" name="Text 1"/>
          <p:cNvSpPr/>
          <p:nvPr>
            <p:ph type="title"/>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Arial" pitchFamily="34" charset="0"/>
                <a:ea typeface="Arial" pitchFamily="34" charset="-122"/>
                <a:cs typeface="Arial" pitchFamily="34" charset="-120"/>
              </a:rPr>
              <a:t>What an infrastructure vulnerability is</a:t>
            </a:r>
            <a:endParaRPr lang="en-US" sz="3200" dirty="0"/>
          </a:p>
        </p:txBody>
      </p:sp>
      <p:sp>
        <p:nvSpPr>
          <p:cNvPr id="4" name="Text 2"/>
          <p:cNvSpPr/>
          <p:nvPr/>
        </p:nvSpPr>
        <p:spPr>
          <a:xfrm>
            <a:off x="812800" y="1879501"/>
            <a:ext cx="9810750" cy="7112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1B1F2A"/>
                </a:solidFill>
                <a:latin typeface="Arial" pitchFamily="34" charset="0"/>
                <a:ea typeface="Arial" pitchFamily="34" charset="-122"/>
                <a:cs typeface="Arial" pitchFamily="34" charset="-120"/>
              </a:rPr>
              <a:t>A known, published flaw (a </a:t>
            </a:r>
            <a:r>
              <a:rPr lang="en-US" sz="2000" b="1" dirty="0">
                <a:solidFill>
                  <a:srgbClr val="1B1F2A"/>
                </a:solidFill>
                <a:latin typeface="Arial" pitchFamily="34" charset="0"/>
                <a:ea typeface="Arial" pitchFamily="34" charset="-122"/>
                <a:cs typeface="Arial" pitchFamily="34" charset="-120"/>
              </a:rPr>
              <a:t>CVE</a:t>
            </a:r>
            <a:r>
              <a:rPr lang="en-US" sz="2000" dirty="0">
                <a:solidFill>
                  <a:srgbClr val="1B1F2A"/>
                </a:solidFill>
                <a:latin typeface="Arial" pitchFamily="34" charset="0"/>
                <a:ea typeface="Arial" pitchFamily="34" charset="-122"/>
                <a:cs typeface="Arial" pitchFamily="34" charset="-120"/>
              </a:rPr>
              <a:t>) in software installed on the server: the OS, runtimes, tools, or libraries sitting on disk.</a:t>
            </a:r>
            <a:endParaRPr lang="en-US" sz="2000" dirty="0"/>
          </a:p>
        </p:txBody>
      </p:sp>
      <p:sp>
        <p:nvSpPr>
          <p:cNvPr id="5" name="Shape 3"/>
          <p:cNvSpPr/>
          <p:nvPr/>
        </p:nvSpPr>
        <p:spPr>
          <a:xfrm>
            <a:off x="812800" y="2870101"/>
            <a:ext cx="2272506" cy="1668463"/>
          </a:xfrm>
          <a:prstGeom prst="roundRect">
            <a:avLst>
              <a:gd name="adj" fmla="val 4567"/>
            </a:avLst>
          </a:prstGeom>
          <a:solidFill>
            <a:srgbClr val="FFFFFF"/>
          </a:solidFill>
          <a:ln/>
        </p:spPr>
      </p:sp>
      <p:sp>
        <p:nvSpPr>
          <p:cNvPr id="6" name="Shape 4"/>
          <p:cNvSpPr/>
          <p:nvPr/>
        </p:nvSpPr>
        <p:spPr>
          <a:xfrm>
            <a:off x="812800" y="2870101"/>
            <a:ext cx="2272506" cy="1668463"/>
          </a:xfrm>
          <a:custGeom>
            <a:avLst/>
            <a:gdLst/>
            <a:ahLst/>
            <a:cxnLst/>
            <a:rect l="l" t="t" r="r" b="b"/>
            <a:pathLst>
              <a:path w="2272506" h="1668463">
                <a:moveTo>
                  <a:pt x="0" y="76200"/>
                </a:moveTo>
                <a:lnTo>
                  <a:pt x="0" y="76200"/>
                </a:lnTo>
                <a:arcTo hR="76200" wR="76200" stAng="10800000" swAng="5400000"/>
                <a:lnTo>
                  <a:pt x="2196306" y="0"/>
                </a:lnTo>
                <a:arcTo hR="76200" wR="76200" stAng="16200000" swAng="5400000"/>
                <a:lnTo>
                  <a:pt x="2272506" y="76200"/>
                </a:lnTo>
                <a:arcTo hR="38100" wR="76200" stAng="0" swAng="-5400000"/>
                <a:lnTo>
                  <a:pt x="76200" y="38100"/>
                </a:lnTo>
                <a:arcTo hR="38100" wR="76200" stAng="16200000" swAng="-5400000"/>
                <a:close/>
              </a:path>
            </a:pathLst>
          </a:custGeom>
          <a:solidFill>
            <a:srgbClr val="2F6690"/>
          </a:solidFill>
          <a:ln/>
        </p:spPr>
      </p:sp>
      <p:sp>
        <p:nvSpPr>
          <p:cNvPr id="7" name="Text 5"/>
          <p:cNvSpPr/>
          <p:nvPr/>
        </p:nvSpPr>
        <p:spPr>
          <a:xfrm>
            <a:off x="1066800" y="3162201"/>
            <a:ext cx="1817441"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Arial" pitchFamily="34" charset="0"/>
                <a:ea typeface="Arial" pitchFamily="34" charset="-122"/>
                <a:cs typeface="Arial" pitchFamily="34" charset="-120"/>
              </a:rPr>
              <a:t>1 · Inventory</a:t>
            </a:r>
            <a:endParaRPr lang="en-US" sz="1800" dirty="0"/>
          </a:p>
        </p:txBody>
      </p:sp>
      <p:sp>
        <p:nvSpPr>
          <p:cNvPr id="8" name="Text 6"/>
          <p:cNvSpPr/>
          <p:nvPr/>
        </p:nvSpPr>
        <p:spPr>
          <a:xfrm>
            <a:off x="1066800" y="3538041"/>
            <a:ext cx="1817441"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04C"/>
                </a:solidFill>
                <a:latin typeface="Arial" pitchFamily="34" charset="0"/>
                <a:ea typeface="Arial" pitchFamily="34" charset="-122"/>
                <a:cs typeface="Arial" pitchFamily="34" charset="-120"/>
              </a:rPr>
              <a:t>Defender lists every software version and file path on the host</a:t>
            </a:r>
            <a:endParaRPr lang="en-US" sz="1400" dirty="0"/>
          </a:p>
        </p:txBody>
      </p:sp>
      <p:sp>
        <p:nvSpPr>
          <p:cNvPr id="9" name="Text 7"/>
          <p:cNvSpPr/>
          <p:nvPr/>
        </p:nvSpPr>
        <p:spPr>
          <a:xfrm>
            <a:off x="3237706" y="3562052"/>
            <a:ext cx="1722041"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F6690"/>
                </a:solidFill>
                <a:latin typeface="Arial" pitchFamily="34" charset="0"/>
                <a:ea typeface="Arial" pitchFamily="34" charset="-122"/>
                <a:cs typeface="Arial" pitchFamily="34" charset="-120"/>
              </a:rPr>
              <a:t>[icon: arrow-right]</a:t>
            </a:r>
            <a:endParaRPr lang="en-US" sz="1600" dirty="0"/>
          </a:p>
        </p:txBody>
      </p:sp>
      <p:sp>
        <p:nvSpPr>
          <p:cNvPr id="10" name="Shape 8"/>
          <p:cNvSpPr/>
          <p:nvPr/>
        </p:nvSpPr>
        <p:spPr>
          <a:xfrm>
            <a:off x="4959747" y="2870101"/>
            <a:ext cx="2272506" cy="1668463"/>
          </a:xfrm>
          <a:prstGeom prst="roundRect">
            <a:avLst>
              <a:gd name="adj" fmla="val 4567"/>
            </a:avLst>
          </a:prstGeom>
          <a:solidFill>
            <a:srgbClr val="FFFFFF"/>
          </a:solidFill>
          <a:ln/>
        </p:spPr>
      </p:sp>
      <p:sp>
        <p:nvSpPr>
          <p:cNvPr id="11" name="Shape 9"/>
          <p:cNvSpPr/>
          <p:nvPr/>
        </p:nvSpPr>
        <p:spPr>
          <a:xfrm>
            <a:off x="4959747" y="2870101"/>
            <a:ext cx="2272506" cy="1668463"/>
          </a:xfrm>
          <a:custGeom>
            <a:avLst/>
            <a:gdLst/>
            <a:ahLst/>
            <a:cxnLst/>
            <a:rect l="l" t="t" r="r" b="b"/>
            <a:pathLst>
              <a:path w="2272506" h="1668463">
                <a:moveTo>
                  <a:pt x="0" y="76200"/>
                </a:moveTo>
                <a:lnTo>
                  <a:pt x="0" y="76200"/>
                </a:lnTo>
                <a:arcTo hR="76200" wR="76200" stAng="10800000" swAng="5400000"/>
                <a:lnTo>
                  <a:pt x="2196306" y="0"/>
                </a:lnTo>
                <a:arcTo hR="76200" wR="76200" stAng="16200000" swAng="5400000"/>
                <a:lnTo>
                  <a:pt x="2272506" y="76200"/>
                </a:lnTo>
                <a:arcTo hR="38100" wR="76200" stAng="0" swAng="-5400000"/>
                <a:lnTo>
                  <a:pt x="76200" y="38100"/>
                </a:lnTo>
                <a:arcTo hR="38100" wR="76200" stAng="16200000" swAng="-5400000"/>
                <a:close/>
              </a:path>
            </a:pathLst>
          </a:custGeom>
          <a:solidFill>
            <a:srgbClr val="2F6690"/>
          </a:solidFill>
          <a:ln/>
        </p:spPr>
      </p:sp>
      <p:sp>
        <p:nvSpPr>
          <p:cNvPr id="12" name="Text 10"/>
          <p:cNvSpPr/>
          <p:nvPr/>
        </p:nvSpPr>
        <p:spPr>
          <a:xfrm>
            <a:off x="5213747" y="3162201"/>
            <a:ext cx="1817441"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Arial" pitchFamily="34" charset="0"/>
                <a:ea typeface="Arial" pitchFamily="34" charset="-122"/>
                <a:cs typeface="Arial" pitchFamily="34" charset="-120"/>
              </a:rPr>
              <a:t>2 · Match</a:t>
            </a:r>
            <a:endParaRPr lang="en-US" sz="1800" dirty="0"/>
          </a:p>
        </p:txBody>
      </p:sp>
      <p:sp>
        <p:nvSpPr>
          <p:cNvPr id="13" name="Text 11"/>
          <p:cNvSpPr/>
          <p:nvPr/>
        </p:nvSpPr>
        <p:spPr>
          <a:xfrm>
            <a:off x="5213747" y="3538041"/>
            <a:ext cx="1817441"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04C"/>
                </a:solidFill>
                <a:latin typeface="Arial" pitchFamily="34" charset="0"/>
                <a:ea typeface="Arial" pitchFamily="34" charset="-122"/>
                <a:cs typeface="Arial" pitchFamily="34" charset="-120"/>
              </a:rPr>
              <a:t>Each version is matched against published CVEs</a:t>
            </a:r>
            <a:endParaRPr lang="en-US" sz="1400" dirty="0"/>
          </a:p>
        </p:txBody>
      </p:sp>
      <p:sp>
        <p:nvSpPr>
          <p:cNvPr id="14" name="Text 12"/>
          <p:cNvSpPr/>
          <p:nvPr/>
        </p:nvSpPr>
        <p:spPr>
          <a:xfrm>
            <a:off x="7384653" y="3562052"/>
            <a:ext cx="1722041"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F6690"/>
                </a:solidFill>
                <a:latin typeface="Arial" pitchFamily="34" charset="0"/>
                <a:ea typeface="Arial" pitchFamily="34" charset="-122"/>
                <a:cs typeface="Arial" pitchFamily="34" charset="-120"/>
              </a:rPr>
              <a:t>[icon: arrow-right]</a:t>
            </a:r>
            <a:endParaRPr lang="en-US" sz="1600" dirty="0"/>
          </a:p>
        </p:txBody>
      </p:sp>
      <p:sp>
        <p:nvSpPr>
          <p:cNvPr id="15" name="Shape 13"/>
          <p:cNvSpPr/>
          <p:nvPr/>
        </p:nvSpPr>
        <p:spPr>
          <a:xfrm>
            <a:off x="9106694" y="2870101"/>
            <a:ext cx="2272506" cy="1668463"/>
          </a:xfrm>
          <a:prstGeom prst="roundRect">
            <a:avLst>
              <a:gd name="adj" fmla="val 4567"/>
            </a:avLst>
          </a:prstGeom>
          <a:solidFill>
            <a:srgbClr val="FFFFFF"/>
          </a:solidFill>
          <a:ln/>
        </p:spPr>
      </p:sp>
      <p:sp>
        <p:nvSpPr>
          <p:cNvPr id="16" name="Shape 14"/>
          <p:cNvSpPr/>
          <p:nvPr/>
        </p:nvSpPr>
        <p:spPr>
          <a:xfrm>
            <a:off x="9106694" y="2870101"/>
            <a:ext cx="2272506" cy="1668463"/>
          </a:xfrm>
          <a:custGeom>
            <a:avLst/>
            <a:gdLst/>
            <a:ahLst/>
            <a:cxnLst/>
            <a:rect l="l" t="t" r="r" b="b"/>
            <a:pathLst>
              <a:path w="2272506" h="1668463">
                <a:moveTo>
                  <a:pt x="0" y="76200"/>
                </a:moveTo>
                <a:lnTo>
                  <a:pt x="0" y="76200"/>
                </a:lnTo>
                <a:arcTo hR="76200" wR="76200" stAng="10800000" swAng="5400000"/>
                <a:lnTo>
                  <a:pt x="2196306" y="0"/>
                </a:lnTo>
                <a:arcTo hR="76200" wR="76200" stAng="16200000" swAng="5400000"/>
                <a:lnTo>
                  <a:pt x="2272506" y="76200"/>
                </a:lnTo>
                <a:arcTo hR="38100" wR="76200" stAng="0" swAng="-5400000"/>
                <a:lnTo>
                  <a:pt x="76200" y="38100"/>
                </a:lnTo>
                <a:arcTo hR="38100" wR="76200" stAng="16200000" swAng="-5400000"/>
                <a:close/>
              </a:path>
            </a:pathLst>
          </a:custGeom>
          <a:solidFill>
            <a:srgbClr val="2F6690"/>
          </a:solidFill>
          <a:ln/>
        </p:spPr>
      </p:sp>
      <p:sp>
        <p:nvSpPr>
          <p:cNvPr id="17" name="Text 15"/>
          <p:cNvSpPr/>
          <p:nvPr/>
        </p:nvSpPr>
        <p:spPr>
          <a:xfrm>
            <a:off x="9360694" y="3162201"/>
            <a:ext cx="1817441"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Arial" pitchFamily="34" charset="0"/>
                <a:ea typeface="Arial" pitchFamily="34" charset="-122"/>
                <a:cs typeface="Arial" pitchFamily="34" charset="-120"/>
              </a:rPr>
              <a:t>3 · Track</a:t>
            </a:r>
            <a:endParaRPr lang="en-US" sz="1800" dirty="0"/>
          </a:p>
        </p:txBody>
      </p:sp>
      <p:sp>
        <p:nvSpPr>
          <p:cNvPr id="18" name="Text 16"/>
          <p:cNvSpPr/>
          <p:nvPr/>
        </p:nvSpPr>
        <p:spPr>
          <a:xfrm>
            <a:off x="9360694" y="3538041"/>
            <a:ext cx="1817441"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04C"/>
                </a:solidFill>
                <a:latin typeface="Arial" pitchFamily="34" charset="0"/>
                <a:ea typeface="Arial" pitchFamily="34" charset="-122"/>
                <a:cs typeface="Arial" pitchFamily="34" charset="-120"/>
              </a:rPr>
              <a:t>Brinqa adds risk rating, owner and SLA status</a:t>
            </a:r>
            <a:endParaRPr lang="en-US" sz="1400" dirty="0"/>
          </a:p>
        </p:txBody>
      </p:sp>
      <p:sp>
        <p:nvSpPr>
          <p:cNvPr id="19" name="Text 17"/>
          <p:cNvSpPr/>
          <p:nvPr/>
        </p:nvSpPr>
        <p:spPr>
          <a:xfrm>
            <a:off x="812800" y="6238280"/>
            <a:ext cx="527137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270"/>
                </a:solidFill>
                <a:latin typeface="Arial" pitchFamily="34" charset="0"/>
                <a:ea typeface="Arial" pitchFamily="34" charset="-122"/>
                <a:cs typeface="Arial" pitchFamily="34" charset="-120"/>
              </a:rPr>
              <a:t>CSA &amp; infrastructure vulnerabilities · DEEP TTCLOUD AWS PRD</a:t>
            </a:r>
            <a:endParaRPr lang="en-US" sz="1200" dirty="0"/>
          </a:p>
        </p:txBody>
      </p:sp>
      <p:sp>
        <p:nvSpPr>
          <p:cNvPr id="20" name="Text 18"/>
          <p:cNvSpPr/>
          <p:nvPr/>
        </p:nvSpPr>
        <p:spPr>
          <a:xfrm>
            <a:off x="11158835" y="6238280"/>
            <a:ext cx="220365"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270"/>
                </a:solidFill>
                <a:latin typeface="Arial" pitchFamily="34" charset="0"/>
                <a:ea typeface="Arial" pitchFamily="34" charset="-122"/>
                <a:cs typeface="Arial" pitchFamily="34" charset="-120"/>
              </a:rPr>
              <a:t>04</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31A"/>
                </a:solidFill>
                <a:latin typeface="Courier New" pitchFamily="49" charset="0"/>
                <a:ea typeface="Courier New" pitchFamily="49" charset="-122"/>
                <a:cs typeface="Courier New" pitchFamily="49" charset="-120"/>
              </a:rPr>
              <a:t>CSA FINDINGS · 7 FAILING CONTROLS</a:t>
            </a:r>
            <a:endParaRPr lang="en-US" sz="1200" dirty="0"/>
          </a:p>
        </p:txBody>
      </p:sp>
      <p:sp>
        <p:nvSpPr>
          <p:cNvPr id="3" name="Text 1"/>
          <p:cNvSpPr/>
          <p:nvPr>
            <p:ph type="title"/>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Arial" pitchFamily="34" charset="0"/>
                <a:ea typeface="Arial" pitchFamily="34" charset="-122"/>
                <a:cs typeface="Arial" pitchFamily="34" charset="-120"/>
              </a:rPr>
              <a:t>What the assessment flagged</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41401"/>
          <a:ext cx="10553700" cy="3799681"/>
        </p:xfrm>
        <a:graphic>
          <a:graphicData uri="http://schemas.openxmlformats.org/drawingml/2006/table">
            <a:tbl>
              <a:tblPr/>
              <a:tblGrid>
                <a:gridCol w="4432554"/>
                <a:gridCol w="1899666"/>
                <a:gridCol w="4221480"/>
              </a:tblGrid>
              <a:tr h="474960">
                <a:tc>
                  <a:txBody>
                    <a:bodyPr/>
                    <a:lstStyle/>
                    <a:p>
                      <a:pPr indent="0" marL="0">
                        <a:lnSpc>
                          <a:spcPts val="2240"/>
                        </a:lnSpc>
                        <a:buNone/>
                      </a:pPr>
                      <a:r>
                        <a:rPr lang="en-US" sz="1600" b="1" dirty="0">
                          <a:solidFill>
                            <a:srgbClr val="1B1F2A"/>
                          </a:solidFill>
                          <a:latin typeface="Arial" pitchFamily="34" charset="0"/>
                          <a:ea typeface="Arial" pitchFamily="34" charset="-122"/>
                          <a:cs typeface="Arial" pitchFamily="34" charset="-120"/>
                        </a:rPr>
                        <a:t>Control (Ensure …)</a:t>
                      </a:r>
                      <a:endParaRPr lang="en-US" sz="1600" dirty="0">
                        <a:latin typeface="Arial" charset="0"/>
                        <a:ea typeface="Arial" charset="0"/>
                        <a:cs typeface="Arial" charset="0"/>
                      </a:endParaRPr>
                    </a:p>
                  </a:txBody>
                  <a:tcPr marL="127000" marR="127000" marT="88900" marB="88900" anchor="t">
                    <a:lnL w="12700" cap="flat" cmpd="sng" algn="ctr">
                      <a:solidFill>
                        <a:srgbClr val="C4C3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indent="0" marL="0">
                        <a:lnSpc>
                          <a:spcPts val="2240"/>
                        </a:lnSpc>
                        <a:buNone/>
                      </a:pPr>
                      <a:r>
                        <a:rPr lang="en-US" sz="1600" b="1" dirty="0">
                          <a:solidFill>
                            <a:srgbClr val="1B1F2A"/>
                          </a:solidFill>
                          <a:latin typeface="Arial" pitchFamily="34" charset="0"/>
                          <a:ea typeface="Arial" pitchFamily="34" charset="-122"/>
                          <a:cs typeface="Arial" pitchFamily="34" charset="-120"/>
                        </a:rPr>
                        <a:t>Area</a:t>
                      </a:r>
                      <a:endParaRPr lang="en-US" sz="1600" dirty="0">
                        <a:latin typeface="Arial" charset="0"/>
                        <a:ea typeface="Arial" charset="0"/>
                        <a:cs typeface="Arial" charset="0"/>
                      </a:endParaRPr>
                    </a:p>
                  </a:txBody>
                  <a:tcPr marL="127000" marR="127000" marT="88900" marB="8890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indent="0" marL="0">
                        <a:lnSpc>
                          <a:spcPts val="2240"/>
                        </a:lnSpc>
                        <a:buNone/>
                      </a:pPr>
                      <a:r>
                        <a:rPr lang="en-US" sz="1600" b="1" dirty="0">
                          <a:solidFill>
                            <a:srgbClr val="1B1F2A"/>
                          </a:solidFill>
                          <a:latin typeface="Arial" pitchFamily="34" charset="0"/>
                          <a:ea typeface="Arial" pitchFamily="34" charset="-122"/>
                          <a:cs typeface="Arial" pitchFamily="34" charset="-120"/>
                        </a:rPr>
                        <a:t>Why it matters</a:t>
                      </a:r>
                      <a:endParaRPr lang="en-US" sz="1600" dirty="0">
                        <a:latin typeface="Arial" charset="0"/>
                        <a:ea typeface="Arial" charset="0"/>
                        <a:cs typeface="Arial" charset="0"/>
                      </a:endParaRPr>
                    </a:p>
                  </a:txBody>
                  <a:tcPr marL="127000" marR="127000" marT="88900" marB="8890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r>
              <a:tr h="474960">
                <a:tc>
                  <a:txBody>
                    <a:bodyPr/>
                    <a:lstStyle/>
                    <a:p>
                      <a:pPr indent="0" marL="0">
                        <a:lnSpc>
                          <a:spcPts val="2240"/>
                        </a:lnSpc>
                        <a:buNone/>
                      </a:pPr>
                      <a:r>
                        <a:rPr lang="en-US" sz="1600" dirty="0">
                          <a:solidFill>
                            <a:srgbClr val="1B1F2A"/>
                          </a:solidFill>
                          <a:latin typeface="Arial" pitchFamily="34" charset="0"/>
                          <a:ea typeface="Arial" pitchFamily="34" charset="-122"/>
                          <a:cs typeface="Arial" pitchFamily="34" charset="-120"/>
                        </a:rPr>
                        <a:t>‘Remote Desktop Users’ group is empty</a:t>
                      </a:r>
                      <a:endParaRPr lang="en-US" sz="1600" dirty="0">
                        <a:latin typeface="Arial" charset="0"/>
                        <a:ea typeface="Arial" charset="0"/>
                        <a:cs typeface="Arial" charset="0"/>
                      </a:endParaRPr>
                    </a:p>
                  </a:txBody>
                  <a:tcPr marL="127000" marR="127000" marT="88900" marB="8890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240"/>
                        </a:lnSpc>
                        <a:buNone/>
                      </a:pPr>
                      <a:r>
                        <a:rPr lang="en-US" sz="1600" dirty="0">
                          <a:solidFill>
                            <a:srgbClr val="1B1F2A"/>
                          </a:solidFill>
                          <a:latin typeface="Arial" pitchFamily="34" charset="0"/>
                          <a:ea typeface="Arial" pitchFamily="34" charset="-122"/>
                          <a:cs typeface="Arial" pitchFamily="34" charset="-120"/>
                        </a:rPr>
                        <a:t>EC2 Windows</a:t>
                      </a:r>
                      <a:endParaRPr lang="en-US" sz="1600" dirty="0">
                        <a:latin typeface="Arial" charset="0"/>
                        <a:ea typeface="Arial" charset="0"/>
                        <a:cs typeface="Arial" charset="0"/>
                      </a:endParaRPr>
                    </a:p>
                  </a:txBody>
                  <a:tcPr marL="127000" marR="127000" marT="88900" marB="8890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240"/>
                        </a:lnSpc>
                        <a:buNone/>
                      </a:pPr>
                      <a:r>
                        <a:rPr lang="en-US" sz="1600" dirty="0">
                          <a:solidFill>
                            <a:srgbClr val="1B1F2A"/>
                          </a:solidFill>
                          <a:latin typeface="Arial" pitchFamily="34" charset="0"/>
                          <a:ea typeface="Arial" pitchFamily="34" charset="-122"/>
                          <a:cs typeface="Arial" pitchFamily="34" charset="-120"/>
                        </a:rPr>
                        <a:t>No standing RDP access outside PAM</a:t>
                      </a:r>
                      <a:endParaRPr lang="en-US" sz="1600" dirty="0">
                        <a:latin typeface="Arial" charset="0"/>
                        <a:ea typeface="Arial" charset="0"/>
                        <a:cs typeface="Arial" charset="0"/>
                      </a:endParaRPr>
                    </a:p>
                  </a:txBody>
                  <a:tcPr marL="127000" marR="127000" marT="88900" marB="8890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474960">
                <a:tc>
                  <a:txBody>
                    <a:bodyPr/>
                    <a:lstStyle/>
                    <a:p>
                      <a:pPr indent="0" marL="0">
                        <a:lnSpc>
                          <a:spcPts val="2240"/>
                        </a:lnSpc>
                        <a:buNone/>
                      </a:pPr>
                      <a:r>
                        <a:rPr lang="en-US" sz="1600" dirty="0">
                          <a:solidFill>
                            <a:srgbClr val="1B1F2A"/>
                          </a:solidFill>
                          <a:latin typeface="Arial" pitchFamily="34" charset="0"/>
                          <a:ea typeface="Arial" pitchFamily="34" charset="-122"/>
                          <a:cs typeface="Arial" pitchFamily="34" charset="-120"/>
                        </a:rPr>
                        <a:t>CLR server option disabled</a:t>
                      </a:r>
                      <a:endParaRPr lang="en-US" sz="1600" dirty="0">
                        <a:latin typeface="Arial" charset="0"/>
                        <a:ea typeface="Arial" charset="0"/>
                        <a:cs typeface="Arial" charset="0"/>
                      </a:endParaRPr>
                    </a:p>
                  </a:txBody>
                  <a:tcPr marL="127000" marR="127000" marT="88900" marB="8890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240"/>
                        </a:lnSpc>
                        <a:buNone/>
                      </a:pPr>
                      <a:r>
                        <a:rPr lang="en-US" sz="1600" dirty="0">
                          <a:solidFill>
                            <a:srgbClr val="1B1F2A"/>
                          </a:solidFill>
                          <a:latin typeface="Arial" pitchFamily="34" charset="0"/>
                          <a:ea typeface="Arial" pitchFamily="34" charset="-122"/>
                          <a:cs typeface="Arial" pitchFamily="34" charset="-120"/>
                        </a:rPr>
                        <a:t>SQL Server</a:t>
                      </a:r>
                      <a:endParaRPr lang="en-US" sz="1600" dirty="0">
                        <a:latin typeface="Arial" charset="0"/>
                        <a:ea typeface="Arial" charset="0"/>
                        <a:cs typeface="Arial" charset="0"/>
                      </a:endParaRPr>
                    </a:p>
                  </a:txBody>
                  <a:tcPr marL="127000" marR="127000" marT="88900" marB="8890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240"/>
                        </a:lnSpc>
                        <a:buNone/>
                      </a:pPr>
                      <a:r>
                        <a:rPr lang="en-US" sz="1600" dirty="0">
                          <a:solidFill>
                            <a:srgbClr val="1B1F2A"/>
                          </a:solidFill>
                          <a:latin typeface="Arial" pitchFamily="34" charset="0"/>
                          <a:ea typeface="Arial" pitchFamily="34" charset="-122"/>
                          <a:cs typeface="Arial" pitchFamily="34" charset="-120"/>
                        </a:rPr>
                        <a:t>Blocks .NET code running in the engine</a:t>
                      </a:r>
                      <a:endParaRPr lang="en-US" sz="1600" dirty="0">
                        <a:latin typeface="Arial" charset="0"/>
                        <a:ea typeface="Arial" charset="0"/>
                        <a:cs typeface="Arial" charset="0"/>
                      </a:endParaRPr>
                    </a:p>
                  </a:txBody>
                  <a:tcPr marL="127000" marR="127000" marT="88900" marB="8890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474960">
                <a:tc>
                  <a:txBody>
                    <a:bodyPr/>
                    <a:lstStyle/>
                    <a:p>
                      <a:pPr indent="0" marL="0">
                        <a:lnSpc>
                          <a:spcPts val="2240"/>
                        </a:lnSpc>
                        <a:buNone/>
                      </a:pPr>
                      <a:r>
                        <a:rPr lang="en-US" sz="1600" dirty="0">
                          <a:solidFill>
                            <a:srgbClr val="1B1F2A"/>
                          </a:solidFill>
                          <a:latin typeface="Arial" pitchFamily="34" charset="0"/>
                          <a:ea typeface="Arial" pitchFamily="34" charset="-122"/>
                          <a:cs typeface="Arial" pitchFamily="34" charset="-120"/>
                        </a:rPr>
                        <a:t>Database Mail XPs disabled</a:t>
                      </a:r>
                      <a:endParaRPr lang="en-US" sz="1600" dirty="0">
                        <a:latin typeface="Arial" charset="0"/>
                        <a:ea typeface="Arial" charset="0"/>
                        <a:cs typeface="Arial" charset="0"/>
                      </a:endParaRPr>
                    </a:p>
                  </a:txBody>
                  <a:tcPr marL="127000" marR="127000" marT="88900" marB="8890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240"/>
                        </a:lnSpc>
                        <a:buNone/>
                      </a:pPr>
                      <a:r>
                        <a:rPr lang="en-US" sz="1600" dirty="0">
                          <a:solidFill>
                            <a:srgbClr val="1B1F2A"/>
                          </a:solidFill>
                          <a:latin typeface="Arial" pitchFamily="34" charset="0"/>
                          <a:ea typeface="Arial" pitchFamily="34" charset="-122"/>
                          <a:cs typeface="Arial" pitchFamily="34" charset="-120"/>
                        </a:rPr>
                        <a:t>SQL Server</a:t>
                      </a:r>
                      <a:endParaRPr lang="en-US" sz="1600" dirty="0">
                        <a:latin typeface="Arial" charset="0"/>
                        <a:ea typeface="Arial" charset="0"/>
                        <a:cs typeface="Arial" charset="0"/>
                      </a:endParaRPr>
                    </a:p>
                  </a:txBody>
                  <a:tcPr marL="127000" marR="127000" marT="88900" marB="8890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240"/>
                        </a:lnSpc>
                        <a:buNone/>
                      </a:pPr>
                      <a:r>
                        <a:rPr lang="en-US" sz="1600" dirty="0">
                          <a:solidFill>
                            <a:srgbClr val="1B1F2A"/>
                          </a:solidFill>
                          <a:latin typeface="Arial" pitchFamily="34" charset="0"/>
                          <a:ea typeface="Arial" pitchFamily="34" charset="-122"/>
                          <a:cs typeface="Arial" pitchFamily="34" charset="-120"/>
                        </a:rPr>
                        <a:t>Removes an email path for data exfiltration</a:t>
                      </a:r>
                      <a:endParaRPr lang="en-US" sz="1600" dirty="0">
                        <a:latin typeface="Arial" charset="0"/>
                        <a:ea typeface="Arial" charset="0"/>
                        <a:cs typeface="Arial" charset="0"/>
                      </a:endParaRPr>
                    </a:p>
                  </a:txBody>
                  <a:tcPr marL="127000" marR="127000" marT="88900" marB="8890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474960">
                <a:tc>
                  <a:txBody>
                    <a:bodyPr/>
                    <a:lstStyle/>
                    <a:p>
                      <a:pPr indent="0" marL="0">
                        <a:lnSpc>
                          <a:spcPts val="2240"/>
                        </a:lnSpc>
                        <a:buNone/>
                      </a:pPr>
                      <a:r>
                        <a:rPr lang="en-US" sz="1600" dirty="0">
                          <a:solidFill>
                            <a:srgbClr val="1B1F2A"/>
                          </a:solidFill>
                          <a:latin typeface="Arial" pitchFamily="34" charset="0"/>
                          <a:ea typeface="Arial" pitchFamily="34" charset="-122"/>
                          <a:cs typeface="Arial" pitchFamily="34" charset="-120"/>
                        </a:rPr>
                        <a:t>Scan for Startup Procs disabled</a:t>
                      </a:r>
                      <a:endParaRPr lang="en-US" sz="1600" dirty="0">
                        <a:latin typeface="Arial" charset="0"/>
                        <a:ea typeface="Arial" charset="0"/>
                        <a:cs typeface="Arial" charset="0"/>
                      </a:endParaRPr>
                    </a:p>
                  </a:txBody>
                  <a:tcPr marL="127000" marR="127000" marT="88900" marB="8890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240"/>
                        </a:lnSpc>
                        <a:buNone/>
                      </a:pPr>
                      <a:r>
                        <a:rPr lang="en-US" sz="1600" dirty="0">
                          <a:solidFill>
                            <a:srgbClr val="1B1F2A"/>
                          </a:solidFill>
                          <a:latin typeface="Arial" pitchFamily="34" charset="0"/>
                          <a:ea typeface="Arial" pitchFamily="34" charset="-122"/>
                          <a:cs typeface="Arial" pitchFamily="34" charset="-120"/>
                        </a:rPr>
                        <a:t>SQL Server</a:t>
                      </a:r>
                      <a:endParaRPr lang="en-US" sz="1600" dirty="0">
                        <a:latin typeface="Arial" charset="0"/>
                        <a:ea typeface="Arial" charset="0"/>
                        <a:cs typeface="Arial" charset="0"/>
                      </a:endParaRPr>
                    </a:p>
                  </a:txBody>
                  <a:tcPr marL="127000" marR="127000" marT="88900" marB="8890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240"/>
                        </a:lnSpc>
                        <a:buNone/>
                      </a:pPr>
                      <a:r>
                        <a:rPr lang="en-US" sz="1600" dirty="0">
                          <a:solidFill>
                            <a:srgbClr val="1B1F2A"/>
                          </a:solidFill>
                          <a:latin typeface="Arial" pitchFamily="34" charset="0"/>
                          <a:ea typeface="Arial" pitchFamily="34" charset="-122"/>
                          <a:cs typeface="Arial" pitchFamily="34" charset="-120"/>
                        </a:rPr>
                        <a:t>Stops hidden procedures auto-running</a:t>
                      </a:r>
                      <a:endParaRPr lang="en-US" sz="1600" dirty="0">
                        <a:latin typeface="Arial" charset="0"/>
                        <a:ea typeface="Arial" charset="0"/>
                        <a:cs typeface="Arial" charset="0"/>
                      </a:endParaRPr>
                    </a:p>
                  </a:txBody>
                  <a:tcPr marL="127000" marR="127000" marT="88900" marB="8890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474960">
                <a:tc>
                  <a:txBody>
                    <a:bodyPr/>
                    <a:lstStyle/>
                    <a:p>
                      <a:pPr indent="0" marL="0">
                        <a:lnSpc>
                          <a:spcPts val="2240"/>
                        </a:lnSpc>
                        <a:buNone/>
                      </a:pPr>
                      <a:r>
                        <a:rPr lang="en-US" sz="1600" dirty="0">
                          <a:solidFill>
                            <a:srgbClr val="1B1F2A"/>
                          </a:solidFill>
                          <a:latin typeface="Arial" pitchFamily="34" charset="0"/>
                          <a:ea typeface="Arial" pitchFamily="34" charset="-122"/>
                          <a:cs typeface="Arial" pitchFamily="34" charset="-120"/>
                        </a:rPr>
                        <a:t>Instance generates security logs</a:t>
                      </a:r>
                      <a:endParaRPr lang="en-US" sz="1600" dirty="0">
                        <a:latin typeface="Arial" charset="0"/>
                        <a:ea typeface="Arial" charset="0"/>
                        <a:cs typeface="Arial" charset="0"/>
                      </a:endParaRPr>
                    </a:p>
                  </a:txBody>
                  <a:tcPr marL="127000" marR="127000" marT="88900" marB="8890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240"/>
                        </a:lnSpc>
                        <a:buNone/>
                      </a:pPr>
                      <a:r>
                        <a:rPr lang="en-US" sz="1600" dirty="0">
                          <a:solidFill>
                            <a:srgbClr val="1B1F2A"/>
                          </a:solidFill>
                          <a:latin typeface="Arial" pitchFamily="34" charset="0"/>
                          <a:ea typeface="Arial" pitchFamily="34" charset="-122"/>
                          <a:cs typeface="Arial" pitchFamily="34" charset="-120"/>
                        </a:rPr>
                        <a:t>SQL Server</a:t>
                      </a:r>
                      <a:endParaRPr lang="en-US" sz="1600" dirty="0">
                        <a:latin typeface="Arial" charset="0"/>
                        <a:ea typeface="Arial" charset="0"/>
                        <a:cs typeface="Arial" charset="0"/>
                      </a:endParaRPr>
                    </a:p>
                  </a:txBody>
                  <a:tcPr marL="127000" marR="127000" marT="88900" marB="8890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240"/>
                        </a:lnSpc>
                        <a:buNone/>
                      </a:pPr>
                      <a:r>
                        <a:rPr lang="en-US" sz="1600" dirty="0">
                          <a:solidFill>
                            <a:srgbClr val="1B1F2A"/>
                          </a:solidFill>
                          <a:latin typeface="Arial" pitchFamily="34" charset="0"/>
                          <a:ea typeface="Arial" pitchFamily="34" charset="-122"/>
                          <a:cs typeface="Arial" pitchFamily="34" charset="-120"/>
                        </a:rPr>
                        <a:t>Needed to detect and investigate abuse</a:t>
                      </a:r>
                      <a:endParaRPr lang="en-US" sz="1600" dirty="0">
                        <a:latin typeface="Arial" charset="0"/>
                        <a:ea typeface="Arial" charset="0"/>
                        <a:cs typeface="Arial" charset="0"/>
                      </a:endParaRPr>
                    </a:p>
                  </a:txBody>
                  <a:tcPr marL="127000" marR="127000" marT="88900" marB="8890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474960">
                <a:tc>
                  <a:txBody>
                    <a:bodyPr/>
                    <a:lstStyle/>
                    <a:p>
                      <a:pPr indent="0" marL="0">
                        <a:lnSpc>
                          <a:spcPts val="2240"/>
                        </a:lnSpc>
                        <a:buNone/>
                      </a:pPr>
                      <a:r>
                        <a:rPr lang="en-US" sz="1600" dirty="0">
                          <a:solidFill>
                            <a:srgbClr val="1B1F2A"/>
                          </a:solidFill>
                          <a:latin typeface="Arial" pitchFamily="34" charset="0"/>
                          <a:ea typeface="Arial" pitchFamily="34" charset="-122"/>
                          <a:cs typeface="Arial" pitchFamily="34" charset="-120"/>
                        </a:rPr>
                        <a:t>Instance uses the standard PAM model</a:t>
                      </a:r>
                      <a:endParaRPr lang="en-US" sz="1600" dirty="0">
                        <a:latin typeface="Arial" charset="0"/>
                        <a:ea typeface="Arial" charset="0"/>
                        <a:cs typeface="Arial" charset="0"/>
                      </a:endParaRPr>
                    </a:p>
                  </a:txBody>
                  <a:tcPr marL="127000" marR="127000" marT="88900" marB="8890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240"/>
                        </a:lnSpc>
                        <a:buNone/>
                      </a:pPr>
                      <a:r>
                        <a:rPr lang="en-US" sz="1600" dirty="0">
                          <a:solidFill>
                            <a:srgbClr val="1B1F2A"/>
                          </a:solidFill>
                          <a:latin typeface="Arial" pitchFamily="34" charset="0"/>
                          <a:ea typeface="Arial" pitchFamily="34" charset="-122"/>
                          <a:cs typeface="Arial" pitchFamily="34" charset="-120"/>
                        </a:rPr>
                        <a:t>SQL Server</a:t>
                      </a:r>
                      <a:endParaRPr lang="en-US" sz="1600" dirty="0">
                        <a:latin typeface="Arial" charset="0"/>
                        <a:ea typeface="Arial" charset="0"/>
                        <a:cs typeface="Arial" charset="0"/>
                      </a:endParaRPr>
                    </a:p>
                  </a:txBody>
                  <a:tcPr marL="127000" marR="127000" marT="88900" marB="8890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240"/>
                        </a:lnSpc>
                        <a:buNone/>
                      </a:pPr>
                      <a:r>
                        <a:rPr lang="en-US" sz="1600" dirty="0">
                          <a:solidFill>
                            <a:srgbClr val="1B1F2A"/>
                          </a:solidFill>
                          <a:latin typeface="Arial" pitchFamily="34" charset="0"/>
                          <a:ea typeface="Arial" pitchFamily="34" charset="-122"/>
                          <a:cs typeface="Arial" pitchFamily="34" charset="-120"/>
                        </a:rPr>
                        <a:t>Admin access via vault, not shared logins</a:t>
                      </a:r>
                      <a:endParaRPr lang="en-US" sz="1600" dirty="0">
                        <a:latin typeface="Arial" charset="0"/>
                        <a:ea typeface="Arial" charset="0"/>
                        <a:cs typeface="Arial" charset="0"/>
                      </a:endParaRPr>
                    </a:p>
                  </a:txBody>
                  <a:tcPr marL="127000" marR="127000" marT="88900" marB="8890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474960">
                <a:tc>
                  <a:txBody>
                    <a:bodyPr/>
                    <a:lstStyle/>
                    <a:p>
                      <a:pPr indent="0" marL="0">
                        <a:lnSpc>
                          <a:spcPts val="2240"/>
                        </a:lnSpc>
                        <a:buNone/>
                      </a:pPr>
                      <a:r>
                        <a:rPr lang="en-US" sz="1600" dirty="0">
                          <a:solidFill>
                            <a:srgbClr val="1B1F2A"/>
                          </a:solidFill>
                          <a:latin typeface="Arial" pitchFamily="34" charset="0"/>
                          <a:ea typeface="Arial" pitchFamily="34" charset="-122"/>
                          <a:cs typeface="Arial" pitchFamily="34" charset="-120"/>
                        </a:rPr>
                        <a:t>Secrets rotated at least every 365 days</a:t>
                      </a:r>
                      <a:endParaRPr lang="en-US" sz="1600" dirty="0">
                        <a:latin typeface="Arial" charset="0"/>
                        <a:ea typeface="Arial" charset="0"/>
                        <a:cs typeface="Arial" charset="0"/>
                      </a:endParaRPr>
                    </a:p>
                  </a:txBody>
                  <a:tcPr marL="127000" marR="127000" marT="88900" marB="8890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240"/>
                        </a:lnSpc>
                        <a:buNone/>
                      </a:pPr>
                      <a:r>
                        <a:rPr lang="en-US" sz="1600" dirty="0">
                          <a:solidFill>
                            <a:srgbClr val="1B1F2A"/>
                          </a:solidFill>
                          <a:latin typeface="Arial" pitchFamily="34" charset="0"/>
                          <a:ea typeface="Arial" pitchFamily="34" charset="-122"/>
                          <a:cs typeface="Arial" pitchFamily="34" charset="-120"/>
                        </a:rPr>
                        <a:t>Secrets Manager</a:t>
                      </a:r>
                      <a:endParaRPr lang="en-US" sz="1600" dirty="0">
                        <a:latin typeface="Arial" charset="0"/>
                        <a:ea typeface="Arial" charset="0"/>
                        <a:cs typeface="Arial" charset="0"/>
                      </a:endParaRPr>
                    </a:p>
                  </a:txBody>
                  <a:tcPr marL="127000" marR="127000" marT="88900" marB="8890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240"/>
                        </a:lnSpc>
                        <a:buNone/>
                      </a:pPr>
                      <a:r>
                        <a:rPr lang="en-US" sz="1600" dirty="0">
                          <a:solidFill>
                            <a:srgbClr val="1B1F2A"/>
                          </a:solidFill>
                          <a:latin typeface="Arial" pitchFamily="34" charset="0"/>
                          <a:ea typeface="Arial" pitchFamily="34" charset="-122"/>
                          <a:cs typeface="Arial" pitchFamily="34" charset="-120"/>
                        </a:rPr>
                        <a:t>Limits damage from a leaked credential</a:t>
                      </a:r>
                      <a:endParaRPr lang="en-US" sz="1600" dirty="0">
                        <a:latin typeface="Arial" charset="0"/>
                        <a:ea typeface="Arial" charset="0"/>
                        <a:cs typeface="Arial" charset="0"/>
                      </a:endParaRPr>
                    </a:p>
                  </a:txBody>
                  <a:tcPr marL="127000" marR="127000" marT="88900" marB="8890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5" name="Text 2"/>
          <p:cNvSpPr/>
          <p:nvPr/>
        </p:nvSpPr>
        <p:spPr>
          <a:xfrm>
            <a:off x="812800" y="6238280"/>
            <a:ext cx="425255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270"/>
                </a:solidFill>
                <a:latin typeface="Arial" pitchFamily="34" charset="0"/>
                <a:ea typeface="Arial" pitchFamily="34" charset="-122"/>
                <a:cs typeface="Arial" pitchFamily="34" charset="-120"/>
              </a:rPr>
              <a:t>Source: CSA data provided · technology AWS DEEP</a:t>
            </a:r>
            <a:endParaRPr lang="en-US" sz="1200" dirty="0"/>
          </a:p>
        </p:txBody>
      </p:sp>
      <p:sp>
        <p:nvSpPr>
          <p:cNvPr id="6" name="Text 3"/>
          <p:cNvSpPr/>
          <p:nvPr/>
        </p:nvSpPr>
        <p:spPr>
          <a:xfrm>
            <a:off x="11158835" y="6238280"/>
            <a:ext cx="220365"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270"/>
                </a:solidFill>
                <a:latin typeface="Arial" pitchFamily="34" charset="0"/>
                <a:ea typeface="Arial" pitchFamily="34" charset="-122"/>
                <a:cs typeface="Arial" pitchFamily="34" charset="-120"/>
              </a:rPr>
              <a:t>05</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31A"/>
                </a:solidFill>
                <a:latin typeface="Courier New" pitchFamily="49" charset="0"/>
                <a:ea typeface="Courier New" pitchFamily="49" charset="-122"/>
                <a:cs typeface="Courier New" pitchFamily="49" charset="-120"/>
              </a:rPr>
              <a:t>CSA FIX · SQL SERVER OPTIONS</a:t>
            </a:r>
            <a:endParaRPr lang="en-US" sz="1200" dirty="0"/>
          </a:p>
        </p:txBody>
      </p:sp>
      <p:sp>
        <p:nvSpPr>
          <p:cNvPr id="3" name="Text 1"/>
          <p:cNvSpPr/>
          <p:nvPr>
            <p:ph type="title"/>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Arial" pitchFamily="34" charset="0"/>
                <a:ea typeface="Arial" pitchFamily="34" charset="-122"/>
                <a:cs typeface="Arial" pitchFamily="34" charset="-120"/>
              </a:rPr>
              <a:t>Disable CLR, Database Mail XPs and startup procs</a:t>
            </a:r>
            <a:endParaRPr lang="en-US" sz="3200" dirty="0"/>
          </a:p>
        </p:txBody>
      </p:sp>
      <p:sp>
        <p:nvSpPr>
          <p:cNvPr id="4" name="Text 2"/>
          <p:cNvSpPr/>
          <p:nvPr/>
        </p:nvSpPr>
        <p:spPr>
          <a:xfrm>
            <a:off x="812800" y="1879501"/>
            <a:ext cx="6350000" cy="3251200"/>
          </a:xfrm>
          <a:prstGeom prst="roundRect">
            <a:avLst>
              <a:gd name="adj" fmla="val 2344"/>
            </a:avLst>
          </a:prstGeom>
          <a:solidFill>
            <a:srgbClr val="14213D"/>
          </a:solidFill>
          <a:ln/>
        </p:spPr>
        <p:txBody>
          <a:bodyPr wrap="square" lIns="231682" tIns="231682" rIns="56422" bIns="206282" rtlCol="0" anchor="t">
            <a:normAutofit/>
          </a:bodyPr>
          <a:lstStyle/>
          <a:p>
            <a:pPr algn="l" indent="0" marL="0">
              <a:lnSpc>
                <a:spcPts val="1800"/>
              </a:lnSpc>
              <a:buNone/>
            </a:pPr>
            <a:r>
              <a:rPr lang="en-US" sz="1200" dirty="0">
                <a:solidFill>
                  <a:srgbClr val="8FB3D1"/>
                </a:solidFill>
                <a:latin typeface="Courier New" pitchFamily="49" charset="0"/>
                <a:ea typeface="Courier New" pitchFamily="49" charset="-122"/>
                <a:cs typeface="Courier New" pitchFamily="49" charset="-120"/>
              </a:rPr>
              <a:t>-- 1. Check current values</a:t>
            </a:r>
            <a:endParaRPr lang="en-US" sz="1200" dirty="0"/>
          </a:p>
          <a:p>
            <a:pPr algn="l" indent="0" marL="0">
              <a:lnSpc>
                <a:spcPts val="1800"/>
              </a:lnSpc>
              <a:buNone/>
            </a:pPr>
            <a:r>
              <a:rPr lang="en-US" sz="1200" dirty="0">
                <a:solidFill>
                  <a:srgbClr val="E8ECF3"/>
                </a:solidFill>
                <a:latin typeface="Courier New" pitchFamily="49" charset="0"/>
                <a:ea typeface="Courier New" pitchFamily="49" charset="-122"/>
                <a:cs typeface="Courier New" pitchFamily="49" charset="-120"/>
              </a:rPr>
              <a:t>SELECT name, value_in_use FROM sys.configurations</a:t>
            </a:r>
            <a:endParaRPr lang="en-US" sz="1200" dirty="0"/>
          </a:p>
          <a:p>
            <a:pPr algn="l" indent="0" marL="0">
              <a:lnSpc>
                <a:spcPts val="1800"/>
              </a:lnSpc>
              <a:buNone/>
            </a:pPr>
            <a:r>
              <a:rPr lang="en-US" sz="1200" dirty="0">
                <a:solidFill>
                  <a:srgbClr val="E8ECF3"/>
                </a:solidFill>
                <a:latin typeface="Courier New" pitchFamily="49" charset="0"/>
                <a:ea typeface="Courier New" pitchFamily="49" charset="-122"/>
                <a:cs typeface="Courier New" pitchFamily="49" charset="-120"/>
              </a:rPr>
              <a:t>WHERE name IN ('clr enabled', 'Database Mail XPs',</a:t>
            </a:r>
            <a:endParaRPr lang="en-US" sz="1200" dirty="0"/>
          </a:p>
          <a:p>
            <a:pPr algn="l" indent="0" marL="0">
              <a:lnSpc>
                <a:spcPts val="1800"/>
              </a:lnSpc>
              <a:buNone/>
            </a:pPr>
            <a:r>
              <a:rPr lang="en-US" sz="1200" dirty="0">
                <a:solidFill>
                  <a:srgbClr val="E8ECF3"/>
                </a:solidFill>
                <a:latin typeface="Courier New" pitchFamily="49" charset="0"/>
                <a:ea typeface="Courier New" pitchFamily="49" charset="-122"/>
                <a:cs typeface="Courier New" pitchFamily="49" charset="-120"/>
              </a:rPr>
              <a:t>'scan for startup procs');</a:t>
            </a:r>
            <a:endParaRPr lang="en-US" sz="1200" dirty="0"/>
          </a:p>
          <a:p>
            <a:pPr algn="l" indent="0" marL="0">
              <a:lnSpc>
                <a:spcPts val="1800"/>
              </a:lnSpc>
              <a:buNone/>
            </a:pPr>
            <a:endParaRPr lang="en-US" sz="1200" dirty="0"/>
          </a:p>
          <a:p>
            <a:pPr algn="l" indent="0" marL="0">
              <a:lnSpc>
                <a:spcPts val="1800"/>
              </a:lnSpc>
              <a:buNone/>
            </a:pPr>
            <a:r>
              <a:rPr lang="en-US" sz="1200" dirty="0">
                <a:solidFill>
                  <a:srgbClr val="8FB3D1"/>
                </a:solidFill>
                <a:latin typeface="Courier New" pitchFamily="49" charset="0"/>
                <a:ea typeface="Courier New" pitchFamily="49" charset="-122"/>
                <a:cs typeface="Courier New" pitchFamily="49" charset="-120"/>
              </a:rPr>
              <a:t>-- 2. Turn all three off</a:t>
            </a:r>
            <a:endParaRPr lang="en-US" sz="1200" dirty="0"/>
          </a:p>
          <a:p>
            <a:pPr algn="l" indent="0" marL="0">
              <a:lnSpc>
                <a:spcPts val="1800"/>
              </a:lnSpc>
              <a:buNone/>
            </a:pPr>
            <a:r>
              <a:rPr lang="en-US" sz="1200" dirty="0">
                <a:solidFill>
                  <a:srgbClr val="E8ECF3"/>
                </a:solidFill>
                <a:latin typeface="Courier New" pitchFamily="49" charset="0"/>
                <a:ea typeface="Courier New" pitchFamily="49" charset="-122"/>
                <a:cs typeface="Courier New" pitchFamily="49" charset="-120"/>
              </a:rPr>
              <a:t>EXEC sp_configure 'show advanced options', 1; RECONFIGURE;</a:t>
            </a:r>
            <a:endParaRPr lang="en-US" sz="1200" dirty="0"/>
          </a:p>
          <a:p>
            <a:pPr algn="l" indent="0" marL="0">
              <a:lnSpc>
                <a:spcPts val="1800"/>
              </a:lnSpc>
              <a:buNone/>
            </a:pPr>
            <a:r>
              <a:rPr lang="en-US" sz="1200" dirty="0">
                <a:solidFill>
                  <a:srgbClr val="E8ECF3"/>
                </a:solidFill>
                <a:latin typeface="Courier New" pitchFamily="49" charset="0"/>
                <a:ea typeface="Courier New" pitchFamily="49" charset="-122"/>
                <a:cs typeface="Courier New" pitchFamily="49" charset="-120"/>
              </a:rPr>
              <a:t>EXEC sp_configure 'clr enabled', 0;</a:t>
            </a:r>
            <a:endParaRPr lang="en-US" sz="1200" dirty="0"/>
          </a:p>
          <a:p>
            <a:pPr algn="l" indent="0" marL="0">
              <a:lnSpc>
                <a:spcPts val="1800"/>
              </a:lnSpc>
              <a:buNone/>
            </a:pPr>
            <a:r>
              <a:rPr lang="en-US" sz="1200" dirty="0">
                <a:solidFill>
                  <a:srgbClr val="E8ECF3"/>
                </a:solidFill>
                <a:latin typeface="Courier New" pitchFamily="49" charset="0"/>
                <a:ea typeface="Courier New" pitchFamily="49" charset="-122"/>
                <a:cs typeface="Courier New" pitchFamily="49" charset="-120"/>
              </a:rPr>
              <a:t>EXEC sp_configure 'Database Mail XPs', 0;</a:t>
            </a:r>
            <a:endParaRPr lang="en-US" sz="1200" dirty="0"/>
          </a:p>
          <a:p>
            <a:pPr algn="l" indent="0" marL="0">
              <a:lnSpc>
                <a:spcPts val="1800"/>
              </a:lnSpc>
              <a:buNone/>
            </a:pPr>
            <a:r>
              <a:rPr lang="en-US" sz="1200" dirty="0">
                <a:solidFill>
                  <a:srgbClr val="E8ECF3"/>
                </a:solidFill>
                <a:latin typeface="Courier New" pitchFamily="49" charset="0"/>
                <a:ea typeface="Courier New" pitchFamily="49" charset="-122"/>
                <a:cs typeface="Courier New" pitchFamily="49" charset="-120"/>
              </a:rPr>
              <a:t>EXEC sp_configure 'scan for startup procs', 0;</a:t>
            </a:r>
            <a:endParaRPr lang="en-US" sz="1200" dirty="0"/>
          </a:p>
          <a:p>
            <a:pPr algn="l" indent="0" marL="0">
              <a:lnSpc>
                <a:spcPts val="1800"/>
              </a:lnSpc>
              <a:buNone/>
            </a:pPr>
            <a:r>
              <a:rPr lang="en-US" sz="1200" dirty="0">
                <a:solidFill>
                  <a:srgbClr val="E8ECF3"/>
                </a:solidFill>
                <a:latin typeface="Courier New" pitchFamily="49" charset="0"/>
                <a:ea typeface="Courier New" pitchFamily="49" charset="-122"/>
                <a:cs typeface="Courier New" pitchFamily="49" charset="-120"/>
              </a:rPr>
              <a:t>RECONFIGURE;</a:t>
            </a:r>
            <a:endParaRPr lang="en-US" sz="1200" dirty="0"/>
          </a:p>
          <a:p>
            <a:pPr algn="l" indent="0" marL="0">
              <a:lnSpc>
                <a:spcPts val="1800"/>
              </a:lnSpc>
              <a:buNone/>
            </a:pPr>
            <a:r>
              <a:rPr lang="en-US" sz="1200" dirty="0">
                <a:solidFill>
                  <a:srgbClr val="E8ECF3"/>
                </a:solidFill>
                <a:latin typeface="Courier New" pitchFamily="49" charset="0"/>
                <a:ea typeface="Courier New" pitchFamily="49" charset="-122"/>
                <a:cs typeface="Courier New" pitchFamily="49" charset="-120"/>
              </a:rPr>
              <a:t>EXEC sp_configure 'show advanced options', 0; RECONFIGURE;</a:t>
            </a:r>
            <a:endParaRPr lang="en-US" sz="1200" dirty="0"/>
          </a:p>
        </p:txBody>
      </p:sp>
      <p:sp>
        <p:nvSpPr>
          <p:cNvPr id="5" name="Shape 3"/>
          <p:cNvSpPr/>
          <p:nvPr/>
        </p:nvSpPr>
        <p:spPr>
          <a:xfrm>
            <a:off x="7416800" y="1879501"/>
            <a:ext cx="3962400" cy="1419622"/>
          </a:xfrm>
          <a:prstGeom prst="roundRect">
            <a:avLst>
              <a:gd name="adj" fmla="val 5368"/>
            </a:avLst>
          </a:prstGeom>
          <a:solidFill>
            <a:srgbClr val="FFFFFF"/>
          </a:solidFill>
          <a:ln/>
        </p:spPr>
      </p:sp>
      <p:sp>
        <p:nvSpPr>
          <p:cNvPr id="6" name="Text 4"/>
          <p:cNvSpPr/>
          <p:nvPr/>
        </p:nvSpPr>
        <p:spPr>
          <a:xfrm>
            <a:off x="7620000" y="2082701"/>
            <a:ext cx="366268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Arial" pitchFamily="34" charset="0"/>
                <a:ea typeface="Arial" pitchFamily="34" charset="-122"/>
                <a:cs typeface="Arial" pitchFamily="34" charset="-120"/>
              </a:rPr>
              <a:t>Check use first</a:t>
            </a:r>
            <a:endParaRPr lang="en-US" sz="1600" dirty="0"/>
          </a:p>
        </p:txBody>
      </p:sp>
      <p:sp>
        <p:nvSpPr>
          <p:cNvPr id="7" name="Text 5"/>
          <p:cNvSpPr/>
          <p:nvPr/>
        </p:nvSpPr>
        <p:spPr>
          <a:xfrm>
            <a:off x="7620000" y="2402681"/>
            <a:ext cx="3662680"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04C"/>
                </a:solidFill>
                <a:latin typeface="Arial" pitchFamily="34" charset="0"/>
                <a:ea typeface="Arial" pitchFamily="34" charset="-122"/>
                <a:cs typeface="Arial" pitchFamily="34" charset="-120"/>
              </a:rPr>
              <a:t>User CLR assemblies in sys.assemblies, or Agent jobs that send mail? Agree an exception or move the logic out.</a:t>
            </a:r>
            <a:endParaRPr lang="en-US" sz="1300" dirty="0"/>
          </a:p>
        </p:txBody>
      </p:sp>
      <p:sp>
        <p:nvSpPr>
          <p:cNvPr id="8" name="Shape 6"/>
          <p:cNvSpPr/>
          <p:nvPr/>
        </p:nvSpPr>
        <p:spPr>
          <a:xfrm>
            <a:off x="7416800" y="3451523"/>
            <a:ext cx="3962400" cy="1188541"/>
          </a:xfrm>
          <a:prstGeom prst="roundRect">
            <a:avLst>
              <a:gd name="adj" fmla="val 6411"/>
            </a:avLst>
          </a:prstGeom>
          <a:solidFill>
            <a:srgbClr val="FFFFFF"/>
          </a:solidFill>
          <a:ln/>
        </p:spPr>
      </p:sp>
      <p:sp>
        <p:nvSpPr>
          <p:cNvPr id="9" name="Text 7"/>
          <p:cNvSpPr/>
          <p:nvPr/>
        </p:nvSpPr>
        <p:spPr>
          <a:xfrm>
            <a:off x="7620000" y="3654723"/>
            <a:ext cx="366268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Arial" pitchFamily="34" charset="0"/>
                <a:ea typeface="Arial" pitchFamily="34" charset="-122"/>
                <a:cs typeface="Arial" pitchFamily="34" charset="-120"/>
              </a:rPr>
              <a:t>Plan a restart</a:t>
            </a:r>
            <a:endParaRPr lang="en-US" sz="1600" dirty="0"/>
          </a:p>
        </p:txBody>
      </p:sp>
      <p:sp>
        <p:nvSpPr>
          <p:cNvPr id="10" name="Text 8"/>
          <p:cNvSpPr/>
          <p:nvPr/>
        </p:nvSpPr>
        <p:spPr>
          <a:xfrm>
            <a:off x="7620000" y="3974703"/>
            <a:ext cx="3662680"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04C"/>
                </a:solidFill>
                <a:latin typeface="Arial" pitchFamily="34" charset="0"/>
                <a:ea typeface="Arial" pitchFamily="34" charset="-122"/>
                <a:cs typeface="Arial" pitchFamily="34" charset="-120"/>
              </a:rPr>
              <a:t>Startup-procs change applies after the SQL service restarts. Do QAS first.</a:t>
            </a:r>
            <a:endParaRPr lang="en-US" sz="1300" dirty="0"/>
          </a:p>
        </p:txBody>
      </p:sp>
      <p:sp>
        <p:nvSpPr>
          <p:cNvPr id="11" name="Text 9"/>
          <p:cNvSpPr/>
          <p:nvPr/>
        </p:nvSpPr>
        <p:spPr>
          <a:xfrm>
            <a:off x="812800" y="6238280"/>
            <a:ext cx="527137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270"/>
                </a:solidFill>
                <a:latin typeface="Arial" pitchFamily="34" charset="0"/>
                <a:ea typeface="Arial" pitchFamily="34" charset="-122"/>
                <a:cs typeface="Arial" pitchFamily="34" charset="-120"/>
              </a:rPr>
              <a:t>CSA &amp; infrastructure vulnerabilities · DEEP TTCLOUD AWS PRD</a:t>
            </a:r>
            <a:endParaRPr lang="en-US" sz="1200" dirty="0"/>
          </a:p>
        </p:txBody>
      </p:sp>
      <p:sp>
        <p:nvSpPr>
          <p:cNvPr id="12" name="Text 10"/>
          <p:cNvSpPr/>
          <p:nvPr/>
        </p:nvSpPr>
        <p:spPr>
          <a:xfrm>
            <a:off x="11158835" y="6238280"/>
            <a:ext cx="220365"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270"/>
                </a:solidFill>
                <a:latin typeface="Arial" pitchFamily="34" charset="0"/>
                <a:ea typeface="Arial" pitchFamily="34" charset="-122"/>
                <a:cs typeface="Arial" pitchFamily="34" charset="-120"/>
              </a:rPr>
              <a:t>06</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31A"/>
                </a:solidFill>
                <a:latin typeface="Courier New" pitchFamily="49" charset="0"/>
                <a:ea typeface="Courier New" pitchFamily="49" charset="-122"/>
                <a:cs typeface="Courier New" pitchFamily="49" charset="-120"/>
              </a:rPr>
              <a:t>CSA FIX · ACCESS, LOGGING, SECRETS</a:t>
            </a:r>
            <a:endParaRPr lang="en-US" sz="1200" dirty="0"/>
          </a:p>
        </p:txBody>
      </p:sp>
      <p:sp>
        <p:nvSpPr>
          <p:cNvPr id="3" name="Text 1"/>
          <p:cNvSpPr/>
          <p:nvPr>
            <p:ph type="title"/>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Arial" pitchFamily="34" charset="0"/>
                <a:ea typeface="Arial" pitchFamily="34" charset="-122"/>
                <a:cs typeface="Arial" pitchFamily="34" charset="-120"/>
              </a:rPr>
              <a:t>Close the access and audit gaps</a:t>
            </a:r>
            <a:endParaRPr lang="en-US" sz="3200" dirty="0"/>
          </a:p>
        </p:txBody>
      </p:sp>
      <p:sp>
        <p:nvSpPr>
          <p:cNvPr id="4" name="Shape 2"/>
          <p:cNvSpPr/>
          <p:nvPr/>
        </p:nvSpPr>
        <p:spPr>
          <a:xfrm>
            <a:off x="812800" y="1781076"/>
            <a:ext cx="10566400" cy="0"/>
          </a:xfrm>
          <a:prstGeom prst="line">
            <a:avLst/>
          </a:prstGeom>
          <a:noFill/>
          <a:ln w="6350">
            <a:solidFill>
              <a:srgbClr val="D9D4C7"/>
            </a:solidFill>
            <a:prstDash val="solid"/>
          </a:ln>
        </p:spPr>
      </p:sp>
      <p:sp>
        <p:nvSpPr>
          <p:cNvPr id="5" name="Text 3"/>
          <p:cNvSpPr/>
          <p:nvPr/>
        </p:nvSpPr>
        <p:spPr>
          <a:xfrm>
            <a:off x="812800" y="1911251"/>
            <a:ext cx="405511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Arial" pitchFamily="34" charset="0"/>
                <a:ea typeface="Arial" pitchFamily="34" charset="-122"/>
                <a:cs typeface="Arial" pitchFamily="34" charset="-120"/>
              </a:rPr>
              <a:t>Empty Remote Desktop Users</a:t>
            </a:r>
            <a:endParaRPr lang="en-US" sz="1600" dirty="0"/>
          </a:p>
        </p:txBody>
      </p:sp>
      <p:sp>
        <p:nvSpPr>
          <p:cNvPr id="6" name="Text 4"/>
          <p:cNvSpPr/>
          <p:nvPr/>
        </p:nvSpPr>
        <p:spPr>
          <a:xfrm>
            <a:off x="812800" y="2205831"/>
            <a:ext cx="405511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04C"/>
                </a:solidFill>
                <a:latin typeface="Arial" pitchFamily="34" charset="0"/>
                <a:ea typeface="Arial" pitchFamily="34" charset="-122"/>
                <a:cs typeface="Arial" pitchFamily="34" charset="-120"/>
              </a:rPr>
              <a:t>Route access via PAM or SSM Session Manager; fix the GPO if it re-adds members</a:t>
            </a:r>
            <a:endParaRPr lang="en-US" sz="1200" dirty="0"/>
          </a:p>
        </p:txBody>
      </p:sp>
      <p:sp>
        <p:nvSpPr>
          <p:cNvPr id="7" name="Text 5"/>
          <p:cNvSpPr/>
          <p:nvPr/>
        </p:nvSpPr>
        <p:spPr>
          <a:xfrm>
            <a:off x="5003800" y="1916212"/>
            <a:ext cx="6375400" cy="711200"/>
          </a:xfrm>
          <a:prstGeom prst="roundRect">
            <a:avLst>
              <a:gd name="adj" fmla="val 10714"/>
            </a:avLst>
          </a:prstGeom>
          <a:solidFill>
            <a:srgbClr val="14213D"/>
          </a:solidFill>
          <a:ln/>
        </p:spPr>
        <p:txBody>
          <a:bodyPr wrap="square" lIns="180882" tIns="104682" rIns="1812" bIns="79282" rtlCol="0" anchor="t">
            <a:normAutofit/>
          </a:bodyPr>
          <a:lstStyle/>
          <a:p>
            <a:pPr algn="l" indent="0" marL="0">
              <a:lnSpc>
                <a:spcPts val="1800"/>
              </a:lnSpc>
              <a:buNone/>
            </a:pPr>
            <a:r>
              <a:rPr lang="en-US" sz="1200" dirty="0">
                <a:solidFill>
                  <a:srgbClr val="E8ECF3"/>
                </a:solidFill>
                <a:latin typeface="Courier New" pitchFamily="49" charset="0"/>
                <a:ea typeface="Courier New" pitchFamily="49" charset="-122"/>
                <a:cs typeface="Courier New" pitchFamily="49" charset="-120"/>
              </a:rPr>
              <a:t>Get-LocalGroupMember "Remote Desktop Users"</a:t>
            </a:r>
            <a:endParaRPr lang="en-US" sz="1200" dirty="0"/>
          </a:p>
          <a:p>
            <a:pPr algn="l" indent="0" marL="0">
              <a:lnSpc>
                <a:spcPts val="1800"/>
              </a:lnSpc>
              <a:buNone/>
            </a:pPr>
            <a:r>
              <a:rPr lang="en-US" sz="1200" dirty="0">
                <a:solidFill>
                  <a:srgbClr val="E8ECF3"/>
                </a:solidFill>
                <a:latin typeface="Courier New" pitchFamily="49" charset="0"/>
                <a:ea typeface="Courier New" pitchFamily="49" charset="-122"/>
                <a:cs typeface="Courier New" pitchFamily="49" charset="-120"/>
              </a:rPr>
              <a:t>Remove-LocalGroupMember "Remote Desktop Users" &lt;user&gt;</a:t>
            </a:r>
            <a:endParaRPr lang="en-US" sz="1200" dirty="0"/>
          </a:p>
        </p:txBody>
      </p:sp>
      <p:sp>
        <p:nvSpPr>
          <p:cNvPr id="8" name="Shape 6"/>
          <p:cNvSpPr/>
          <p:nvPr/>
        </p:nvSpPr>
        <p:spPr>
          <a:xfrm>
            <a:off x="812800" y="2838847"/>
            <a:ext cx="10566400" cy="0"/>
          </a:xfrm>
          <a:prstGeom prst="line">
            <a:avLst/>
          </a:prstGeom>
          <a:noFill/>
          <a:ln w="6350">
            <a:solidFill>
              <a:srgbClr val="D9D4C7"/>
            </a:solidFill>
            <a:prstDash val="solid"/>
          </a:ln>
        </p:spPr>
      </p:sp>
      <p:sp>
        <p:nvSpPr>
          <p:cNvPr id="9" name="Text 7"/>
          <p:cNvSpPr/>
          <p:nvPr/>
        </p:nvSpPr>
        <p:spPr>
          <a:xfrm>
            <a:off x="812800" y="3306862"/>
            <a:ext cx="405511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Arial" pitchFamily="34" charset="0"/>
                <a:ea typeface="Arial" pitchFamily="34" charset="-122"/>
                <a:cs typeface="Arial" pitchFamily="34" charset="-120"/>
              </a:rPr>
              <a:t>SQL security logs + PAM</a:t>
            </a:r>
            <a:endParaRPr lang="en-US" sz="1600" dirty="0"/>
          </a:p>
        </p:txBody>
      </p:sp>
      <p:sp>
        <p:nvSpPr>
          <p:cNvPr id="10" name="Text 8"/>
          <p:cNvSpPr/>
          <p:nvPr/>
        </p:nvSpPr>
        <p:spPr>
          <a:xfrm>
            <a:off x="812800" y="3601442"/>
            <a:ext cx="405511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04C"/>
                </a:solidFill>
                <a:latin typeface="Arial" pitchFamily="34" charset="0"/>
                <a:ea typeface="Arial" pitchFamily="34" charset="-122"/>
                <a:cs typeface="Arial" pitchFamily="34" charset="-120"/>
              </a:rPr>
              <a:t>Audit logins, ship to SIEM; disable sa and grant sysadmin only to PAM accounts</a:t>
            </a:r>
            <a:endParaRPr lang="en-US" sz="1200" dirty="0"/>
          </a:p>
        </p:txBody>
      </p:sp>
      <p:sp>
        <p:nvSpPr>
          <p:cNvPr id="11" name="Text 9"/>
          <p:cNvSpPr/>
          <p:nvPr/>
        </p:nvSpPr>
        <p:spPr>
          <a:xfrm>
            <a:off x="5003800" y="2969022"/>
            <a:ext cx="6375400" cy="1397000"/>
          </a:xfrm>
          <a:prstGeom prst="roundRect">
            <a:avLst>
              <a:gd name="adj" fmla="val 5455"/>
            </a:avLst>
          </a:prstGeom>
          <a:solidFill>
            <a:srgbClr val="14213D"/>
          </a:solidFill>
          <a:ln/>
        </p:spPr>
        <p:txBody>
          <a:bodyPr wrap="square" lIns="180882" tIns="104682" rIns="1812" bIns="79282" rtlCol="0" anchor="t">
            <a:normAutofit/>
          </a:bodyPr>
          <a:lstStyle/>
          <a:p>
            <a:pPr algn="l" indent="0" marL="0">
              <a:lnSpc>
                <a:spcPts val="1800"/>
              </a:lnSpc>
              <a:buNone/>
            </a:pPr>
            <a:r>
              <a:rPr lang="en-US" sz="1200" dirty="0">
                <a:solidFill>
                  <a:srgbClr val="E8ECF3"/>
                </a:solidFill>
                <a:latin typeface="Courier New" pitchFamily="49" charset="0"/>
                <a:ea typeface="Courier New" pitchFamily="49" charset="-122"/>
                <a:cs typeface="Courier New" pitchFamily="49" charset="-120"/>
              </a:rPr>
              <a:t>CREATE SERVER AUDIT SecAudit TO APPLICATION_LOG;</a:t>
            </a:r>
            <a:endParaRPr lang="en-US" sz="1200" dirty="0"/>
          </a:p>
          <a:p>
            <a:pPr algn="l" indent="0" marL="0">
              <a:lnSpc>
                <a:spcPts val="1800"/>
              </a:lnSpc>
              <a:buNone/>
            </a:pPr>
            <a:r>
              <a:rPr lang="en-US" sz="1200" dirty="0">
                <a:solidFill>
                  <a:srgbClr val="E8ECF3"/>
                </a:solidFill>
                <a:latin typeface="Courier New" pitchFamily="49" charset="0"/>
                <a:ea typeface="Courier New" pitchFamily="49" charset="-122"/>
                <a:cs typeface="Courier New" pitchFamily="49" charset="-120"/>
              </a:rPr>
              <a:t>CREATE SERVER AUDIT SPECIFICATION SecSpec</a:t>
            </a:r>
            <a:endParaRPr lang="en-US" sz="1200" dirty="0"/>
          </a:p>
          <a:p>
            <a:pPr algn="l" indent="0" marL="0">
              <a:lnSpc>
                <a:spcPts val="1800"/>
              </a:lnSpc>
              <a:buNone/>
            </a:pPr>
            <a:r>
              <a:rPr lang="en-US" sz="1200" dirty="0">
                <a:solidFill>
                  <a:srgbClr val="E8ECF3"/>
                </a:solidFill>
                <a:latin typeface="Courier New" pitchFamily="49" charset="0"/>
                <a:ea typeface="Courier New" pitchFamily="49" charset="-122"/>
                <a:cs typeface="Courier New" pitchFamily="49" charset="-120"/>
              </a:rPr>
              <a:t>FOR SERVER AUDIT SecAudit ADD (FAILED_LOGIN_GROUP),</a:t>
            </a:r>
            <a:endParaRPr lang="en-US" sz="1200" dirty="0"/>
          </a:p>
          <a:p>
            <a:pPr algn="l" indent="0" marL="0">
              <a:lnSpc>
                <a:spcPts val="1800"/>
              </a:lnSpc>
              <a:buNone/>
            </a:pPr>
            <a:r>
              <a:rPr lang="en-US" sz="1200" dirty="0">
                <a:solidFill>
                  <a:srgbClr val="E8ECF3"/>
                </a:solidFill>
                <a:latin typeface="Courier New" pitchFamily="49" charset="0"/>
                <a:ea typeface="Courier New" pitchFamily="49" charset="-122"/>
                <a:cs typeface="Courier New" pitchFamily="49" charset="-120"/>
              </a:rPr>
              <a:t>ADD (SUCCESSFUL_LOGIN_GROUP) WITH (STATE = ON);</a:t>
            </a:r>
            <a:endParaRPr lang="en-US" sz="1200" dirty="0"/>
          </a:p>
          <a:p>
            <a:pPr algn="l" indent="0" marL="0">
              <a:lnSpc>
                <a:spcPts val="1800"/>
              </a:lnSpc>
              <a:buNone/>
            </a:pPr>
            <a:r>
              <a:rPr lang="en-US" sz="1200" dirty="0">
                <a:solidFill>
                  <a:srgbClr val="E8ECF3"/>
                </a:solidFill>
                <a:latin typeface="Courier New" pitchFamily="49" charset="0"/>
                <a:ea typeface="Courier New" pitchFamily="49" charset="-122"/>
                <a:cs typeface="Courier New" pitchFamily="49" charset="-120"/>
              </a:rPr>
              <a:t>ALTER SERVER AUDIT SecAudit WITH (STATE = ON);</a:t>
            </a:r>
            <a:endParaRPr lang="en-US" sz="1200" dirty="0"/>
          </a:p>
        </p:txBody>
      </p:sp>
      <p:sp>
        <p:nvSpPr>
          <p:cNvPr id="12" name="Shape 10"/>
          <p:cNvSpPr/>
          <p:nvPr/>
        </p:nvSpPr>
        <p:spPr>
          <a:xfrm>
            <a:off x="812800" y="4572397"/>
            <a:ext cx="10566400" cy="0"/>
          </a:xfrm>
          <a:prstGeom prst="line">
            <a:avLst/>
          </a:prstGeom>
          <a:noFill/>
          <a:ln w="6350">
            <a:solidFill>
              <a:srgbClr val="D9D4C7"/>
            </a:solidFill>
            <a:prstDash val="solid"/>
          </a:ln>
        </p:spPr>
      </p:sp>
      <p:sp>
        <p:nvSpPr>
          <p:cNvPr id="13" name="Text 11"/>
          <p:cNvSpPr/>
          <p:nvPr/>
        </p:nvSpPr>
        <p:spPr>
          <a:xfrm>
            <a:off x="812800" y="4811812"/>
            <a:ext cx="405511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Arial" pitchFamily="34" charset="0"/>
                <a:ea typeface="Arial" pitchFamily="34" charset="-122"/>
                <a:cs typeface="Arial" pitchFamily="34" charset="-120"/>
              </a:rPr>
              <a:t>Rotate secrets automatically</a:t>
            </a:r>
            <a:endParaRPr lang="en-US" sz="1600" dirty="0"/>
          </a:p>
        </p:txBody>
      </p:sp>
      <p:sp>
        <p:nvSpPr>
          <p:cNvPr id="14" name="Text 12"/>
          <p:cNvSpPr/>
          <p:nvPr/>
        </p:nvSpPr>
        <p:spPr>
          <a:xfrm>
            <a:off x="812800" y="5106392"/>
            <a:ext cx="405511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04C"/>
                </a:solidFill>
                <a:latin typeface="Arial" pitchFamily="34" charset="0"/>
                <a:ea typeface="Arial" pitchFamily="34" charset="-122"/>
                <a:cs typeface="Arial" pitchFamily="34" charset="-120"/>
              </a:rPr>
              <a:t>Rotates once immediately; confirm the app re-reads the secret (test in QAS)</a:t>
            </a:r>
            <a:endParaRPr lang="en-US" sz="1200" dirty="0"/>
          </a:p>
        </p:txBody>
      </p:sp>
      <p:sp>
        <p:nvSpPr>
          <p:cNvPr id="15" name="Text 13"/>
          <p:cNvSpPr/>
          <p:nvPr/>
        </p:nvSpPr>
        <p:spPr>
          <a:xfrm>
            <a:off x="5003800" y="4702572"/>
            <a:ext cx="6375400" cy="939800"/>
          </a:xfrm>
          <a:prstGeom prst="roundRect">
            <a:avLst>
              <a:gd name="adj" fmla="val 8108"/>
            </a:avLst>
          </a:prstGeom>
          <a:solidFill>
            <a:srgbClr val="14213D"/>
          </a:solidFill>
          <a:ln/>
        </p:spPr>
        <p:txBody>
          <a:bodyPr wrap="square" lIns="180882" tIns="104682" rIns="1812" bIns="79282" rtlCol="0" anchor="t">
            <a:normAutofit/>
          </a:bodyPr>
          <a:lstStyle/>
          <a:p>
            <a:pPr algn="l" indent="0" marL="0">
              <a:lnSpc>
                <a:spcPts val="1800"/>
              </a:lnSpc>
              <a:buNone/>
            </a:pPr>
            <a:r>
              <a:rPr lang="en-US" sz="1200" dirty="0">
                <a:solidFill>
                  <a:srgbClr val="E8ECF3"/>
                </a:solidFill>
                <a:latin typeface="Courier New" pitchFamily="49" charset="0"/>
                <a:ea typeface="Courier New" pitchFamily="49" charset="-122"/>
                <a:cs typeface="Courier New" pitchFamily="49" charset="-120"/>
              </a:rPr>
              <a:t>aws secretsmanager rotate-secret --secret-id &lt;arn&gt;</a:t>
            </a:r>
            <a:endParaRPr lang="en-US" sz="1200" dirty="0"/>
          </a:p>
          <a:p>
            <a:pPr algn="l" indent="0" marL="0">
              <a:lnSpc>
                <a:spcPts val="1800"/>
              </a:lnSpc>
              <a:buNone/>
            </a:pPr>
            <a:r>
              <a:rPr lang="en-US" sz="1200" dirty="0">
                <a:solidFill>
                  <a:srgbClr val="E8ECF3"/>
                </a:solidFill>
                <a:latin typeface="Courier New" pitchFamily="49" charset="0"/>
                <a:ea typeface="Courier New" pitchFamily="49" charset="-122"/>
                <a:cs typeface="Courier New" pitchFamily="49" charset="-120"/>
              </a:rPr>
              <a:t>--rotation-lambda-arn &lt;lambda-arn&gt;</a:t>
            </a:r>
            <a:endParaRPr lang="en-US" sz="1200" dirty="0"/>
          </a:p>
          <a:p>
            <a:pPr algn="l" indent="0" marL="0">
              <a:lnSpc>
                <a:spcPts val="1800"/>
              </a:lnSpc>
              <a:buNone/>
            </a:pPr>
            <a:r>
              <a:rPr lang="en-US" sz="1200" dirty="0">
                <a:solidFill>
                  <a:srgbClr val="E8ECF3"/>
                </a:solidFill>
                <a:latin typeface="Courier New" pitchFamily="49" charset="0"/>
                <a:ea typeface="Courier New" pitchFamily="49" charset="-122"/>
                <a:cs typeface="Courier New" pitchFamily="49" charset="-120"/>
              </a:rPr>
              <a:t>--rotation-rules AutomaticallyAfterDays=90</a:t>
            </a:r>
            <a:endParaRPr lang="en-US" sz="1200" dirty="0"/>
          </a:p>
        </p:txBody>
      </p:sp>
      <p:sp>
        <p:nvSpPr>
          <p:cNvPr id="16" name="Text 14"/>
          <p:cNvSpPr/>
          <p:nvPr/>
        </p:nvSpPr>
        <p:spPr>
          <a:xfrm>
            <a:off x="812800" y="6238280"/>
            <a:ext cx="527137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270"/>
                </a:solidFill>
                <a:latin typeface="Arial" pitchFamily="34" charset="0"/>
                <a:ea typeface="Arial" pitchFamily="34" charset="-122"/>
                <a:cs typeface="Arial" pitchFamily="34" charset="-120"/>
              </a:rPr>
              <a:t>CSA &amp; infrastructure vulnerabilities · DEEP TTCLOUD AWS PRD</a:t>
            </a:r>
            <a:endParaRPr lang="en-US" sz="1200" dirty="0"/>
          </a:p>
        </p:txBody>
      </p:sp>
      <p:sp>
        <p:nvSpPr>
          <p:cNvPr id="17" name="Text 15"/>
          <p:cNvSpPr/>
          <p:nvPr/>
        </p:nvSpPr>
        <p:spPr>
          <a:xfrm>
            <a:off x="11158835" y="6238280"/>
            <a:ext cx="220365"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270"/>
                </a:solidFill>
                <a:latin typeface="Arial" pitchFamily="34" charset="0"/>
                <a:ea typeface="Arial" pitchFamily="34" charset="-122"/>
                <a:cs typeface="Arial" pitchFamily="34" charset="-120"/>
              </a:rPr>
              <a:t>07</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08A3C"/>
                </a:solidFill>
                <a:latin typeface="Courier New" pitchFamily="49" charset="0"/>
                <a:ea typeface="Courier New" pitchFamily="49" charset="-122"/>
                <a:cs typeface="Courier New" pitchFamily="49" charset="-120"/>
              </a:rPr>
              <a:t>INFRASTRUCTURE VULNERABILITIES · ONE HOST</a:t>
            </a:r>
            <a:endParaRPr lang="en-US" sz="1200" dirty="0"/>
          </a:p>
        </p:txBody>
      </p:sp>
      <p:sp>
        <p:nvSpPr>
          <p:cNvPr id="3" name="Text 1"/>
          <p:cNvSpPr/>
          <p:nvPr>
            <p:ph type="title"/>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6F4EF"/>
                </a:solidFill>
                <a:latin typeface="Arial" pitchFamily="34" charset="0"/>
                <a:ea typeface="Arial" pitchFamily="34" charset="-122"/>
                <a:cs typeface="Arial" pitchFamily="34" charset="-120"/>
              </a:rPr>
              <a:t>The picture on ec2amaz-k3vu1tm</a:t>
            </a:r>
            <a:endParaRPr lang="en-US" sz="3200" dirty="0"/>
          </a:p>
        </p:txBody>
      </p:sp>
      <p:sp>
        <p:nvSpPr>
          <p:cNvPr id="4" name="Shape 2"/>
          <p:cNvSpPr/>
          <p:nvPr/>
        </p:nvSpPr>
        <p:spPr>
          <a:xfrm>
            <a:off x="812800" y="2740720"/>
            <a:ext cx="2489200" cy="0"/>
          </a:xfrm>
          <a:prstGeom prst="line">
            <a:avLst/>
          </a:prstGeom>
          <a:noFill/>
          <a:ln w="12700">
            <a:solidFill>
              <a:srgbClr val="3D4B6B"/>
            </a:solidFill>
            <a:prstDash val="solid"/>
          </a:ln>
        </p:spPr>
      </p:sp>
      <p:sp>
        <p:nvSpPr>
          <p:cNvPr id="5" name="Text 3"/>
          <p:cNvSpPr/>
          <p:nvPr/>
        </p:nvSpPr>
        <p:spPr>
          <a:xfrm>
            <a:off x="812800" y="2899470"/>
            <a:ext cx="2563876" cy="939800"/>
          </a:xfrm>
          <a:prstGeom prst="rect">
            <a:avLst/>
          </a:prstGeom>
          <a:noFill/>
          <a:ln/>
        </p:spPr>
        <p:txBody>
          <a:bodyPr wrap="square" lIns="0" tIns="0" rIns="0" bIns="0" rtlCol="0" anchor="t">
            <a:normAutofit/>
          </a:bodyPr>
          <a:lstStyle/>
          <a:p>
            <a:pPr algn="l" indent="0" marL="0">
              <a:lnSpc>
                <a:spcPts val="7200"/>
              </a:lnSpc>
              <a:buNone/>
            </a:pPr>
            <a:r>
              <a:rPr lang="en-US" sz="7200" b="1" dirty="0">
                <a:solidFill>
                  <a:srgbClr val="F6F4EF"/>
                </a:solidFill>
                <a:latin typeface="Arial" pitchFamily="34" charset="0"/>
                <a:ea typeface="Arial" pitchFamily="34" charset="-122"/>
                <a:cs typeface="Arial" pitchFamily="34" charset="-120"/>
              </a:rPr>
              <a:t>118</a:t>
            </a:r>
            <a:endParaRPr lang="en-US" sz="7200" dirty="0"/>
          </a:p>
        </p:txBody>
      </p:sp>
      <p:sp>
        <p:nvSpPr>
          <p:cNvPr id="6" name="Text 4"/>
          <p:cNvSpPr/>
          <p:nvPr/>
        </p:nvSpPr>
        <p:spPr>
          <a:xfrm>
            <a:off x="812800" y="3864670"/>
            <a:ext cx="2563876"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CFDB"/>
                </a:solidFill>
                <a:latin typeface="Arial" pitchFamily="34" charset="0"/>
                <a:ea typeface="Arial" pitchFamily="34" charset="-122"/>
                <a:cs typeface="Arial" pitchFamily="34" charset="-120"/>
              </a:rPr>
              <a:t>open findings</a:t>
            </a:r>
            <a:endParaRPr lang="en-US" sz="1400" dirty="0"/>
          </a:p>
        </p:txBody>
      </p:sp>
      <p:sp>
        <p:nvSpPr>
          <p:cNvPr id="7" name="Shape 5"/>
          <p:cNvSpPr/>
          <p:nvPr/>
        </p:nvSpPr>
        <p:spPr>
          <a:xfrm>
            <a:off x="3505200" y="2740720"/>
            <a:ext cx="2489200" cy="0"/>
          </a:xfrm>
          <a:prstGeom prst="line">
            <a:avLst/>
          </a:prstGeom>
          <a:noFill/>
          <a:ln w="12700">
            <a:solidFill>
              <a:srgbClr val="3D4B6B"/>
            </a:solidFill>
            <a:prstDash val="solid"/>
          </a:ln>
        </p:spPr>
      </p:sp>
      <p:sp>
        <p:nvSpPr>
          <p:cNvPr id="8" name="Text 6"/>
          <p:cNvSpPr/>
          <p:nvPr/>
        </p:nvSpPr>
        <p:spPr>
          <a:xfrm>
            <a:off x="3505200" y="2899470"/>
            <a:ext cx="2563876" cy="939800"/>
          </a:xfrm>
          <a:prstGeom prst="rect">
            <a:avLst/>
          </a:prstGeom>
          <a:noFill/>
          <a:ln/>
        </p:spPr>
        <p:txBody>
          <a:bodyPr wrap="square" lIns="0" tIns="0" rIns="0" bIns="0" rtlCol="0" anchor="t">
            <a:normAutofit/>
          </a:bodyPr>
          <a:lstStyle/>
          <a:p>
            <a:pPr algn="l" indent="0" marL="0">
              <a:lnSpc>
                <a:spcPts val="7200"/>
              </a:lnSpc>
              <a:buNone/>
            </a:pPr>
            <a:r>
              <a:rPr lang="en-US" sz="7200" b="1" dirty="0">
                <a:solidFill>
                  <a:srgbClr val="F6F4EF"/>
                </a:solidFill>
                <a:latin typeface="Arial" pitchFamily="34" charset="0"/>
                <a:ea typeface="Arial" pitchFamily="34" charset="-122"/>
                <a:cs typeface="Arial" pitchFamily="34" charset="-120"/>
              </a:rPr>
              <a:t>25</a:t>
            </a:r>
            <a:endParaRPr lang="en-US" sz="7200" dirty="0"/>
          </a:p>
        </p:txBody>
      </p:sp>
      <p:sp>
        <p:nvSpPr>
          <p:cNvPr id="9" name="Text 7"/>
          <p:cNvSpPr/>
          <p:nvPr/>
        </p:nvSpPr>
        <p:spPr>
          <a:xfrm>
            <a:off x="3505200" y="3864670"/>
            <a:ext cx="2563876"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CFDB"/>
                </a:solidFill>
                <a:latin typeface="Arial" pitchFamily="34" charset="0"/>
                <a:ea typeface="Arial" pitchFamily="34" charset="-122"/>
                <a:cs typeface="Arial" pitchFamily="34" charset="-120"/>
              </a:rPr>
              <a:t>software packages</a:t>
            </a:r>
            <a:endParaRPr lang="en-US" sz="1400" dirty="0"/>
          </a:p>
        </p:txBody>
      </p:sp>
      <p:sp>
        <p:nvSpPr>
          <p:cNvPr id="10" name="Shape 8"/>
          <p:cNvSpPr/>
          <p:nvPr/>
        </p:nvSpPr>
        <p:spPr>
          <a:xfrm>
            <a:off x="6197600" y="2740720"/>
            <a:ext cx="2489200" cy="0"/>
          </a:xfrm>
          <a:prstGeom prst="line">
            <a:avLst/>
          </a:prstGeom>
          <a:noFill/>
          <a:ln w="12700">
            <a:solidFill>
              <a:srgbClr val="3D4B6B"/>
            </a:solidFill>
            <a:prstDash val="solid"/>
          </a:ln>
        </p:spPr>
      </p:sp>
      <p:sp>
        <p:nvSpPr>
          <p:cNvPr id="11" name="Text 9"/>
          <p:cNvSpPr/>
          <p:nvPr/>
        </p:nvSpPr>
        <p:spPr>
          <a:xfrm>
            <a:off x="6197600" y="2899470"/>
            <a:ext cx="2563876" cy="939800"/>
          </a:xfrm>
          <a:prstGeom prst="rect">
            <a:avLst/>
          </a:prstGeom>
          <a:noFill/>
          <a:ln/>
        </p:spPr>
        <p:txBody>
          <a:bodyPr wrap="square" lIns="0" tIns="0" rIns="0" bIns="0" rtlCol="0" anchor="t">
            <a:normAutofit/>
          </a:bodyPr>
          <a:lstStyle/>
          <a:p>
            <a:pPr algn="l" indent="0" marL="0">
              <a:lnSpc>
                <a:spcPts val="7200"/>
              </a:lnSpc>
              <a:buNone/>
            </a:pPr>
            <a:r>
              <a:rPr lang="en-US" sz="7200" b="1" dirty="0">
                <a:solidFill>
                  <a:srgbClr val="F08A3C"/>
                </a:solidFill>
                <a:latin typeface="Arial" pitchFamily="34" charset="0"/>
                <a:ea typeface="Arial" pitchFamily="34" charset="-122"/>
                <a:cs typeface="Arial" pitchFamily="34" charset="-120"/>
              </a:rPr>
              <a:t>19</a:t>
            </a:r>
            <a:endParaRPr lang="en-US" sz="7200" dirty="0"/>
          </a:p>
        </p:txBody>
      </p:sp>
      <p:sp>
        <p:nvSpPr>
          <p:cNvPr id="12" name="Text 10"/>
          <p:cNvSpPr/>
          <p:nvPr/>
        </p:nvSpPr>
        <p:spPr>
          <a:xfrm>
            <a:off x="6197600" y="3864670"/>
            <a:ext cx="2563876"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CFDB"/>
                </a:solidFill>
                <a:latin typeface="Arial" pitchFamily="34" charset="0"/>
                <a:ea typeface="Arial" pitchFamily="34" charset="-122"/>
                <a:cs typeface="Arial" pitchFamily="34" charset="-120"/>
              </a:rPr>
              <a:t>rated High</a:t>
            </a:r>
            <a:endParaRPr lang="en-US" sz="1400" dirty="0"/>
          </a:p>
        </p:txBody>
      </p:sp>
      <p:sp>
        <p:nvSpPr>
          <p:cNvPr id="13" name="Shape 11"/>
          <p:cNvSpPr/>
          <p:nvPr/>
        </p:nvSpPr>
        <p:spPr>
          <a:xfrm>
            <a:off x="8890000" y="2740720"/>
            <a:ext cx="2489200" cy="0"/>
          </a:xfrm>
          <a:prstGeom prst="line">
            <a:avLst/>
          </a:prstGeom>
          <a:noFill/>
          <a:ln w="12700">
            <a:solidFill>
              <a:srgbClr val="3D4B6B"/>
            </a:solidFill>
            <a:prstDash val="solid"/>
          </a:ln>
        </p:spPr>
      </p:sp>
      <p:sp>
        <p:nvSpPr>
          <p:cNvPr id="14" name="Text 12"/>
          <p:cNvSpPr/>
          <p:nvPr/>
        </p:nvSpPr>
        <p:spPr>
          <a:xfrm>
            <a:off x="8890000" y="2899470"/>
            <a:ext cx="2563876" cy="939800"/>
          </a:xfrm>
          <a:prstGeom prst="rect">
            <a:avLst/>
          </a:prstGeom>
          <a:noFill/>
          <a:ln/>
        </p:spPr>
        <p:txBody>
          <a:bodyPr wrap="square" lIns="0" tIns="0" rIns="0" bIns="0" rtlCol="0" anchor="t">
            <a:normAutofit/>
          </a:bodyPr>
          <a:lstStyle/>
          <a:p>
            <a:pPr algn="l" indent="0" marL="0">
              <a:lnSpc>
                <a:spcPts val="7200"/>
              </a:lnSpc>
              <a:buNone/>
            </a:pPr>
            <a:r>
              <a:rPr lang="en-US" sz="7200" b="1" dirty="0">
                <a:solidFill>
                  <a:srgbClr val="F08A3C"/>
                </a:solidFill>
                <a:latin typeface="Arial" pitchFamily="34" charset="0"/>
                <a:ea typeface="Arial" pitchFamily="34" charset="-122"/>
                <a:cs typeface="Arial" pitchFamily="34" charset="-120"/>
              </a:rPr>
              <a:t>2</a:t>
            </a:r>
            <a:endParaRPr lang="en-US" sz="7200" dirty="0"/>
          </a:p>
        </p:txBody>
      </p:sp>
      <p:sp>
        <p:nvSpPr>
          <p:cNvPr id="15" name="Text 13"/>
          <p:cNvSpPr/>
          <p:nvPr/>
        </p:nvSpPr>
        <p:spPr>
          <a:xfrm>
            <a:off x="8890000" y="3864670"/>
            <a:ext cx="2563876"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CFDB"/>
                </a:solidFill>
                <a:latin typeface="Arial" pitchFamily="34" charset="0"/>
                <a:ea typeface="Arial" pitchFamily="34" charset="-122"/>
                <a:cs typeface="Arial" pitchFamily="34" charset="-120"/>
              </a:rPr>
              <a:t>out of SLA</a:t>
            </a:r>
            <a:endParaRPr lang="en-US" sz="1400" dirty="0"/>
          </a:p>
        </p:txBody>
      </p:sp>
      <p:sp>
        <p:nvSpPr>
          <p:cNvPr id="16" name="Text 14"/>
          <p:cNvSpPr/>
          <p:nvPr/>
        </p:nvSpPr>
        <p:spPr>
          <a:xfrm>
            <a:off x="812800" y="5273080"/>
            <a:ext cx="981075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8ECF3"/>
                </a:solidFill>
                <a:latin typeface="Arial" pitchFamily="34" charset="0"/>
                <a:ea typeface="Arial" pitchFamily="34" charset="-122"/>
                <a:cs typeface="Arial" pitchFamily="34" charset="-120"/>
              </a:rPr>
              <a:t>Out of SLA: </a:t>
            </a:r>
            <a:r>
              <a:rPr lang="en-US" sz="1600" b="1" dirty="0">
                <a:solidFill>
                  <a:srgbClr val="E8ECF3"/>
                </a:solidFill>
                <a:latin typeface="Arial" pitchFamily="34" charset="0"/>
                <a:ea typeface="Arial" pitchFamily="34" charset="-122"/>
                <a:cs typeface="Arial" pitchFamily="34" charset="-120"/>
              </a:rPr>
              <a:t>WinSCP 6.1.2</a:t>
            </a:r>
            <a:r>
              <a:rPr lang="en-US" sz="1600" dirty="0">
                <a:solidFill>
                  <a:srgbClr val="E8ECF3"/>
                </a:solidFill>
                <a:latin typeface="Arial" pitchFamily="34" charset="0"/>
                <a:ea typeface="Arial" pitchFamily="34" charset="-122"/>
                <a:cs typeface="Arial" pitchFamily="34" charset="-120"/>
              </a:rPr>
              <a:t> (CVE-2024-31497) and </a:t>
            </a:r>
            <a:r>
              <a:rPr lang="en-US" sz="1600" b="1" dirty="0">
                <a:solidFill>
                  <a:srgbClr val="E8ECF3"/>
                </a:solidFill>
                <a:latin typeface="Arial" pitchFamily="34" charset="0"/>
                <a:ea typeface="Arial" pitchFamily="34" charset="-122"/>
                <a:cs typeface="Arial" pitchFamily="34" charset="-120"/>
              </a:rPr>
              <a:t>.NET Core 3.1.31</a:t>
            </a:r>
            <a:r>
              <a:rPr lang="en-US" sz="1600" dirty="0">
                <a:solidFill>
                  <a:srgbClr val="E8ECF3"/>
                </a:solidFill>
                <a:latin typeface="Arial" pitchFamily="34" charset="0"/>
                <a:ea typeface="Arial" pitchFamily="34" charset="-122"/>
                <a:cs typeface="Arial" pitchFamily="34" charset="-120"/>
              </a:rPr>
              <a:t> (CVE-2022-41089). Biggest contributors: cryptography (21), urllib3 (17), Pillow (10).</a:t>
            </a:r>
            <a:endParaRPr lang="en-US" sz="1600" dirty="0"/>
          </a:p>
        </p:txBody>
      </p:sp>
      <p:sp>
        <p:nvSpPr>
          <p:cNvPr id="17" name="Text 15"/>
          <p:cNvSpPr/>
          <p:nvPr/>
        </p:nvSpPr>
        <p:spPr>
          <a:xfrm>
            <a:off x="812800" y="6238280"/>
            <a:ext cx="6079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4B8"/>
                </a:solidFill>
                <a:latin typeface="Arial" pitchFamily="34" charset="0"/>
                <a:ea typeface="Arial" pitchFamily="34" charset="-122"/>
                <a:cs typeface="Arial" pitchFamily="34" charset="-120"/>
              </a:rPr>
              <a:t>Source: Brinqa export, host i-0ca4b6a2f212eb0b3 · counts are finding rows</a:t>
            </a:r>
            <a:endParaRPr lang="en-US" sz="1200" dirty="0"/>
          </a:p>
        </p:txBody>
      </p:sp>
      <p:sp>
        <p:nvSpPr>
          <p:cNvPr id="18" name="Text 16"/>
          <p:cNvSpPr/>
          <p:nvPr/>
        </p:nvSpPr>
        <p:spPr>
          <a:xfrm>
            <a:off x="11158835" y="6238280"/>
            <a:ext cx="220365"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AA4B8"/>
                </a:solidFill>
                <a:latin typeface="Arial" pitchFamily="34" charset="0"/>
                <a:ea typeface="Arial" pitchFamily="34" charset="-122"/>
                <a:cs typeface="Arial" pitchFamily="34" charset="-120"/>
              </a:rPr>
              <a:t>08</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F6690"/>
                </a:solidFill>
                <a:latin typeface="Courier New" pitchFamily="49" charset="0"/>
                <a:ea typeface="Courier New" pitchFamily="49" charset="-122"/>
                <a:cs typeface="Courier New" pitchFamily="49" charset="-120"/>
              </a:rPr>
              <a:t>ROOT CAUSES</a:t>
            </a:r>
            <a:endParaRPr lang="en-US" sz="1200" dirty="0"/>
          </a:p>
        </p:txBody>
      </p:sp>
      <p:sp>
        <p:nvSpPr>
          <p:cNvPr id="3" name="Text 1"/>
          <p:cNvSpPr/>
          <p:nvPr>
            <p:ph type="title"/>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Arial" pitchFamily="34" charset="0"/>
                <a:ea typeface="Arial" pitchFamily="34" charset="-122"/>
                <a:cs typeface="Arial" pitchFamily="34" charset="-120"/>
              </a:rPr>
              <a:t>Three reasons the count is high</a:t>
            </a:r>
            <a:endParaRPr lang="en-US" sz="3200" dirty="0"/>
          </a:p>
        </p:txBody>
      </p:sp>
      <p:sp>
        <p:nvSpPr>
          <p:cNvPr id="4" name="Shape 2"/>
          <p:cNvSpPr/>
          <p:nvPr/>
        </p:nvSpPr>
        <p:spPr>
          <a:xfrm>
            <a:off x="812800" y="1879501"/>
            <a:ext cx="3386634" cy="3242866"/>
          </a:xfrm>
          <a:prstGeom prst="roundRect">
            <a:avLst>
              <a:gd name="adj" fmla="val 2350"/>
            </a:avLst>
          </a:prstGeom>
          <a:solidFill>
            <a:srgbClr val="FFFFFF"/>
          </a:solidFill>
          <a:ln/>
        </p:spPr>
      </p:sp>
      <p:sp>
        <p:nvSpPr>
          <p:cNvPr id="5" name="Shape 3"/>
          <p:cNvSpPr/>
          <p:nvPr/>
        </p:nvSpPr>
        <p:spPr>
          <a:xfrm>
            <a:off x="812800" y="1879501"/>
            <a:ext cx="3386634" cy="3242866"/>
          </a:xfrm>
          <a:custGeom>
            <a:avLst/>
            <a:gdLst/>
            <a:ahLst/>
            <a:cxnLst/>
            <a:rect l="l" t="t" r="r" b="b"/>
            <a:pathLst>
              <a:path w="3386634" h="3242866">
                <a:moveTo>
                  <a:pt x="0" y="76200"/>
                </a:moveTo>
                <a:lnTo>
                  <a:pt x="0" y="76200"/>
                </a:lnTo>
                <a:arcTo hR="76200" wR="76200" stAng="10800000" swAng="5400000"/>
                <a:lnTo>
                  <a:pt x="3310434" y="0"/>
                </a:lnTo>
                <a:arcTo hR="76200" wR="76200" stAng="16200000" swAng="5400000"/>
                <a:lnTo>
                  <a:pt x="3386634" y="76200"/>
                </a:lnTo>
                <a:arcTo hR="38100" wR="76200" stAng="0" swAng="-5400000"/>
                <a:lnTo>
                  <a:pt x="76200" y="38100"/>
                </a:lnTo>
                <a:arcTo hR="38100" wR="76200" stAng="16200000" swAng="-5400000"/>
                <a:close/>
              </a:path>
            </a:pathLst>
          </a:custGeom>
          <a:solidFill>
            <a:srgbClr val="2F6690"/>
          </a:solidFill>
          <a:ln/>
        </p:spPr>
      </p:sp>
      <p:sp>
        <p:nvSpPr>
          <p:cNvPr id="6" name="Text 4"/>
          <p:cNvSpPr/>
          <p:nvPr/>
        </p:nvSpPr>
        <p:spPr>
          <a:xfrm>
            <a:off x="1066800" y="2171601"/>
            <a:ext cx="2964993"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Arial" pitchFamily="34" charset="0"/>
                <a:ea typeface="Arial" pitchFamily="34" charset="-122"/>
                <a:cs typeface="Arial" pitchFamily="34" charset="-120"/>
              </a:rPr>
              <a:t>Virtual-env sprawl</a:t>
            </a:r>
            <a:endParaRPr lang="en-US" sz="1800" dirty="0"/>
          </a:p>
        </p:txBody>
      </p:sp>
      <p:sp>
        <p:nvSpPr>
          <p:cNvPr id="7" name="Text 5"/>
          <p:cNvSpPr/>
          <p:nvPr/>
        </p:nvSpPr>
        <p:spPr>
          <a:xfrm>
            <a:off x="1066800" y="2572841"/>
            <a:ext cx="2964993" cy="176728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04C"/>
                </a:solidFill>
                <a:latin typeface="Arial" pitchFamily="34" charset="0"/>
                <a:ea typeface="Arial" pitchFamily="34" charset="-122"/>
                <a:cs typeface="Arial" pitchFamily="34" charset="-120"/>
              </a:rPr>
              <a:t>The same old libraries copied into many venvs: Prefect (env, env_prod, _2, venv, newenv, myenv, venv_314_7), DMS Restart Tool PRD and QAS, ReconReportPythonJob, an archived RRP tool.</a:t>
            </a:r>
            <a:endParaRPr lang="en-US" sz="1400" dirty="0"/>
          </a:p>
        </p:txBody>
      </p:sp>
      <p:sp>
        <p:nvSpPr>
          <p:cNvPr id="8" name="Text 6"/>
          <p:cNvSpPr/>
          <p:nvPr/>
        </p:nvSpPr>
        <p:spPr>
          <a:xfrm>
            <a:off x="1066800" y="4441726"/>
            <a:ext cx="296499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6690"/>
                </a:solidFill>
                <a:latin typeface="Arial" pitchFamily="34" charset="0"/>
                <a:ea typeface="Arial" pitchFamily="34" charset="-122"/>
                <a:cs typeface="Arial" pitchFamily="34" charset="-120"/>
              </a:rPr>
              <a:t>urllib3 · cryptography · setuptools · starlette · pyasn1</a:t>
            </a:r>
            <a:endParaRPr lang="en-US" sz="1200" dirty="0"/>
          </a:p>
        </p:txBody>
      </p:sp>
      <p:sp>
        <p:nvSpPr>
          <p:cNvPr id="9" name="Shape 7"/>
          <p:cNvSpPr/>
          <p:nvPr/>
        </p:nvSpPr>
        <p:spPr>
          <a:xfrm>
            <a:off x="4402634" y="1879501"/>
            <a:ext cx="3386733" cy="3242866"/>
          </a:xfrm>
          <a:prstGeom prst="roundRect">
            <a:avLst>
              <a:gd name="adj" fmla="val 2350"/>
            </a:avLst>
          </a:prstGeom>
          <a:solidFill>
            <a:srgbClr val="FFFFFF"/>
          </a:solidFill>
          <a:ln/>
        </p:spPr>
      </p:sp>
      <p:sp>
        <p:nvSpPr>
          <p:cNvPr id="10" name="Shape 8"/>
          <p:cNvSpPr/>
          <p:nvPr/>
        </p:nvSpPr>
        <p:spPr>
          <a:xfrm>
            <a:off x="4402634" y="1879501"/>
            <a:ext cx="3386733" cy="3242866"/>
          </a:xfrm>
          <a:custGeom>
            <a:avLst/>
            <a:gdLst/>
            <a:ahLst/>
            <a:cxnLst/>
            <a:rect l="l" t="t" r="r" b="b"/>
            <a:pathLst>
              <a:path w="3386733" h="3242866">
                <a:moveTo>
                  <a:pt x="0" y="76200"/>
                </a:moveTo>
                <a:lnTo>
                  <a:pt x="0" y="76200"/>
                </a:lnTo>
                <a:arcTo hR="76200" wR="76200" stAng="10800000" swAng="5400000"/>
                <a:lnTo>
                  <a:pt x="3310533" y="0"/>
                </a:lnTo>
                <a:arcTo hR="76200" wR="76200" stAng="16200000" swAng="5400000"/>
                <a:lnTo>
                  <a:pt x="3386733" y="76200"/>
                </a:lnTo>
                <a:arcTo hR="38100" wR="76200" stAng="0" swAng="-5400000"/>
                <a:lnTo>
                  <a:pt x="76200" y="38100"/>
                </a:lnTo>
                <a:arcTo hR="38100" wR="76200" stAng="16200000" swAng="-5400000"/>
                <a:close/>
              </a:path>
            </a:pathLst>
          </a:custGeom>
          <a:solidFill>
            <a:srgbClr val="2F6690"/>
          </a:solidFill>
          <a:ln/>
        </p:spPr>
      </p:sp>
      <p:sp>
        <p:nvSpPr>
          <p:cNvPr id="11" name="Text 9"/>
          <p:cNvSpPr/>
          <p:nvPr/>
        </p:nvSpPr>
        <p:spPr>
          <a:xfrm>
            <a:off x="4656634" y="2171601"/>
            <a:ext cx="2965095"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Arial" pitchFamily="34" charset="0"/>
                <a:ea typeface="Arial" pitchFamily="34" charset="-122"/>
                <a:cs typeface="Arial" pitchFamily="34" charset="-120"/>
              </a:rPr>
              <a:t>Dev tools on PRD</a:t>
            </a:r>
            <a:endParaRPr lang="en-US" sz="1800" dirty="0"/>
          </a:p>
        </p:txBody>
      </p:sp>
      <p:sp>
        <p:nvSpPr>
          <p:cNvPr id="12" name="Text 10"/>
          <p:cNvSpPr/>
          <p:nvPr/>
        </p:nvSpPr>
        <p:spPr>
          <a:xfrm>
            <a:off x="4656634" y="2572841"/>
            <a:ext cx="2965095" cy="102076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04C"/>
                </a:solidFill>
                <a:latin typeface="Arial" pitchFamily="34" charset="0"/>
                <a:ea typeface="Arial" pitchFamily="34" charset="-122"/>
                <a:cs typeface="Arial" pitchFamily="34" charset="-120"/>
              </a:rPr>
              <a:t>VS Code, Visual Studio 2019, Azure Data Studio, SourceTree and per-user Python each bring their own bundled packages.</a:t>
            </a:r>
            <a:endParaRPr lang="en-US" sz="1400" dirty="0"/>
          </a:p>
        </p:txBody>
      </p:sp>
      <p:sp>
        <p:nvSpPr>
          <p:cNvPr id="13" name="Text 11"/>
          <p:cNvSpPr/>
          <p:nvPr/>
        </p:nvSpPr>
        <p:spPr>
          <a:xfrm>
            <a:off x="4656634" y="3695204"/>
            <a:ext cx="296509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6690"/>
                </a:solidFill>
                <a:latin typeface="Arial" pitchFamily="34" charset="0"/>
                <a:ea typeface="Arial" pitchFamily="34" charset="-122"/>
                <a:cs typeface="Arial" pitchFamily="34" charset="-120"/>
              </a:rPr>
              <a:t>lodash · minimatch · brace-expansion · qs · uuid · form-data</a:t>
            </a:r>
            <a:endParaRPr lang="en-US" sz="1200" dirty="0"/>
          </a:p>
        </p:txBody>
      </p:sp>
      <p:sp>
        <p:nvSpPr>
          <p:cNvPr id="14" name="Shape 12"/>
          <p:cNvSpPr/>
          <p:nvPr/>
        </p:nvSpPr>
        <p:spPr>
          <a:xfrm>
            <a:off x="7992566" y="1879501"/>
            <a:ext cx="3386634" cy="3242866"/>
          </a:xfrm>
          <a:prstGeom prst="roundRect">
            <a:avLst>
              <a:gd name="adj" fmla="val 2350"/>
            </a:avLst>
          </a:prstGeom>
          <a:solidFill>
            <a:srgbClr val="FFFFFF"/>
          </a:solidFill>
          <a:ln/>
        </p:spPr>
      </p:sp>
      <p:sp>
        <p:nvSpPr>
          <p:cNvPr id="15" name="Shape 13"/>
          <p:cNvSpPr/>
          <p:nvPr/>
        </p:nvSpPr>
        <p:spPr>
          <a:xfrm>
            <a:off x="7992566" y="1879501"/>
            <a:ext cx="3386634" cy="3242866"/>
          </a:xfrm>
          <a:custGeom>
            <a:avLst/>
            <a:gdLst/>
            <a:ahLst/>
            <a:cxnLst/>
            <a:rect l="l" t="t" r="r" b="b"/>
            <a:pathLst>
              <a:path w="3386634" h="3242866">
                <a:moveTo>
                  <a:pt x="0" y="76200"/>
                </a:moveTo>
                <a:lnTo>
                  <a:pt x="0" y="76200"/>
                </a:lnTo>
                <a:arcTo hR="76200" wR="76200" stAng="10800000" swAng="5400000"/>
                <a:lnTo>
                  <a:pt x="3310434" y="0"/>
                </a:lnTo>
                <a:arcTo hR="76200" wR="76200" stAng="16200000" swAng="5400000"/>
                <a:lnTo>
                  <a:pt x="3386634" y="76200"/>
                </a:lnTo>
                <a:arcTo hR="38100" wR="76200" stAng="0" swAng="-5400000"/>
                <a:lnTo>
                  <a:pt x="76200" y="38100"/>
                </a:lnTo>
                <a:arcTo hR="38100" wR="76200" stAng="16200000" swAng="-5400000"/>
                <a:close/>
              </a:path>
            </a:pathLst>
          </a:custGeom>
          <a:solidFill>
            <a:srgbClr val="2F6690"/>
          </a:solidFill>
          <a:ln/>
        </p:spPr>
      </p:sp>
      <p:sp>
        <p:nvSpPr>
          <p:cNvPr id="16" name="Text 14"/>
          <p:cNvSpPr/>
          <p:nvPr/>
        </p:nvSpPr>
        <p:spPr>
          <a:xfrm>
            <a:off x="8246566" y="2171601"/>
            <a:ext cx="2964993"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Arial" pitchFamily="34" charset="0"/>
                <a:ea typeface="Arial" pitchFamily="34" charset="-122"/>
                <a:cs typeface="Arial" pitchFamily="34" charset="-120"/>
              </a:rPr>
              <a:t>Old runtimes &amp; agents</a:t>
            </a:r>
            <a:endParaRPr lang="en-US" sz="1800" dirty="0"/>
          </a:p>
        </p:txBody>
      </p:sp>
      <p:sp>
        <p:nvSpPr>
          <p:cNvPr id="17" name="Text 15"/>
          <p:cNvSpPr/>
          <p:nvPr/>
        </p:nvSpPr>
        <p:spPr>
          <a:xfrm>
            <a:off x="8246566" y="2572841"/>
            <a:ext cx="2964993" cy="102076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04C"/>
                </a:solidFill>
                <a:latin typeface="Arial" pitchFamily="34" charset="0"/>
                <a:ea typeface="Arial" pitchFamily="34" charset="-122"/>
                <a:cs typeface="Arial" pitchFamily="34" charset="-120"/>
              </a:rPr>
              <a:t>.NET Core 3.1 is end of life. OpenSSL ships inside the Nessus and Azure Monitor agents and Python 3.14.7.</a:t>
            </a:r>
            <a:endParaRPr lang="en-US" sz="1400" dirty="0"/>
          </a:p>
        </p:txBody>
      </p:sp>
      <p:sp>
        <p:nvSpPr>
          <p:cNvPr id="18" name="Text 16"/>
          <p:cNvSpPr/>
          <p:nvPr/>
        </p:nvSpPr>
        <p:spPr>
          <a:xfrm>
            <a:off x="8246566" y="3695204"/>
            <a:ext cx="296499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6690"/>
                </a:solidFill>
                <a:latin typeface="Arial" pitchFamily="34" charset="0"/>
                <a:ea typeface="Arial" pitchFamily="34" charset="-122"/>
                <a:cs typeface="Arial" pitchFamily="34" charset="-120"/>
              </a:rPr>
              <a:t>.NET Core · WinSCP · Python · OpenSSL · Edge</a:t>
            </a:r>
            <a:endParaRPr lang="en-US" sz="1200" dirty="0"/>
          </a:p>
        </p:txBody>
      </p:sp>
      <p:sp>
        <p:nvSpPr>
          <p:cNvPr id="19" name="Text 17"/>
          <p:cNvSpPr/>
          <p:nvPr/>
        </p:nvSpPr>
        <p:spPr>
          <a:xfrm>
            <a:off x="812800" y="6238280"/>
            <a:ext cx="527137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270"/>
                </a:solidFill>
                <a:latin typeface="Arial" pitchFamily="34" charset="0"/>
                <a:ea typeface="Arial" pitchFamily="34" charset="-122"/>
                <a:cs typeface="Arial" pitchFamily="34" charset="-120"/>
              </a:rPr>
              <a:t>CSA &amp; infrastructure vulnerabilities · DEEP TTCLOUD AWS PRD</a:t>
            </a:r>
            <a:endParaRPr lang="en-US" sz="1200" dirty="0"/>
          </a:p>
        </p:txBody>
      </p:sp>
      <p:sp>
        <p:nvSpPr>
          <p:cNvPr id="20" name="Text 18"/>
          <p:cNvSpPr/>
          <p:nvPr/>
        </p:nvSpPr>
        <p:spPr>
          <a:xfrm>
            <a:off x="11158835" y="6238280"/>
            <a:ext cx="220365"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270"/>
                </a:solidFill>
                <a:latin typeface="Arial" pitchFamily="34" charset="0"/>
                <a:ea typeface="Arial" pitchFamily="34" charset="-122"/>
                <a:cs typeface="Arial" pitchFamily="34" charset="-120"/>
              </a:rPr>
              <a:t>09</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F6690"/>
                </a:solidFill>
                <a:latin typeface="Courier New" pitchFamily="49" charset="0"/>
                <a:ea typeface="Courier New" pitchFamily="49" charset="-122"/>
                <a:cs typeface="Courier New" pitchFamily="49" charset="-120"/>
              </a:rPr>
              <a:t>REMEDIATION PLAN</a:t>
            </a:r>
            <a:endParaRPr lang="en-US" sz="1200" dirty="0"/>
          </a:p>
        </p:txBody>
      </p:sp>
      <p:sp>
        <p:nvSpPr>
          <p:cNvPr id="3" name="Text 1"/>
          <p:cNvSpPr/>
          <p:nvPr>
            <p:ph type="title"/>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Arial" pitchFamily="34" charset="0"/>
                <a:ea typeface="Arial" pitchFamily="34" charset="-122"/>
                <a:cs typeface="Arial" pitchFamily="34" charset="-120"/>
              </a:rPr>
              <a:t>Short-term fixes, then the permanent ones</a:t>
            </a:r>
            <a:endParaRPr lang="en-US" sz="3200" dirty="0"/>
          </a:p>
        </p:txBody>
      </p:sp>
      <p:sp>
        <p:nvSpPr>
          <p:cNvPr id="4" name="Shape 2"/>
          <p:cNvSpPr/>
          <p:nvPr/>
        </p:nvSpPr>
        <p:spPr>
          <a:xfrm>
            <a:off x="812800" y="1879501"/>
            <a:ext cx="3386634" cy="2564904"/>
          </a:xfrm>
          <a:prstGeom prst="roundRect">
            <a:avLst>
              <a:gd name="adj" fmla="val 2971"/>
            </a:avLst>
          </a:prstGeom>
          <a:solidFill>
            <a:srgbClr val="FFFFFF"/>
          </a:solidFill>
          <a:ln/>
        </p:spPr>
      </p:sp>
      <p:sp>
        <p:nvSpPr>
          <p:cNvPr id="5" name="Shape 3"/>
          <p:cNvSpPr/>
          <p:nvPr/>
        </p:nvSpPr>
        <p:spPr>
          <a:xfrm>
            <a:off x="812800" y="1879501"/>
            <a:ext cx="3386634" cy="2564904"/>
          </a:xfrm>
          <a:custGeom>
            <a:avLst/>
            <a:gdLst/>
            <a:ahLst/>
            <a:cxnLst/>
            <a:rect l="l" t="t" r="r" b="b"/>
            <a:pathLst>
              <a:path w="3386634" h="2564904">
                <a:moveTo>
                  <a:pt x="0" y="76200"/>
                </a:moveTo>
                <a:lnTo>
                  <a:pt x="0" y="76200"/>
                </a:lnTo>
                <a:arcTo hR="76200" wR="76200" stAng="10800000" swAng="5400000"/>
                <a:lnTo>
                  <a:pt x="3310434" y="0"/>
                </a:lnTo>
                <a:arcTo hR="76200" wR="76200" stAng="16200000" swAng="5400000"/>
                <a:lnTo>
                  <a:pt x="3386634" y="76200"/>
                </a:lnTo>
                <a:arcTo hR="38100" wR="76200" stAng="0" swAng="-5400000"/>
                <a:lnTo>
                  <a:pt x="76200" y="38100"/>
                </a:lnTo>
                <a:arcTo hR="38100" wR="76200" stAng="16200000" swAng="-5400000"/>
                <a:close/>
              </a:path>
            </a:pathLst>
          </a:custGeom>
          <a:solidFill>
            <a:srgbClr val="B4531A"/>
          </a:solidFill>
          <a:ln/>
        </p:spPr>
      </p:sp>
      <p:sp>
        <p:nvSpPr>
          <p:cNvPr id="6" name="Text 4"/>
          <p:cNvSpPr/>
          <p:nvPr/>
        </p:nvSpPr>
        <p:spPr>
          <a:xfrm>
            <a:off x="1066800" y="2171601"/>
            <a:ext cx="2964993"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B4531A"/>
                </a:solidFill>
                <a:latin typeface="Arial" pitchFamily="34" charset="0"/>
                <a:ea typeface="Arial" pitchFamily="34" charset="-122"/>
                <a:cs typeface="Arial" pitchFamily="34" charset="-120"/>
              </a:rPr>
              <a:t>Now · within 7 days</a:t>
            </a:r>
            <a:endParaRPr lang="en-US" sz="1800" dirty="0"/>
          </a:p>
        </p:txBody>
      </p:sp>
      <p:sp>
        <p:nvSpPr>
          <p:cNvPr id="7" name="Text 5"/>
          <p:cNvSpPr/>
          <p:nvPr/>
        </p:nvSpPr>
        <p:spPr>
          <a:xfrm>
            <a:off x="1164844" y="2572841"/>
            <a:ext cx="2859329" cy="1642963"/>
          </a:xfrm>
          <a:prstGeom prst="rect">
            <a:avLst/>
          </a:prstGeom>
          <a:noFill/>
          <a:ln/>
        </p:spPr>
        <p:txBody>
          <a:bodyPr wrap="square" lIns="0" tIns="0" rIns="0" bIns="0" rtlCol="0" anchor="t">
            <a:normAutofit/>
          </a:bodyPr>
          <a:lstStyle/>
          <a:p>
            <a:pPr algn="l" marL="155956" indent="-155956">
              <a:lnSpc>
                <a:spcPts val="1820"/>
              </a:lnSpc>
              <a:buSzPct val="100000"/>
              <a:buChar char="•"/>
            </a:pPr>
            <a:r>
              <a:rPr lang="en-US" sz="1300" dirty="0">
                <a:solidFill>
                  <a:srgbClr val="3A404C"/>
                </a:solidFill>
                <a:latin typeface="Arial" pitchFamily="34" charset="0"/>
                <a:ea typeface="Arial" pitchFamily="34" charset="-122"/>
                <a:cs typeface="Arial" pitchFamily="34" charset="-120"/>
              </a:rPr>
              <a:t>Upgrade WinSCP to the current release (6.3.3+ fixes CVE-2024-31497)</a:t>
            </a:r>
            <a:endParaRPr lang="en-US" sz="1300" dirty="0"/>
          </a:p>
          <a:p>
            <a:pPr algn="l" marL="155956" indent="-155956">
              <a:lnSpc>
                <a:spcPts val="1820"/>
              </a:lnSpc>
              <a:buSzPct val="100000"/>
              <a:buChar char="•"/>
            </a:pPr>
            <a:r>
              <a:rPr lang="en-US" sz="1300" dirty="0">
                <a:solidFill>
                  <a:srgbClr val="3A404C"/>
                </a:solidFill>
                <a:latin typeface="Arial" pitchFamily="34" charset="0"/>
                <a:ea typeface="Arial" pitchFamily="34" charset="-122"/>
                <a:cs typeface="Arial" pitchFamily="34" charset="-120"/>
              </a:rPr>
              <a:t>Remove the .NET Core 3.1 runtime, or move the app to .NET 8</a:t>
            </a:r>
            <a:endParaRPr lang="en-US" sz="1300" dirty="0"/>
          </a:p>
          <a:p>
            <a:pPr algn="l" marL="155956" indent="-155956">
              <a:lnSpc>
                <a:spcPts val="1820"/>
              </a:lnSpc>
              <a:buSzPct val="100000"/>
              <a:buChar char="•"/>
            </a:pPr>
            <a:r>
              <a:rPr lang="en-US" sz="1300" dirty="0">
                <a:solidFill>
                  <a:srgbClr val="3A404C"/>
                </a:solidFill>
                <a:latin typeface="Arial" pitchFamily="34" charset="0"/>
                <a:ea typeface="Arial" pitchFamily="34" charset="-122"/>
                <a:cs typeface="Arial" pitchFamily="34" charset="-120"/>
              </a:rPr>
              <a:t>Delete archived and unused venvs and caches</a:t>
            </a:r>
            <a:endParaRPr lang="en-US" sz="1300" dirty="0"/>
          </a:p>
        </p:txBody>
      </p:sp>
      <p:sp>
        <p:nvSpPr>
          <p:cNvPr id="8" name="Shape 6"/>
          <p:cNvSpPr/>
          <p:nvPr/>
        </p:nvSpPr>
        <p:spPr>
          <a:xfrm>
            <a:off x="4402634" y="1879501"/>
            <a:ext cx="3386733" cy="2564904"/>
          </a:xfrm>
          <a:prstGeom prst="roundRect">
            <a:avLst>
              <a:gd name="adj" fmla="val 2971"/>
            </a:avLst>
          </a:prstGeom>
          <a:solidFill>
            <a:srgbClr val="FFFFFF"/>
          </a:solidFill>
          <a:ln/>
        </p:spPr>
      </p:sp>
      <p:sp>
        <p:nvSpPr>
          <p:cNvPr id="9" name="Shape 7"/>
          <p:cNvSpPr/>
          <p:nvPr/>
        </p:nvSpPr>
        <p:spPr>
          <a:xfrm>
            <a:off x="4402634" y="1879501"/>
            <a:ext cx="3386733" cy="2564904"/>
          </a:xfrm>
          <a:custGeom>
            <a:avLst/>
            <a:gdLst/>
            <a:ahLst/>
            <a:cxnLst/>
            <a:rect l="l" t="t" r="r" b="b"/>
            <a:pathLst>
              <a:path w="3386733" h="2564904">
                <a:moveTo>
                  <a:pt x="0" y="76200"/>
                </a:moveTo>
                <a:lnTo>
                  <a:pt x="0" y="76200"/>
                </a:lnTo>
                <a:arcTo hR="76200" wR="76200" stAng="10800000" swAng="5400000"/>
                <a:lnTo>
                  <a:pt x="3310533" y="0"/>
                </a:lnTo>
                <a:arcTo hR="76200" wR="76200" stAng="16200000" swAng="5400000"/>
                <a:lnTo>
                  <a:pt x="3386733" y="76200"/>
                </a:lnTo>
                <a:arcTo hR="38100" wR="76200" stAng="0" swAng="-5400000"/>
                <a:lnTo>
                  <a:pt x="76200" y="38100"/>
                </a:lnTo>
                <a:arcTo hR="38100" wR="76200" stAng="16200000" swAng="-5400000"/>
                <a:close/>
              </a:path>
            </a:pathLst>
          </a:custGeom>
          <a:solidFill>
            <a:srgbClr val="2F6690"/>
          </a:solidFill>
          <a:ln/>
        </p:spPr>
      </p:sp>
      <p:sp>
        <p:nvSpPr>
          <p:cNvPr id="10" name="Text 8"/>
          <p:cNvSpPr/>
          <p:nvPr/>
        </p:nvSpPr>
        <p:spPr>
          <a:xfrm>
            <a:off x="4656634" y="2171601"/>
            <a:ext cx="2965095"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F6690"/>
                </a:solidFill>
                <a:latin typeface="Arial" pitchFamily="34" charset="0"/>
                <a:ea typeface="Arial" pitchFamily="34" charset="-122"/>
                <a:cs typeface="Arial" pitchFamily="34" charset="-120"/>
              </a:rPr>
              <a:t>Next · within 30 days</a:t>
            </a:r>
            <a:endParaRPr lang="en-US" sz="1800" dirty="0"/>
          </a:p>
        </p:txBody>
      </p:sp>
      <p:sp>
        <p:nvSpPr>
          <p:cNvPr id="11" name="Text 9"/>
          <p:cNvSpPr/>
          <p:nvPr/>
        </p:nvSpPr>
        <p:spPr>
          <a:xfrm>
            <a:off x="4754678" y="2572841"/>
            <a:ext cx="2859431" cy="1411883"/>
          </a:xfrm>
          <a:prstGeom prst="rect">
            <a:avLst/>
          </a:prstGeom>
          <a:noFill/>
          <a:ln/>
        </p:spPr>
        <p:txBody>
          <a:bodyPr wrap="square" lIns="0" tIns="0" rIns="0" bIns="0" rtlCol="0" anchor="t">
            <a:normAutofit/>
          </a:bodyPr>
          <a:lstStyle/>
          <a:p>
            <a:pPr algn="l" marL="155956" indent="-155956">
              <a:lnSpc>
                <a:spcPts val="1820"/>
              </a:lnSpc>
              <a:buSzPct val="100000"/>
              <a:buChar char="•"/>
            </a:pPr>
            <a:r>
              <a:rPr lang="en-US" sz="1300" dirty="0">
                <a:solidFill>
                  <a:srgbClr val="3A404C"/>
                </a:solidFill>
                <a:latin typeface="Arial" pitchFamily="34" charset="0"/>
                <a:ea typeface="Arial" pitchFamily="34" charset="-122"/>
                <a:cs typeface="Arial" pitchFamily="34" charset="-120"/>
              </a:rPr>
              <a:t>Rebuild each live venv from a pinned, current requirements.txt</a:t>
            </a:r>
            <a:endParaRPr lang="en-US" sz="1300" dirty="0"/>
          </a:p>
          <a:p>
            <a:pPr algn="l" marL="155956" indent="-155956">
              <a:lnSpc>
                <a:spcPts val="1820"/>
              </a:lnSpc>
              <a:buSzPct val="100000"/>
              <a:buChar char="•"/>
            </a:pPr>
            <a:r>
              <a:rPr lang="en-US" sz="1300" dirty="0">
                <a:solidFill>
                  <a:srgbClr val="3A404C"/>
                </a:solidFill>
                <a:latin typeface="Arial" pitchFamily="34" charset="0"/>
                <a:ea typeface="Arial" pitchFamily="34" charset="-122"/>
                <a:cs typeface="Arial" pitchFamily="34" charset="-120"/>
              </a:rPr>
              <a:t>Patch Python, Edge and the Nessus / Azure Monitor agents</a:t>
            </a:r>
            <a:endParaRPr lang="en-US" sz="1300" dirty="0"/>
          </a:p>
          <a:p>
            <a:pPr algn="l" marL="155956" indent="-155956">
              <a:lnSpc>
                <a:spcPts val="1820"/>
              </a:lnSpc>
              <a:buSzPct val="100000"/>
              <a:buChar char="•"/>
            </a:pPr>
            <a:r>
              <a:rPr lang="en-US" sz="1300" dirty="0">
                <a:solidFill>
                  <a:srgbClr val="3A404C"/>
                </a:solidFill>
                <a:latin typeface="Arial" pitchFamily="34" charset="0"/>
                <a:ea typeface="Arial" pitchFamily="34" charset="-122"/>
                <a:cs typeface="Arial" pitchFamily="34" charset="-120"/>
              </a:rPr>
              <a:t>Move dev tools off PRD to a jump or dev box</a:t>
            </a:r>
            <a:endParaRPr lang="en-US" sz="1300" dirty="0"/>
          </a:p>
        </p:txBody>
      </p:sp>
      <p:sp>
        <p:nvSpPr>
          <p:cNvPr id="12" name="Shape 10"/>
          <p:cNvSpPr/>
          <p:nvPr/>
        </p:nvSpPr>
        <p:spPr>
          <a:xfrm>
            <a:off x="7992566" y="1879501"/>
            <a:ext cx="3386634" cy="2564904"/>
          </a:xfrm>
          <a:prstGeom prst="roundRect">
            <a:avLst>
              <a:gd name="adj" fmla="val 2971"/>
            </a:avLst>
          </a:prstGeom>
          <a:solidFill>
            <a:srgbClr val="FFFFFF"/>
          </a:solidFill>
          <a:ln/>
        </p:spPr>
      </p:sp>
      <p:sp>
        <p:nvSpPr>
          <p:cNvPr id="13" name="Shape 11"/>
          <p:cNvSpPr/>
          <p:nvPr/>
        </p:nvSpPr>
        <p:spPr>
          <a:xfrm>
            <a:off x="7992566" y="1879501"/>
            <a:ext cx="3386634" cy="2564904"/>
          </a:xfrm>
          <a:custGeom>
            <a:avLst/>
            <a:gdLst/>
            <a:ahLst/>
            <a:cxnLst/>
            <a:rect l="l" t="t" r="r" b="b"/>
            <a:pathLst>
              <a:path w="3386634" h="2564904">
                <a:moveTo>
                  <a:pt x="0" y="76200"/>
                </a:moveTo>
                <a:lnTo>
                  <a:pt x="0" y="76200"/>
                </a:lnTo>
                <a:arcTo hR="76200" wR="76200" stAng="10800000" swAng="5400000"/>
                <a:lnTo>
                  <a:pt x="3310434" y="0"/>
                </a:lnTo>
                <a:arcTo hR="76200" wR="76200" stAng="16200000" swAng="5400000"/>
                <a:lnTo>
                  <a:pt x="3386634" y="76200"/>
                </a:lnTo>
                <a:arcTo hR="38100" wR="76200" stAng="0" swAng="-5400000"/>
                <a:lnTo>
                  <a:pt x="76200" y="38100"/>
                </a:lnTo>
                <a:arcTo hR="38100" wR="76200" stAng="16200000" swAng="-5400000"/>
                <a:close/>
              </a:path>
            </a:pathLst>
          </a:custGeom>
          <a:solidFill>
            <a:srgbClr val="14213D"/>
          </a:solidFill>
          <a:ln/>
        </p:spPr>
      </p:sp>
      <p:sp>
        <p:nvSpPr>
          <p:cNvPr id="14" name="Text 12"/>
          <p:cNvSpPr/>
          <p:nvPr/>
        </p:nvSpPr>
        <p:spPr>
          <a:xfrm>
            <a:off x="8246566" y="2171601"/>
            <a:ext cx="2964993"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Arial" pitchFamily="34" charset="0"/>
                <a:ea typeface="Arial" pitchFamily="34" charset="-122"/>
                <a:cs typeface="Arial" pitchFamily="34" charset="-120"/>
              </a:rPr>
              <a:t>Ongoing</a:t>
            </a:r>
            <a:endParaRPr lang="en-US" sz="1800" dirty="0"/>
          </a:p>
        </p:txBody>
      </p:sp>
      <p:sp>
        <p:nvSpPr>
          <p:cNvPr id="15" name="Text 13"/>
          <p:cNvSpPr/>
          <p:nvPr/>
        </p:nvSpPr>
        <p:spPr>
          <a:xfrm>
            <a:off x="8344610" y="2572841"/>
            <a:ext cx="2859329" cy="1411883"/>
          </a:xfrm>
          <a:prstGeom prst="rect">
            <a:avLst/>
          </a:prstGeom>
          <a:noFill/>
          <a:ln/>
        </p:spPr>
        <p:txBody>
          <a:bodyPr wrap="square" lIns="0" tIns="0" rIns="0" bIns="0" rtlCol="0" anchor="t">
            <a:normAutofit/>
          </a:bodyPr>
          <a:lstStyle/>
          <a:p>
            <a:pPr algn="l" marL="155956" indent="-155956">
              <a:lnSpc>
                <a:spcPts val="1820"/>
              </a:lnSpc>
              <a:buSzPct val="100000"/>
              <a:buChar char="•"/>
            </a:pPr>
            <a:r>
              <a:rPr lang="en-US" sz="1300" dirty="0">
                <a:solidFill>
                  <a:srgbClr val="3A404C"/>
                </a:solidFill>
                <a:latin typeface="Arial" pitchFamily="34" charset="0"/>
                <a:ea typeface="Arial" pitchFamily="34" charset="-122"/>
                <a:cs typeface="Arial" pitchFamily="34" charset="-120"/>
              </a:rPr>
              <a:t>pip-audit and npm audit in every build</a:t>
            </a:r>
            <a:endParaRPr lang="en-US" sz="1300" dirty="0"/>
          </a:p>
          <a:p>
            <a:pPr algn="l" marL="155956" indent="-155956">
              <a:lnSpc>
                <a:spcPts val="1820"/>
              </a:lnSpc>
              <a:buSzPct val="100000"/>
              <a:buChar char="•"/>
            </a:pPr>
            <a:r>
              <a:rPr lang="en-US" sz="1300" dirty="0">
                <a:solidFill>
                  <a:srgbClr val="3A404C"/>
                </a:solidFill>
                <a:latin typeface="Arial" pitchFamily="34" charset="0"/>
                <a:ea typeface="Arial" pitchFamily="34" charset="-122"/>
                <a:cs typeface="Arial" pitchFamily="34" charset="-120"/>
              </a:rPr>
              <a:t>Monthly patch window for runtimes and agents</a:t>
            </a:r>
            <a:endParaRPr lang="en-US" sz="1300" dirty="0"/>
          </a:p>
          <a:p>
            <a:pPr algn="l" marL="155956" indent="-155956">
              <a:lnSpc>
                <a:spcPts val="1820"/>
              </a:lnSpc>
              <a:buSzPct val="100000"/>
              <a:buChar char="•"/>
            </a:pPr>
            <a:r>
              <a:rPr lang="en-US" sz="1300" dirty="0">
                <a:solidFill>
                  <a:srgbClr val="3A404C"/>
                </a:solidFill>
                <a:latin typeface="Arial" pitchFamily="34" charset="0"/>
                <a:ea typeface="Arial" pitchFamily="34" charset="-122"/>
                <a:cs typeface="Arial" pitchFamily="34" charset="-120"/>
              </a:rPr>
              <a:t>One documented venv per app, with an owner</a:t>
            </a:r>
            <a:endParaRPr lang="en-US" sz="1300" dirty="0"/>
          </a:p>
        </p:txBody>
      </p:sp>
      <p:sp>
        <p:nvSpPr>
          <p:cNvPr id="16" name="Text 14"/>
          <p:cNvSpPr/>
          <p:nvPr/>
        </p:nvSpPr>
        <p:spPr>
          <a:xfrm>
            <a:off x="812800" y="6238280"/>
            <a:ext cx="527137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270"/>
                </a:solidFill>
                <a:latin typeface="Arial" pitchFamily="34" charset="0"/>
                <a:ea typeface="Arial" pitchFamily="34" charset="-122"/>
                <a:cs typeface="Arial" pitchFamily="34" charset="-120"/>
              </a:rPr>
              <a:t>CSA &amp; infrastructure vulnerabilities · DEEP TTCLOUD AWS PRD</a:t>
            </a:r>
            <a:endParaRPr lang="en-US" sz="1200" dirty="0"/>
          </a:p>
        </p:txBody>
      </p:sp>
      <p:sp>
        <p:nvSpPr>
          <p:cNvPr id="17" name="Text 15"/>
          <p:cNvSpPr/>
          <p:nvPr/>
        </p:nvSpPr>
        <p:spPr>
          <a:xfrm>
            <a:off x="11158835" y="6238280"/>
            <a:ext cx="220365"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270"/>
                </a:solidFill>
                <a:latin typeface="Arial" pitchFamily="34" charset="0"/>
                <a:ea typeface="Arial" pitchFamily="34" charset="-122"/>
                <a:cs typeface="Arial" pitchFamily="34" charset="-120"/>
              </a:rPr>
              <a:t>10</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F6690"/>
                </a:solidFill>
                <a:latin typeface="Courier New" pitchFamily="49" charset="0"/>
                <a:ea typeface="Courier New" pitchFamily="49" charset="-122"/>
                <a:cs typeface="Courier New" pitchFamily="49" charset="-120"/>
              </a:rPr>
              <a:t>INFRA FIX · PYTHON ENVIRONMENTS</a:t>
            </a:r>
            <a:endParaRPr lang="en-US" sz="1200" dirty="0"/>
          </a:p>
        </p:txBody>
      </p:sp>
      <p:sp>
        <p:nvSpPr>
          <p:cNvPr id="3" name="Text 1"/>
          <p:cNvSpPr/>
          <p:nvPr>
            <p:ph type="title"/>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Arial" pitchFamily="34" charset="0"/>
                <a:ea typeface="Arial" pitchFamily="34" charset="-122"/>
                <a:cs typeface="Arial" pitchFamily="34" charset="-120"/>
              </a:rPr>
              <a:t>Find, audit and rebuild each environment</a:t>
            </a:r>
            <a:endParaRPr lang="en-US" sz="3200" dirty="0"/>
          </a:p>
        </p:txBody>
      </p:sp>
      <p:sp>
        <p:nvSpPr>
          <p:cNvPr id="4" name="Text 2"/>
          <p:cNvSpPr/>
          <p:nvPr/>
        </p:nvSpPr>
        <p:spPr>
          <a:xfrm>
            <a:off x="812800" y="1828701"/>
            <a:ext cx="10566400" cy="3251200"/>
          </a:xfrm>
          <a:prstGeom prst="roundRect">
            <a:avLst>
              <a:gd name="adj" fmla="val 2344"/>
            </a:avLst>
          </a:prstGeom>
          <a:solidFill>
            <a:srgbClr val="14213D"/>
          </a:solidFill>
          <a:ln/>
        </p:spPr>
        <p:txBody>
          <a:bodyPr wrap="square" lIns="231682" tIns="231682" rIns="0" bIns="206282" rtlCol="0" anchor="t">
            <a:normAutofit/>
          </a:bodyPr>
          <a:lstStyle/>
          <a:p>
            <a:pPr algn="l" indent="0" marL="0">
              <a:lnSpc>
                <a:spcPts val="1800"/>
              </a:lnSpc>
              <a:buNone/>
            </a:pPr>
            <a:r>
              <a:rPr lang="en-US" sz="1200" dirty="0">
                <a:solidFill>
                  <a:srgbClr val="8FB3D1"/>
                </a:solidFill>
                <a:latin typeface="Courier New" pitchFamily="49" charset="0"/>
                <a:ea typeface="Courier New" pitchFamily="49" charset="-122"/>
                <a:cs typeface="Courier New" pitchFamily="49" charset="-120"/>
              </a:rPr>
              <a:t># 1. List every virtual environment on the data drives</a:t>
            </a:r>
            <a:endParaRPr lang="en-US" sz="1200" dirty="0"/>
          </a:p>
          <a:p>
            <a:pPr algn="l" indent="0" marL="0">
              <a:lnSpc>
                <a:spcPts val="1800"/>
              </a:lnSpc>
              <a:buNone/>
            </a:pPr>
            <a:r>
              <a:rPr lang="en-US" sz="1200" dirty="0">
                <a:solidFill>
                  <a:srgbClr val="E8ECF3"/>
                </a:solidFill>
                <a:latin typeface="Courier New" pitchFamily="49" charset="0"/>
                <a:ea typeface="Courier New" pitchFamily="49" charset="-122"/>
                <a:cs typeface="Courier New" pitchFamily="49" charset="-120"/>
              </a:rPr>
              <a:t>Get-ChildItem C:\Users, D:\, E:\ -Recurse -Filter pyvenv.cfg -ErrorAction SilentlyContinue | Select DirectoryName</a:t>
            </a:r>
            <a:endParaRPr lang="en-US" sz="1200" dirty="0"/>
          </a:p>
          <a:p>
            <a:pPr algn="l" indent="0" marL="0">
              <a:lnSpc>
                <a:spcPts val="1800"/>
              </a:lnSpc>
              <a:buNone/>
            </a:pPr>
            <a:endParaRPr lang="en-US" sz="1200" dirty="0"/>
          </a:p>
          <a:p>
            <a:pPr algn="l" indent="0" marL="0">
              <a:lnSpc>
                <a:spcPts val="1800"/>
              </a:lnSpc>
              <a:buNone/>
            </a:pPr>
            <a:r>
              <a:rPr lang="en-US" sz="1200" dirty="0">
                <a:solidFill>
                  <a:srgbClr val="8FB3D1"/>
                </a:solidFill>
                <a:latin typeface="Courier New" pitchFamily="49" charset="0"/>
                <a:ea typeface="Courier New" pitchFamily="49" charset="-122"/>
                <a:cs typeface="Courier New" pitchFamily="49" charset="-120"/>
              </a:rPr>
              <a:t># 2. Unused or archived? Delete it (example)</a:t>
            </a:r>
            <a:endParaRPr lang="en-US" sz="1200" dirty="0"/>
          </a:p>
          <a:p>
            <a:pPr algn="l" indent="0" marL="0">
              <a:lnSpc>
                <a:spcPts val="1800"/>
              </a:lnSpc>
              <a:buNone/>
            </a:pPr>
            <a:r>
              <a:rPr lang="en-US" sz="1200" dirty="0">
                <a:solidFill>
                  <a:srgbClr val="E8ECF3"/>
                </a:solidFill>
                <a:latin typeface="Courier New" pitchFamily="49" charset="0"/>
                <a:ea typeface="Courier New" pitchFamily="49" charset="-122"/>
                <a:cs typeface="Courier New" pitchFamily="49" charset="-120"/>
              </a:rPr>
              <a:t>Remove-Item "D:\iTrack\RRP Exceptions\Archived" -Recurse</a:t>
            </a:r>
            <a:endParaRPr lang="en-US" sz="1200" dirty="0"/>
          </a:p>
          <a:p>
            <a:pPr algn="l" indent="0" marL="0">
              <a:lnSpc>
                <a:spcPts val="1800"/>
              </a:lnSpc>
              <a:buNone/>
            </a:pPr>
            <a:endParaRPr lang="en-US" sz="1200" dirty="0"/>
          </a:p>
          <a:p>
            <a:pPr algn="l" indent="0" marL="0">
              <a:lnSpc>
                <a:spcPts val="1800"/>
              </a:lnSpc>
              <a:buNone/>
            </a:pPr>
            <a:r>
              <a:rPr lang="en-US" sz="1200" dirty="0">
                <a:solidFill>
                  <a:srgbClr val="8FB3D1"/>
                </a:solidFill>
                <a:latin typeface="Courier New" pitchFamily="49" charset="0"/>
                <a:ea typeface="Courier New" pitchFamily="49" charset="-122"/>
                <a:cs typeface="Courier New" pitchFamily="49" charset="-120"/>
              </a:rPr>
              <a:t># 3. Live? Audit, upgrade, then pin</a:t>
            </a:r>
            <a:endParaRPr lang="en-US" sz="1200" dirty="0"/>
          </a:p>
          <a:p>
            <a:pPr algn="l" indent="0" marL="0">
              <a:lnSpc>
                <a:spcPts val="1800"/>
              </a:lnSpc>
              <a:buNone/>
            </a:pPr>
            <a:r>
              <a:rPr lang="en-US" sz="1200" dirty="0">
                <a:solidFill>
                  <a:srgbClr val="E8ECF3"/>
                </a:solidFill>
                <a:latin typeface="Courier New" pitchFamily="49" charset="0"/>
                <a:ea typeface="Courier New" pitchFamily="49" charset="-122"/>
                <a:cs typeface="Courier New" pitchFamily="49" charset="-120"/>
              </a:rPr>
              <a:t>.\venv\Scripts\python -m pip install --upgrade pip pip-audit</a:t>
            </a:r>
            <a:endParaRPr lang="en-US" sz="1200" dirty="0"/>
          </a:p>
          <a:p>
            <a:pPr algn="l" indent="0" marL="0">
              <a:lnSpc>
                <a:spcPts val="1800"/>
              </a:lnSpc>
              <a:buNone/>
            </a:pPr>
            <a:r>
              <a:rPr lang="en-US" sz="1200" dirty="0">
                <a:solidFill>
                  <a:srgbClr val="E8ECF3"/>
                </a:solidFill>
                <a:latin typeface="Courier New" pitchFamily="49" charset="0"/>
                <a:ea typeface="Courier New" pitchFamily="49" charset="-122"/>
                <a:cs typeface="Courier New" pitchFamily="49" charset="-120"/>
              </a:rPr>
              <a:t>.\venv\Scripts\python -m pip_audit</a:t>
            </a:r>
            <a:endParaRPr lang="en-US" sz="1200" dirty="0"/>
          </a:p>
          <a:p>
            <a:pPr algn="l" indent="0" marL="0">
              <a:lnSpc>
                <a:spcPts val="1800"/>
              </a:lnSpc>
              <a:buNone/>
            </a:pPr>
            <a:r>
              <a:rPr lang="en-US" sz="1200" dirty="0">
                <a:solidFill>
                  <a:srgbClr val="E8ECF3"/>
                </a:solidFill>
                <a:latin typeface="Courier New" pitchFamily="49" charset="0"/>
                <a:ea typeface="Courier New" pitchFamily="49" charset="-122"/>
                <a:cs typeface="Courier New" pitchFamily="49" charset="-120"/>
              </a:rPr>
              <a:t>.\venv\Scripts\python -m pip install --upgrade urllib3 cryptography setuptools requests idna certifi</a:t>
            </a:r>
            <a:endParaRPr lang="en-US" sz="1200" dirty="0"/>
          </a:p>
          <a:p>
            <a:pPr algn="l" indent="0" marL="0">
              <a:lnSpc>
                <a:spcPts val="1800"/>
              </a:lnSpc>
              <a:buNone/>
            </a:pPr>
            <a:r>
              <a:rPr lang="en-US" sz="1200" dirty="0">
                <a:solidFill>
                  <a:srgbClr val="E8ECF3"/>
                </a:solidFill>
                <a:latin typeface="Courier New" pitchFamily="49" charset="0"/>
                <a:ea typeface="Courier New" pitchFamily="49" charset="-122"/>
                <a:cs typeface="Courier New" pitchFamily="49" charset="-120"/>
              </a:rPr>
              <a:t>.\venv\Scripts\python -m pip freeze &gt; requirements.txt</a:t>
            </a:r>
            <a:endParaRPr lang="en-US" sz="1200" dirty="0"/>
          </a:p>
        </p:txBody>
      </p:sp>
      <p:sp>
        <p:nvSpPr>
          <p:cNvPr id="5" name="Text 3"/>
          <p:cNvSpPr/>
          <p:nvPr/>
        </p:nvSpPr>
        <p:spPr>
          <a:xfrm>
            <a:off x="812800" y="5333901"/>
            <a:ext cx="113792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04C"/>
                </a:solidFill>
                <a:latin typeface="Arial" pitchFamily="34" charset="0"/>
                <a:ea typeface="Arial" pitchFamily="34" charset="-122"/>
                <a:cs typeface="Arial" pitchFamily="34" charset="-120"/>
              </a:rPr>
              <a:t>For Prefect environments, upgrade </a:t>
            </a:r>
            <a:r>
              <a:rPr lang="en-US" sz="1400" b="1" dirty="0">
                <a:solidFill>
                  <a:srgbClr val="3A404C"/>
                </a:solidFill>
                <a:latin typeface="Arial" pitchFamily="34" charset="0"/>
                <a:ea typeface="Arial" pitchFamily="34" charset="-122"/>
                <a:cs typeface="Arial" pitchFamily="34" charset="-120"/>
              </a:rPr>
              <a:t>Prefect</a:t>
            </a:r>
            <a:r>
              <a:rPr lang="en-US" sz="1400" dirty="0">
                <a:solidFill>
                  <a:srgbClr val="3A404C"/>
                </a:solidFill>
                <a:latin typeface="Arial" pitchFamily="34" charset="0"/>
                <a:ea typeface="Arial" pitchFamily="34" charset="-122"/>
                <a:cs typeface="Arial" pitchFamily="34" charset="-120"/>
              </a:rPr>
              <a:t> itself so starlette and its other dependencies move together. Test in QAS first.</a:t>
            </a:r>
            <a:endParaRPr lang="en-US" sz="1400" dirty="0"/>
          </a:p>
        </p:txBody>
      </p:sp>
      <p:sp>
        <p:nvSpPr>
          <p:cNvPr id="6" name="Text 4"/>
          <p:cNvSpPr/>
          <p:nvPr/>
        </p:nvSpPr>
        <p:spPr>
          <a:xfrm>
            <a:off x="812800" y="6238280"/>
            <a:ext cx="527137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270"/>
                </a:solidFill>
                <a:latin typeface="Arial" pitchFamily="34" charset="0"/>
                <a:ea typeface="Arial" pitchFamily="34" charset="-122"/>
                <a:cs typeface="Arial" pitchFamily="34" charset="-120"/>
              </a:rPr>
              <a:t>CSA &amp; infrastructure vulnerabilities · DEEP TTCLOUD AWS PRD</a:t>
            </a:r>
            <a:endParaRPr lang="en-US" sz="1200" dirty="0"/>
          </a:p>
        </p:txBody>
      </p:sp>
      <p:sp>
        <p:nvSpPr>
          <p:cNvPr id="7" name="Text 5"/>
          <p:cNvSpPr/>
          <p:nvPr/>
        </p:nvSpPr>
        <p:spPr>
          <a:xfrm>
            <a:off x="11170146" y="6238280"/>
            <a:ext cx="209054"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270"/>
                </a:solidFill>
                <a:latin typeface="Arial" pitchFamily="34" charset="0"/>
                <a:ea typeface="Arial" pitchFamily="34" charset="-122"/>
                <a:cs typeface="Arial" pitchFamily="34" charset="-120"/>
              </a:rPr>
              <a:t>11</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4213D"/>
                </a:solidFill>
                <a:latin typeface="Courier New" pitchFamily="49" charset="0"/>
                <a:ea typeface="Courier New" pitchFamily="49" charset="-122"/>
                <a:cs typeface="Courier New" pitchFamily="49" charset="-120"/>
              </a:rPr>
              <a:t>VERIFICATION</a:t>
            </a:r>
            <a:endParaRPr lang="en-US" sz="1200" dirty="0"/>
          </a:p>
        </p:txBody>
      </p:sp>
      <p:sp>
        <p:nvSpPr>
          <p:cNvPr id="3" name="Text 1"/>
          <p:cNvSpPr/>
          <p:nvPr>
            <p:ph type="title"/>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Arial" pitchFamily="34" charset="0"/>
                <a:ea typeface="Arial" pitchFamily="34" charset="-122"/>
                <a:cs typeface="Arial" pitchFamily="34" charset="-120"/>
              </a:rPr>
              <a:t>How to prove each fix worked</a:t>
            </a:r>
            <a:endParaRPr lang="en-US" sz="3200" dirty="0"/>
          </a:p>
        </p:txBody>
      </p:sp>
      <p:sp>
        <p:nvSpPr>
          <p:cNvPr id="4" name="Shape 2"/>
          <p:cNvSpPr/>
          <p:nvPr/>
        </p:nvSpPr>
        <p:spPr>
          <a:xfrm>
            <a:off x="812800" y="1879501"/>
            <a:ext cx="5181600" cy="2795984"/>
          </a:xfrm>
          <a:prstGeom prst="roundRect">
            <a:avLst>
              <a:gd name="adj" fmla="val 2725"/>
            </a:avLst>
          </a:prstGeom>
          <a:solidFill>
            <a:srgbClr val="FFFFFF"/>
          </a:solidFill>
          <a:ln/>
        </p:spPr>
      </p:sp>
      <p:sp>
        <p:nvSpPr>
          <p:cNvPr id="5" name="Shape 3"/>
          <p:cNvSpPr/>
          <p:nvPr/>
        </p:nvSpPr>
        <p:spPr>
          <a:xfrm>
            <a:off x="812800" y="1879501"/>
            <a:ext cx="5181600" cy="2795984"/>
          </a:xfrm>
          <a:custGeom>
            <a:avLst/>
            <a:gdLst/>
            <a:ahLst/>
            <a:cxnLst/>
            <a:rect l="l" t="t" r="r" b="b"/>
            <a:pathLst>
              <a:path w="5181600" h="2795984">
                <a:moveTo>
                  <a:pt x="0" y="76200"/>
                </a:moveTo>
                <a:lnTo>
                  <a:pt x="0" y="76200"/>
                </a:lnTo>
                <a:arcTo hR="76200" wR="76200" stAng="10800000" swAng="5400000"/>
                <a:lnTo>
                  <a:pt x="5105400" y="0"/>
                </a:lnTo>
                <a:arcTo hR="76200" wR="76200" stAng="16200000" swAng="5400000"/>
                <a:lnTo>
                  <a:pt x="5181600" y="76200"/>
                </a:lnTo>
                <a:arcTo hR="38100" wR="76200" stAng="0" swAng="-5400000"/>
                <a:lnTo>
                  <a:pt x="76200" y="38100"/>
                </a:lnTo>
                <a:arcTo hR="38100" wR="76200" stAng="16200000" swAng="-5400000"/>
                <a:close/>
              </a:path>
            </a:pathLst>
          </a:custGeom>
          <a:solidFill>
            <a:srgbClr val="B4531A"/>
          </a:solidFill>
          <a:ln/>
        </p:spPr>
      </p:sp>
      <p:sp>
        <p:nvSpPr>
          <p:cNvPr id="6" name="Text 4"/>
          <p:cNvSpPr/>
          <p:nvPr/>
        </p:nvSpPr>
        <p:spPr>
          <a:xfrm>
            <a:off x="1066800" y="2171601"/>
            <a:ext cx="481380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B4531A"/>
                </a:solidFill>
                <a:latin typeface="Arial" pitchFamily="34" charset="0"/>
                <a:ea typeface="Arial" pitchFamily="34" charset="-122"/>
                <a:cs typeface="Arial" pitchFamily="34" charset="-120"/>
              </a:rPr>
              <a:t>CSA controls</a:t>
            </a:r>
            <a:endParaRPr lang="en-US" sz="1800" dirty="0"/>
          </a:p>
        </p:txBody>
      </p:sp>
      <p:sp>
        <p:nvSpPr>
          <p:cNvPr id="7" name="Text 5"/>
          <p:cNvSpPr/>
          <p:nvPr/>
        </p:nvSpPr>
        <p:spPr>
          <a:xfrm>
            <a:off x="1137146" y="2572841"/>
            <a:ext cx="4735842" cy="1874044"/>
          </a:xfrm>
          <a:prstGeom prst="rect">
            <a:avLst/>
          </a:prstGeom>
          <a:noFill/>
          <a:ln/>
        </p:spPr>
        <p:txBody>
          <a:bodyPr wrap="square" lIns="0" tIns="0" rIns="0" bIns="0" rtlCol="0" anchor="t">
            <a:normAutofit/>
          </a:bodyPr>
          <a:lstStyle/>
          <a:p>
            <a:pPr algn="l" marL="183654" indent="-183654">
              <a:lnSpc>
                <a:spcPts val="1820"/>
              </a:lnSpc>
              <a:buSzPct val="100000"/>
              <a:buFontTx/>
              <a:buAutoNum type="arabicPeriod" startAt="1"/>
            </a:pPr>
            <a:r>
              <a:rPr lang="en-US" sz="1300" dirty="0">
                <a:solidFill>
                  <a:srgbClr val="3A404C"/>
                </a:solidFill>
                <a:latin typeface="Arial" pitchFamily="34" charset="0"/>
                <a:ea typeface="Arial" pitchFamily="34" charset="-122"/>
                <a:cs typeface="Arial" pitchFamily="34" charset="-120"/>
              </a:rPr>
              <a:t>Re-run the sys.configurations query: all three values are 0</a:t>
            </a:r>
            <a:endParaRPr lang="en-US" sz="1300" dirty="0"/>
          </a:p>
          <a:p>
            <a:pPr algn="l" marL="183654" indent="-183654">
              <a:lnSpc>
                <a:spcPts val="1820"/>
              </a:lnSpc>
              <a:buSzPct val="100000"/>
              <a:buFontTx/>
              <a:buAutoNum type="arabicPeriod" startAt="1"/>
            </a:pPr>
            <a:r>
              <a:rPr lang="en-US" sz="1300" dirty="0">
                <a:solidFill>
                  <a:srgbClr val="3A404C"/>
                </a:solidFill>
                <a:latin typeface="Arial" pitchFamily="34" charset="0"/>
                <a:ea typeface="Arial" pitchFamily="34" charset="-122"/>
                <a:cs typeface="Arial" pitchFamily="34" charset="-120"/>
              </a:rPr>
              <a:t>Get-LocalGroupMember "Remote Desktop Users" returns nothing</a:t>
            </a:r>
            <a:endParaRPr lang="en-US" sz="1300" dirty="0"/>
          </a:p>
          <a:p>
            <a:pPr algn="l" marL="183654" indent="-183654">
              <a:lnSpc>
                <a:spcPts val="1820"/>
              </a:lnSpc>
              <a:buSzPct val="100000"/>
              <a:buFontTx/>
              <a:buAutoNum type="arabicPeriod" startAt="1"/>
            </a:pPr>
            <a:r>
              <a:rPr lang="en-US" sz="1300" dirty="0">
                <a:solidFill>
                  <a:srgbClr val="3A404C"/>
                </a:solidFill>
                <a:latin typeface="Arial" pitchFamily="34" charset="0"/>
                <a:ea typeface="Arial" pitchFamily="34" charset="-122"/>
                <a:cs typeface="Arial" pitchFamily="34" charset="-120"/>
              </a:rPr>
              <a:t>sys.server_audits shows SecAudit enabled; test a failed login appears</a:t>
            </a:r>
            <a:endParaRPr lang="en-US" sz="1300" dirty="0"/>
          </a:p>
          <a:p>
            <a:pPr algn="l" marL="183654" indent="-183654">
              <a:lnSpc>
                <a:spcPts val="1820"/>
              </a:lnSpc>
              <a:buSzPct val="100000"/>
              <a:buFontTx/>
              <a:buAutoNum type="arabicPeriod" startAt="1"/>
            </a:pPr>
            <a:r>
              <a:rPr lang="en-US" sz="1300" dirty="0">
                <a:solidFill>
                  <a:srgbClr val="3A404C"/>
                </a:solidFill>
                <a:latin typeface="Arial" pitchFamily="34" charset="0"/>
                <a:ea typeface="Arial" pitchFamily="34" charset="-122"/>
                <a:cs typeface="Arial" pitchFamily="34" charset="-120"/>
              </a:rPr>
              <a:t>describe-secret shows RotationEnabled true and a recent LastRotatedDate</a:t>
            </a:r>
            <a:endParaRPr lang="en-US" sz="1300" dirty="0"/>
          </a:p>
          <a:p>
            <a:pPr algn="l" marL="183654" indent="-183654">
              <a:lnSpc>
                <a:spcPts val="1820"/>
              </a:lnSpc>
              <a:buSzPct val="100000"/>
              <a:buFontTx/>
              <a:buAutoNum type="arabicPeriod" startAt="1"/>
            </a:pPr>
            <a:r>
              <a:rPr lang="en-US" sz="1300" dirty="0">
                <a:solidFill>
                  <a:srgbClr val="3A404C"/>
                </a:solidFill>
                <a:latin typeface="Arial" pitchFamily="34" charset="0"/>
                <a:ea typeface="Arial" pitchFamily="34" charset="-122"/>
                <a:cs typeface="Arial" pitchFamily="34" charset="-120"/>
              </a:rPr>
              <a:t>Next CSA scan marks each control as Pass</a:t>
            </a:r>
            <a:endParaRPr lang="en-US" sz="1300" dirty="0"/>
          </a:p>
        </p:txBody>
      </p:sp>
      <p:sp>
        <p:nvSpPr>
          <p:cNvPr id="8" name="Shape 6"/>
          <p:cNvSpPr/>
          <p:nvPr/>
        </p:nvSpPr>
        <p:spPr>
          <a:xfrm>
            <a:off x="6197600" y="1879501"/>
            <a:ext cx="5181600" cy="2795984"/>
          </a:xfrm>
          <a:prstGeom prst="roundRect">
            <a:avLst>
              <a:gd name="adj" fmla="val 2725"/>
            </a:avLst>
          </a:prstGeom>
          <a:solidFill>
            <a:srgbClr val="FFFFFF"/>
          </a:solidFill>
          <a:ln/>
        </p:spPr>
      </p:sp>
      <p:sp>
        <p:nvSpPr>
          <p:cNvPr id="9" name="Shape 7"/>
          <p:cNvSpPr/>
          <p:nvPr/>
        </p:nvSpPr>
        <p:spPr>
          <a:xfrm>
            <a:off x="6197600" y="1879501"/>
            <a:ext cx="5181600" cy="2795984"/>
          </a:xfrm>
          <a:custGeom>
            <a:avLst/>
            <a:gdLst/>
            <a:ahLst/>
            <a:cxnLst/>
            <a:rect l="l" t="t" r="r" b="b"/>
            <a:pathLst>
              <a:path w="5181600" h="2795984">
                <a:moveTo>
                  <a:pt x="0" y="76200"/>
                </a:moveTo>
                <a:lnTo>
                  <a:pt x="0" y="76200"/>
                </a:lnTo>
                <a:arcTo hR="76200" wR="76200" stAng="10800000" swAng="5400000"/>
                <a:lnTo>
                  <a:pt x="5105400" y="0"/>
                </a:lnTo>
                <a:arcTo hR="76200" wR="76200" stAng="16200000" swAng="5400000"/>
                <a:lnTo>
                  <a:pt x="5181600" y="76200"/>
                </a:lnTo>
                <a:arcTo hR="38100" wR="76200" stAng="0" swAng="-5400000"/>
                <a:lnTo>
                  <a:pt x="76200" y="38100"/>
                </a:lnTo>
                <a:arcTo hR="38100" wR="76200" stAng="16200000" swAng="-5400000"/>
                <a:close/>
              </a:path>
            </a:pathLst>
          </a:custGeom>
          <a:solidFill>
            <a:srgbClr val="2F6690"/>
          </a:solidFill>
          <a:ln/>
        </p:spPr>
      </p:sp>
      <p:sp>
        <p:nvSpPr>
          <p:cNvPr id="10" name="Text 8"/>
          <p:cNvSpPr/>
          <p:nvPr/>
        </p:nvSpPr>
        <p:spPr>
          <a:xfrm>
            <a:off x="6451600" y="2171601"/>
            <a:ext cx="481380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F6690"/>
                </a:solidFill>
                <a:latin typeface="Arial" pitchFamily="34" charset="0"/>
                <a:ea typeface="Arial" pitchFamily="34" charset="-122"/>
                <a:cs typeface="Arial" pitchFamily="34" charset="-120"/>
              </a:rPr>
              <a:t>Infra vulnerabilities</a:t>
            </a:r>
            <a:endParaRPr lang="en-US" sz="1800" dirty="0"/>
          </a:p>
        </p:txBody>
      </p:sp>
      <p:sp>
        <p:nvSpPr>
          <p:cNvPr id="11" name="Text 9"/>
          <p:cNvSpPr/>
          <p:nvPr/>
        </p:nvSpPr>
        <p:spPr>
          <a:xfrm>
            <a:off x="6521946" y="2572841"/>
            <a:ext cx="4735842" cy="1874044"/>
          </a:xfrm>
          <a:prstGeom prst="rect">
            <a:avLst/>
          </a:prstGeom>
          <a:noFill/>
          <a:ln/>
        </p:spPr>
        <p:txBody>
          <a:bodyPr wrap="square" lIns="0" tIns="0" rIns="0" bIns="0" rtlCol="0" anchor="t">
            <a:normAutofit/>
          </a:bodyPr>
          <a:lstStyle/>
          <a:p>
            <a:pPr algn="l" marL="183654" indent="-183654">
              <a:lnSpc>
                <a:spcPts val="1820"/>
              </a:lnSpc>
              <a:buSzPct val="100000"/>
              <a:buFontTx/>
              <a:buAutoNum type="arabicPeriod" startAt="1"/>
            </a:pPr>
            <a:r>
              <a:rPr lang="en-US" sz="1300" dirty="0">
                <a:solidFill>
                  <a:srgbClr val="3A404C"/>
                </a:solidFill>
                <a:latin typeface="Arial" pitchFamily="34" charset="0"/>
                <a:ea typeface="Arial" pitchFamily="34" charset="-122"/>
                <a:cs typeface="Arial" pitchFamily="34" charset="-120"/>
              </a:rPr>
              <a:t>pip-audit reports no known vulnerabilities in each live venv</a:t>
            </a:r>
            <a:endParaRPr lang="en-US" sz="1300" dirty="0"/>
          </a:p>
          <a:p>
            <a:pPr algn="l" marL="183654" indent="-183654">
              <a:lnSpc>
                <a:spcPts val="1820"/>
              </a:lnSpc>
              <a:buSzPct val="100000"/>
              <a:buFontTx/>
              <a:buAutoNum type="arabicPeriod" startAt="1"/>
            </a:pPr>
            <a:r>
              <a:rPr lang="en-US" sz="1300" dirty="0">
                <a:solidFill>
                  <a:srgbClr val="3A404C"/>
                </a:solidFill>
                <a:latin typeface="Arial" pitchFamily="34" charset="0"/>
                <a:ea typeface="Arial" pitchFamily="34" charset="-122"/>
                <a:cs typeface="Arial" pitchFamily="34" charset="-120"/>
              </a:rPr>
              <a:t>Old paths from the Brinqa export no longer exist on disk</a:t>
            </a:r>
            <a:endParaRPr lang="en-US" sz="1300" dirty="0"/>
          </a:p>
          <a:p>
            <a:pPr algn="l" marL="183654" indent="-183654">
              <a:lnSpc>
                <a:spcPts val="1820"/>
              </a:lnSpc>
              <a:buSzPct val="100000"/>
              <a:buFontTx/>
              <a:buAutoNum type="arabicPeriod" startAt="1"/>
            </a:pPr>
            <a:r>
              <a:rPr lang="en-US" sz="1300" dirty="0">
                <a:solidFill>
                  <a:srgbClr val="3A404C"/>
                </a:solidFill>
                <a:latin typeface="Arial" pitchFamily="34" charset="0"/>
                <a:ea typeface="Arial" pitchFamily="34" charset="-122"/>
                <a:cs typeface="Arial" pitchFamily="34" charset="-120"/>
              </a:rPr>
              <a:t>WinSCP and runtime versions confirmed in Programs and Features</a:t>
            </a:r>
            <a:endParaRPr lang="en-US" sz="1300" dirty="0"/>
          </a:p>
          <a:p>
            <a:pPr algn="l" marL="183654" indent="-183654">
              <a:lnSpc>
                <a:spcPts val="1820"/>
              </a:lnSpc>
              <a:buSzPct val="100000"/>
              <a:buFontTx/>
              <a:buAutoNum type="arabicPeriod" startAt="1"/>
            </a:pPr>
            <a:r>
              <a:rPr lang="en-US" sz="1300" dirty="0">
                <a:solidFill>
                  <a:srgbClr val="3A404C"/>
                </a:solidFill>
                <a:latin typeface="Arial" pitchFamily="34" charset="0"/>
                <a:ea typeface="Arial" pitchFamily="34" charset="-122"/>
                <a:cs typeface="Arial" pitchFamily="34" charset="-120"/>
              </a:rPr>
              <a:t>Defender software inventory shows the new versions after its next sync</a:t>
            </a:r>
            <a:endParaRPr lang="en-US" sz="1300" dirty="0"/>
          </a:p>
          <a:p>
            <a:pPr algn="l" marL="183654" indent="-183654">
              <a:lnSpc>
                <a:spcPts val="1820"/>
              </a:lnSpc>
              <a:buSzPct val="100000"/>
              <a:buFontTx/>
              <a:buAutoNum type="arabicPeriod" startAt="1"/>
            </a:pPr>
            <a:r>
              <a:rPr lang="en-US" sz="1300" dirty="0">
                <a:solidFill>
                  <a:srgbClr val="3A404C"/>
                </a:solidFill>
                <a:latin typeface="Arial" pitchFamily="34" charset="0"/>
                <a:ea typeface="Arial" pitchFamily="34" charset="-122"/>
                <a:cs typeface="Arial" pitchFamily="34" charset="-120"/>
              </a:rPr>
              <a:t>Brinqa findings move to Fixed after the following data refresh</a:t>
            </a:r>
            <a:endParaRPr lang="en-US" sz="1300" dirty="0"/>
          </a:p>
        </p:txBody>
      </p:sp>
      <p:sp>
        <p:nvSpPr>
          <p:cNvPr id="12" name="Text 10"/>
          <p:cNvSpPr/>
          <p:nvPr/>
        </p:nvSpPr>
        <p:spPr>
          <a:xfrm>
            <a:off x="812800" y="6238280"/>
            <a:ext cx="527137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270"/>
                </a:solidFill>
                <a:latin typeface="Arial" pitchFamily="34" charset="0"/>
                <a:ea typeface="Arial" pitchFamily="34" charset="-122"/>
                <a:cs typeface="Arial" pitchFamily="34" charset="-120"/>
              </a:rPr>
              <a:t>CSA &amp; infrastructure vulnerabilities · DEEP TTCLOUD AWS PRD</a:t>
            </a:r>
            <a:endParaRPr lang="en-US" sz="1200" dirty="0"/>
          </a:p>
        </p:txBody>
      </p:sp>
      <p:sp>
        <p:nvSpPr>
          <p:cNvPr id="13" name="Text 11"/>
          <p:cNvSpPr/>
          <p:nvPr/>
        </p:nvSpPr>
        <p:spPr>
          <a:xfrm>
            <a:off x="11158835" y="6238280"/>
            <a:ext cx="220365"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270"/>
                </a:solidFill>
                <a:latin typeface="Arial" pitchFamily="34" charset="0"/>
                <a:ea typeface="Arial" pitchFamily="34" charset="-122"/>
                <a:cs typeface="Arial" pitchFamily="34" charset="-120"/>
              </a:rPr>
              <a:t>12</a:t>
            </a:r>
            <a:endParaRPr lang="en-US" sz="1200" dirty="0"/>
          </a:p>
        </p:txBody>
      </p:sp>
    </p:spTree>
  </p:cSld>
  <p:clrMapOvr>
    <a:masterClrMapping/>
  </p:clrMapOvr>
</p:sld>
</file>

<file path=ppt/theme/theme1.xml><?xml version="1.0" encoding="utf-8"?>
<a:theme xmlns:a="http://schemas.openxmlformats.org/drawingml/2006/main" name="CSA vs Infra Vulnerabilities — DEEP TTCLOUD AWS PRD">
  <a:themeElements>
    <a:clrScheme name="CSA vs Infra Vulnerabilities — DEEP TTCLOUD AWS PRD">
      <a:dk1>
        <a:srgbClr val="14213D"/>
      </a:dk1>
      <a:lt1>
        <a:srgbClr val="F6F4EF"/>
      </a:lt1>
      <a:dk2>
        <a:srgbClr val="4D566A"/>
      </a:dk2>
      <a:lt2>
        <a:srgbClr val="DFDFDD"/>
      </a:lt2>
      <a:accent1>
        <a:srgbClr val="2F6690"/>
      </a:accent1>
      <a:accent2>
        <a:srgbClr val="B4531A"/>
      </a:accent2>
      <a:accent3>
        <a:srgbClr val="F08A3C"/>
      </a:accent3>
      <a:accent4>
        <a:srgbClr val="5B6270"/>
      </a:accent4>
      <a:accent5>
        <a:srgbClr val="3A404C"/>
      </a:accent5>
      <a:accent6>
        <a:srgbClr val="C9CFDB"/>
      </a:accent6>
      <a:hlink>
        <a:srgbClr val="0563C1"/>
      </a:hlink>
      <a:folHlink>
        <a:srgbClr val="954F72"/>
      </a:folHlink>
    </a:clrScheme>
    <a:fontScheme name="CSA vs Infra Vulnerabilities — DEEP TTCLOUD AWS PRD">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CSA vs Infra Vulnerabilities — DEEP TTCLOUD AWS PRD</dc:title>
  <dc:subject/>
  <dc:creator/>
  <cp:lastModifiedBy/>
  <cp:revision>1</cp:revision>
  <dcterms:created xsi:type="dcterms:W3CDTF">2026-10-09T09:40:09Z</dcterms:created>
  <dcterms:modified xsi:type="dcterms:W3CDTF">2026-10-09T09:40:09Z</dcterms:modified>
</cp:coreProperties>
</file>