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1c1a39e-b929-7341-51b9-80183e17bd2c}">
          <p14:sldIdLst>
            <p14:sldId id="256"/>
            <p14:sldId id="257"/>
            <p14:sldId id="258"/>
          </p14:sldIdLst>
        </p14:section>
        <p14:section name="Product data" id="{c1ba98ff-3df3-88dc-c952-1110356848f0}">
          <p14:sldIdLst>
            <p14:sldId id="259"/>
            <p14:sldId id="260"/>
            <p14:sldId id="261"/>
            <p14:sldId id="262"/>
          </p14:sldIdLst>
        </p14:section>
        <p14:section name="Validation" id="{c1e46c8f-07eb-e7de-de99-6d32579f762a}">
          <p14:sldIdLst>
            <p14:sldId id="263"/>
            <p14:sldId id="264"/>
            <p14:sldId id="265"/>
          </p14:sldIdLst>
        </p14:section>
        <p14:section name="Data flow" id="{40a37ddf-caee-73eb-902a-cb7c8422723d}">
          <p14:sldIdLst>
            <p14:sldId id="266"/>
          </p14:sldIdLst>
        </p14:section>
        <p14:section name="Summary" id="{4b559db4-30c1-a17b-4370-c1a48e3977d1}">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program keeps everything in one SQLite file, product_database.db. This deck walks through its 12 tables: what each one holds, where its columns come from in the product JSON, and how the tables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hold the products, three hold the lists found inside each product, four hold the validation rules, and three hold the validation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product_latest is the hub. Its detail lists and both result summaries share its product_hash. product_validation_results records which history row (product_id) and which rule (rule_id) produced each outcome. Inside the rule group, conditions belong to a rule by rule_id, and a rule can point at a check or a logic row through check_id.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product.json holds one hierarchy: a shipping case holding 25 bundles, each holding 10 packs. The parser walks it parents first and writes one row per level. quantity is how many of that level fit in one parent, so the top level has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Loading the three sample files twice gives 18 history rows but still 9 latest rows. The detail tables behave like product_latest, so older lists live only in product_history.product_json.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product_json keeps the complete product as posted, so nothing from the file is lost even where a field has no column of its own, such as the brand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product_property holds both property groups; property_group says which one a row came from, for example DesignMarketCode under ProductDefinitionProperties and TPPN under ProductProperties.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rule without a check_id is evaluated from its condition rows: all triggers must hold for the rule to apply, then all targets must pass. A rule whose trigger does not hold passes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rows can point at other logic rows, so conditions can be chained. The example rule checks TPD identifiers only for EU and UK design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passed = 1 also covers rules that did not apply to the product, because their trigger did not hold. The two summary tables are keyed by product, not by posting, so a product keeps one row per rule however often it is posted.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bulk loader, product_load_data.py, puts every file of product_data into a single transaction and skips HTTP, which is why it is the fastest way to load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count here comes from loading the three sample files once after seeding the example rules. The only failing check is the L&amp;M pack, which carries MSKU and EU-TPD keys but no GTIN.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40280"/>
            <a:ext cx="10698480" cy="10972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3474720"/>
            <a:ext cx="10058400" cy="82296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
        <p:nvSpPr>
          <p:cNvPr id="4" name="Text 0"/>
          <p:cNvSpPr/>
          <p:nvPr/>
        </p:nvSpPr>
        <p:spPr>
          <a:xfrm>
            <a:off x="50292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Product Master Data API  ·  product_database.db</a:t>
            </a:r>
            <a:endParaRPr lang="en-US" sz="10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1371600"/>
            <a:ext cx="10698480" cy="4572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691640"/>
            <a:ext cx="7315200" cy="365760"/>
          </a:xfrm>
          <a:prstGeom prst="rect">
            <a:avLst/>
          </a:prstGeom>
          <a:noFill/>
          <a:ln/>
        </p:spPr>
        <p:txBody>
          <a:bodyPr wrap="square" lIns="0" tIns="0" rIns="0" bIns="0" rtlCol="0" anchor="ctr"/>
          <a:lstStyle/>
          <a:p>
            <a:pPr indent="0" marL="0">
              <a:buNone/>
            </a:pPr>
            <a:r>
              <a:rPr lang="en-US" sz="1600" dirty="0">
                <a:solidFill>
                  <a:schemeClr val="accent6"/>
                </a:solidFill>
                <a:latin typeface="Courier New" pitchFamily="34" charset="0"/>
                <a:ea typeface="Courier New" pitchFamily="34" charset="-122"/>
                <a:cs typeface="Courier New" pitchFamily="34" charset="-120"/>
              </a:rPr>
              <a:t>product_api  ·  SQLite</a:t>
            </a:r>
            <a:endParaRPr lang="en-US" sz="1600" dirty="0"/>
          </a:p>
        </p:txBody>
      </p:sp>
      <p:sp>
        <p:nvSpPr>
          <p:cNvPr id="3" name="Text 0"/>
          <p:cNvSpPr/>
          <p:nvPr>
            <p:ph idx="100" type="title" hasCustomPrompt="1"/>
          </p:nvPr>
        </p:nvSpPr>
        <p:spPr>
          <a:xfrm>
            <a:off x="731520" y="2240280"/>
            <a:ext cx="10698480" cy="1097280"/>
          </a:xfrm>
          <a:prstGeom prst="rect">
            <a:avLst/>
          </a:prstGeom>
          <a:noFill/>
          <a:ln/>
        </p:spPr>
        <p:txBody>
          <a:bodyPr wrap="square" lIns="0" tIns="0" rIns="0" bIns="0" rtlCol="0" anchor="b"/>
          <a:lstStyle/>
          <a:p>
            <a:pPr algn="l" indent="0" marL="0">
              <a:buNone/>
            </a:pPr>
            <a:r>
              <a:rPr lang="en-US" sz="4800" b="1" dirty="0">
                <a:solidFill>
                  <a:schemeClr val="bg1"/>
                </a:solidFill>
              </a:rPr>
              <a:t>Product Database Schema</a:t>
            </a:r>
            <a:endParaRPr lang="en-US" sz="4800" dirty="0"/>
          </a:p>
        </p:txBody>
      </p:sp>
      <p:sp>
        <p:nvSpPr>
          <p:cNvPr id="4" name="Text 0"/>
          <p:cNvSpPr/>
          <p:nvPr>
            <p:ph idx="101" type="body" hasCustomPrompt="1"/>
          </p:nvPr>
        </p:nvSpPr>
        <p:spPr>
          <a:xfrm>
            <a:off x="731520" y="3474720"/>
            <a:ext cx="10058400" cy="822960"/>
          </a:xfrm>
          <a:prstGeom prst="rect">
            <a:avLst/>
          </a:prstGeom>
          <a:noFill/>
          <a:ln/>
        </p:spPr>
        <p:txBody>
          <a:bodyPr wrap="square" lIns="0" tIns="0" rIns="0" bIns="0" rtlCol="0" anchor="t"/>
          <a:lstStyle/>
          <a:p>
            <a:pPr indent="0" marL="0">
              <a:buNone/>
            </a:pPr>
            <a:r>
              <a:rPr lang="en-US" sz="2000" dirty="0">
                <a:solidFill>
                  <a:schemeClr val="accent6"/>
                </a:solidFill>
              </a:rPr>
              <a:t>How the product program stores product master data: 12 tables in 4 groups</a:t>
            </a:r>
            <a:endParaRPr lang="en-US" sz="2000" dirty="0"/>
          </a:p>
        </p:txBody>
      </p:sp>
      <p:sp>
        <p:nvSpPr>
          <p:cNvPr id="5" name="group-swatch-0"/>
          <p:cNvSpPr/>
          <p:nvPr/>
        </p:nvSpPr>
        <p:spPr>
          <a:xfrm>
            <a:off x="731520" y="5120640"/>
            <a:ext cx="292608" cy="292608"/>
          </a:xfrm>
          <a:prstGeom prst="roundRect">
            <a:avLst>
              <a:gd name="adj" fmla="val 15625"/>
            </a:avLst>
          </a:prstGeom>
          <a:solidFill>
            <a:schemeClr val="accent1"/>
          </a:solidFill>
          <a:ln w="12700">
            <a:solidFill>
              <a:schemeClr val="accent1"/>
            </a:solidFill>
            <a:prstDash val="solid"/>
          </a:ln>
        </p:spPr>
      </p:sp>
      <p:sp>
        <p:nvSpPr>
          <p:cNvPr id="6" name="Text 4"/>
          <p:cNvSpPr txBox="1"/>
          <p:nvPr/>
        </p:nvSpPr>
        <p:spPr>
          <a:xfrm>
            <a:off x="1143000" y="5120640"/>
            <a:ext cx="2011680" cy="292608"/>
          </a:xfrm>
          <a:prstGeom prst="rect">
            <a:avLst/>
          </a:prstGeom>
          <a:noFill/>
          <a:ln/>
        </p:spPr>
        <p:txBody>
          <a:bodyPr wrap="square" lIns="0" tIns="0" rIns="0" bIns="0" rtlCol="0" anchor="ctr"/>
          <a:lstStyle/>
          <a:p>
            <a:pPr indent="0" marL="0">
              <a:buNone/>
            </a:pPr>
            <a:r>
              <a:rPr lang="en-US" sz="1500" dirty="0">
                <a:solidFill>
                  <a:schemeClr val="bg1"/>
                </a:solidFill>
              </a:rPr>
              <a:t>Product data</a:t>
            </a:r>
            <a:endParaRPr lang="en-US" sz="1500" dirty="0"/>
          </a:p>
        </p:txBody>
      </p:sp>
      <p:sp>
        <p:nvSpPr>
          <p:cNvPr id="7" name="group-swatch-1"/>
          <p:cNvSpPr/>
          <p:nvPr/>
        </p:nvSpPr>
        <p:spPr>
          <a:xfrm>
            <a:off x="3246120" y="5120640"/>
            <a:ext cx="292608" cy="292608"/>
          </a:xfrm>
          <a:prstGeom prst="roundRect">
            <a:avLst>
              <a:gd name="adj" fmla="val 15625"/>
            </a:avLst>
          </a:prstGeom>
          <a:solidFill>
            <a:schemeClr val="accent2"/>
          </a:solidFill>
          <a:ln w="12700">
            <a:solidFill>
              <a:schemeClr val="accent2"/>
            </a:solidFill>
            <a:prstDash val="solid"/>
          </a:ln>
        </p:spPr>
      </p:sp>
      <p:sp>
        <p:nvSpPr>
          <p:cNvPr id="8" name="Text 6"/>
          <p:cNvSpPr txBox="1"/>
          <p:nvPr/>
        </p:nvSpPr>
        <p:spPr>
          <a:xfrm>
            <a:off x="3657600" y="5120640"/>
            <a:ext cx="2011680" cy="292608"/>
          </a:xfrm>
          <a:prstGeom prst="rect">
            <a:avLst/>
          </a:prstGeom>
          <a:noFill/>
          <a:ln/>
        </p:spPr>
        <p:txBody>
          <a:bodyPr wrap="square" lIns="0" tIns="0" rIns="0" bIns="0" rtlCol="0" anchor="ctr"/>
          <a:lstStyle/>
          <a:p>
            <a:pPr indent="0" marL="0">
              <a:buNone/>
            </a:pPr>
            <a:r>
              <a:rPr lang="en-US" sz="1500" dirty="0">
                <a:solidFill>
                  <a:schemeClr val="bg1"/>
                </a:solidFill>
              </a:rPr>
              <a:t>Detail lists</a:t>
            </a:r>
            <a:endParaRPr lang="en-US" sz="1500" dirty="0"/>
          </a:p>
        </p:txBody>
      </p:sp>
      <p:sp>
        <p:nvSpPr>
          <p:cNvPr id="9" name="group-swatch-2"/>
          <p:cNvSpPr/>
          <p:nvPr/>
        </p:nvSpPr>
        <p:spPr>
          <a:xfrm>
            <a:off x="5760720" y="5120640"/>
            <a:ext cx="292608" cy="292608"/>
          </a:xfrm>
          <a:prstGeom prst="roundRect">
            <a:avLst>
              <a:gd name="adj" fmla="val 15625"/>
            </a:avLst>
          </a:prstGeom>
          <a:solidFill>
            <a:schemeClr val="accent3"/>
          </a:solidFill>
          <a:ln w="12700">
            <a:solidFill>
              <a:schemeClr val="accent3"/>
            </a:solidFill>
            <a:prstDash val="solid"/>
          </a:ln>
        </p:spPr>
      </p:sp>
      <p:sp>
        <p:nvSpPr>
          <p:cNvPr id="10" name="Text 8"/>
          <p:cNvSpPr txBox="1"/>
          <p:nvPr/>
        </p:nvSpPr>
        <p:spPr>
          <a:xfrm>
            <a:off x="6172200" y="5120640"/>
            <a:ext cx="2011680" cy="292608"/>
          </a:xfrm>
          <a:prstGeom prst="rect">
            <a:avLst/>
          </a:prstGeom>
          <a:noFill/>
          <a:ln/>
        </p:spPr>
        <p:txBody>
          <a:bodyPr wrap="square" lIns="0" tIns="0" rIns="0" bIns="0" rtlCol="0" anchor="ctr"/>
          <a:lstStyle/>
          <a:p>
            <a:pPr indent="0" marL="0">
              <a:buNone/>
            </a:pPr>
            <a:r>
              <a:rPr lang="en-US" sz="1500" dirty="0">
                <a:solidFill>
                  <a:schemeClr val="bg1"/>
                </a:solidFill>
              </a:rPr>
              <a:t>Rule definitions</a:t>
            </a:r>
            <a:endParaRPr lang="en-US" sz="1500" dirty="0"/>
          </a:p>
        </p:txBody>
      </p:sp>
      <p:sp>
        <p:nvSpPr>
          <p:cNvPr id="11" name="group-swatch-3"/>
          <p:cNvSpPr/>
          <p:nvPr/>
        </p:nvSpPr>
        <p:spPr>
          <a:xfrm>
            <a:off x="8275320" y="5120640"/>
            <a:ext cx="292608" cy="292608"/>
          </a:xfrm>
          <a:prstGeom prst="roundRect">
            <a:avLst>
              <a:gd name="adj" fmla="val 15625"/>
            </a:avLst>
          </a:prstGeom>
          <a:solidFill>
            <a:schemeClr val="accent4"/>
          </a:solidFill>
          <a:ln w="12700">
            <a:solidFill>
              <a:schemeClr val="accent4"/>
            </a:solidFill>
            <a:prstDash val="solid"/>
          </a:ln>
        </p:spPr>
      </p:sp>
      <p:sp>
        <p:nvSpPr>
          <p:cNvPr id="12" name="Text 10"/>
          <p:cNvSpPr txBox="1"/>
          <p:nvPr/>
        </p:nvSpPr>
        <p:spPr>
          <a:xfrm>
            <a:off x="8686800" y="5120640"/>
            <a:ext cx="2011680" cy="292608"/>
          </a:xfrm>
          <a:prstGeom prst="rect">
            <a:avLst/>
          </a:prstGeom>
          <a:noFill/>
          <a:ln/>
        </p:spPr>
        <p:txBody>
          <a:bodyPr wrap="square" lIns="0" tIns="0" rIns="0" bIns="0" rtlCol="0" anchor="ctr"/>
          <a:lstStyle/>
          <a:p>
            <a:pPr indent="0" marL="0">
              <a:buNone/>
            </a:pPr>
            <a:r>
              <a:rPr lang="en-US" sz="1500" dirty="0">
                <a:solidFill>
                  <a:schemeClr val="bg1"/>
                </a:solidFill>
              </a:rPr>
              <a:t>Validation results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12 tables in 4 groups</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All of them are created by initialize_product_database() in product_api/product_database.py</a:t>
            </a:r>
            <a:endParaRPr lang="en-US" sz="1600" dirty="0"/>
          </a:p>
        </p:txBody>
      </p:sp>
      <p:sp>
        <p:nvSpPr>
          <p:cNvPr id="4" name="group-card-0"/>
          <p:cNvSpPr/>
          <p:nvPr/>
        </p:nvSpPr>
        <p:spPr>
          <a:xfrm>
            <a:off x="502920" y="1737360"/>
            <a:ext cx="5468112" cy="2057400"/>
          </a:xfrm>
          <a:prstGeom prst="roundRect">
            <a:avLst>
              <a:gd name="adj" fmla="val 3556"/>
            </a:avLst>
          </a:prstGeom>
          <a:solidFill>
            <a:schemeClr val="accent1">
              <a:alpha val="10000"/>
            </a:schemeClr>
          </a:solidFill>
          <a:ln w="9525">
            <a:solidFill>
              <a:srgbClr val="D3DCE1"/>
            </a:solidFill>
            <a:prstDash val="solid"/>
          </a:ln>
        </p:spPr>
      </p:sp>
      <p:sp>
        <p:nvSpPr>
          <p:cNvPr id="5" name="Text 3"/>
          <p:cNvSpPr txBox="1"/>
          <p:nvPr/>
        </p:nvSpPr>
        <p:spPr>
          <a:xfrm>
            <a:off x="777240" y="1965960"/>
            <a:ext cx="914400" cy="914400"/>
          </a:xfrm>
          <a:prstGeom prst="rect">
            <a:avLst/>
          </a:prstGeom>
          <a:noFill/>
          <a:ln/>
        </p:spPr>
        <p:txBody>
          <a:bodyPr wrap="square" lIns="0" tIns="0" rIns="0" bIns="0" rtlCol="0" anchor="ctr"/>
          <a:lstStyle/>
          <a:p>
            <a:pPr indent="0" marL="0">
              <a:buNone/>
            </a:pPr>
            <a:r>
              <a:rPr lang="en-US" sz="6000" b="1" dirty="0">
                <a:solidFill>
                  <a:schemeClr val="accent1"/>
                </a:solidFill>
                <a:latin typeface="Arial" pitchFamily="34" charset="0"/>
                <a:ea typeface="Arial" pitchFamily="34" charset="-122"/>
                <a:cs typeface="Arial" pitchFamily="34" charset="-120"/>
              </a:rPr>
              <a:t>2</a:t>
            </a:r>
            <a:endParaRPr lang="en-US" sz="6000" dirty="0"/>
          </a:p>
        </p:txBody>
      </p:sp>
      <p:sp>
        <p:nvSpPr>
          <p:cNvPr id="6" name="Text 4"/>
          <p:cNvSpPr txBox="1"/>
          <p:nvPr/>
        </p:nvSpPr>
        <p:spPr>
          <a:xfrm>
            <a:off x="777240" y="2926080"/>
            <a:ext cx="2011680" cy="365760"/>
          </a:xfrm>
          <a:prstGeom prst="rect">
            <a:avLst/>
          </a:prstGeom>
          <a:noFill/>
          <a:ln/>
        </p:spPr>
        <p:txBody>
          <a:bodyPr wrap="square" lIns="0" tIns="0" rIns="0" bIns="0" rtlCol="0" anchor="ctr"/>
          <a:lstStyle/>
          <a:p>
            <a:pPr indent="0" marL="0">
              <a:buNone/>
            </a:pPr>
            <a:r>
              <a:rPr lang="en-US" sz="1800" b="1" dirty="0">
                <a:solidFill>
                  <a:schemeClr val="accent1"/>
                </a:solidFill>
              </a:rPr>
              <a:t>Product data</a:t>
            </a:r>
            <a:endParaRPr lang="en-US" sz="1800" dirty="0"/>
          </a:p>
        </p:txBody>
      </p:sp>
      <p:sp>
        <p:nvSpPr>
          <p:cNvPr id="7" name="Text 5"/>
          <p:cNvSpPr txBox="1"/>
          <p:nvPr/>
        </p:nvSpPr>
        <p:spPr>
          <a:xfrm>
            <a:off x="777240" y="3273552"/>
            <a:ext cx="2011680" cy="457200"/>
          </a:xfrm>
          <a:prstGeom prst="rect">
            <a:avLst/>
          </a:prstGeom>
          <a:noFill/>
          <a:ln/>
        </p:spPr>
        <p:txBody>
          <a:bodyPr wrap="square" lIns="0" tIns="0" rIns="0" bIns="0" rtlCol="0" anchor="t"/>
          <a:lstStyle/>
          <a:p>
            <a:pPr indent="0" marL="0">
              <a:buNone/>
            </a:pPr>
            <a:r>
              <a:rPr lang="en-US" sz="1200" dirty="0">
                <a:solidFill>
                  <a:schemeClr val="accent5"/>
                </a:solidFill>
              </a:rPr>
              <a:t>One row per product, per level of the hierarchy</a:t>
            </a:r>
            <a:endParaRPr lang="en-US" sz="1200" dirty="0"/>
          </a:p>
        </p:txBody>
      </p:sp>
      <p:sp>
        <p:nvSpPr>
          <p:cNvPr id="8" name="Text 6"/>
          <p:cNvSpPr txBox="1"/>
          <p:nvPr/>
        </p:nvSpPr>
        <p:spPr>
          <a:xfrm>
            <a:off x="2834640" y="2011680"/>
            <a:ext cx="3044952" cy="1508760"/>
          </a:xfrm>
          <a:prstGeom prst="rect">
            <a:avLst/>
          </a:prstGeom>
          <a:noFill/>
          <a:ln/>
        </p:spPr>
        <p:txBody>
          <a:bodyPr wrap="square" lIns="0" tIns="0" rIns="0" bIns="0" rtlCol="0" anchor="t"/>
          <a:lstStyle/>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product_history</a:t>
            </a:r>
            <a:endParaRPr lang="en-US" sz="1200" dirty="0"/>
          </a:p>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product_latest</a:t>
            </a:r>
            <a:endParaRPr lang="en-US" sz="1200" dirty="0"/>
          </a:p>
        </p:txBody>
      </p:sp>
      <p:sp>
        <p:nvSpPr>
          <p:cNvPr id="9" name="group-card-1"/>
          <p:cNvSpPr/>
          <p:nvPr/>
        </p:nvSpPr>
        <p:spPr>
          <a:xfrm>
            <a:off x="6217920" y="1737360"/>
            <a:ext cx="5468112" cy="2057400"/>
          </a:xfrm>
          <a:prstGeom prst="roundRect">
            <a:avLst>
              <a:gd name="adj" fmla="val 3556"/>
            </a:avLst>
          </a:prstGeom>
          <a:solidFill>
            <a:schemeClr val="accent2">
              <a:alpha val="10000"/>
            </a:schemeClr>
          </a:solidFill>
          <a:ln w="9525">
            <a:solidFill>
              <a:srgbClr val="D3DCE1"/>
            </a:solidFill>
            <a:prstDash val="solid"/>
          </a:ln>
        </p:spPr>
      </p:sp>
      <p:sp>
        <p:nvSpPr>
          <p:cNvPr id="10" name="Text 8"/>
          <p:cNvSpPr txBox="1"/>
          <p:nvPr/>
        </p:nvSpPr>
        <p:spPr>
          <a:xfrm>
            <a:off x="6492240" y="1965960"/>
            <a:ext cx="914400" cy="914400"/>
          </a:xfrm>
          <a:prstGeom prst="rect">
            <a:avLst/>
          </a:prstGeom>
          <a:noFill/>
          <a:ln/>
        </p:spPr>
        <p:txBody>
          <a:bodyPr wrap="square" lIns="0" tIns="0" rIns="0" bIns="0" rtlCol="0" anchor="ctr"/>
          <a:lstStyle/>
          <a:p>
            <a:pPr indent="0" marL="0">
              <a:buNone/>
            </a:pPr>
            <a:r>
              <a:rPr lang="en-US" sz="6000" b="1" dirty="0">
                <a:solidFill>
                  <a:schemeClr val="accent2"/>
                </a:solidFill>
                <a:latin typeface="Arial" pitchFamily="34" charset="0"/>
                <a:ea typeface="Arial" pitchFamily="34" charset="-122"/>
                <a:cs typeface="Arial" pitchFamily="34" charset="-120"/>
              </a:rPr>
              <a:t>3</a:t>
            </a:r>
            <a:endParaRPr lang="en-US" sz="6000" dirty="0"/>
          </a:p>
        </p:txBody>
      </p:sp>
      <p:sp>
        <p:nvSpPr>
          <p:cNvPr id="11" name="Text 9"/>
          <p:cNvSpPr txBox="1"/>
          <p:nvPr/>
        </p:nvSpPr>
        <p:spPr>
          <a:xfrm>
            <a:off x="6492240" y="2926080"/>
            <a:ext cx="2011680" cy="365760"/>
          </a:xfrm>
          <a:prstGeom prst="rect">
            <a:avLst/>
          </a:prstGeom>
          <a:noFill/>
          <a:ln/>
        </p:spPr>
        <p:txBody>
          <a:bodyPr wrap="square" lIns="0" tIns="0" rIns="0" bIns="0" rtlCol="0" anchor="ctr"/>
          <a:lstStyle/>
          <a:p>
            <a:pPr indent="0" marL="0">
              <a:buNone/>
            </a:pPr>
            <a:r>
              <a:rPr lang="en-US" sz="1800" b="1" dirty="0">
                <a:solidFill>
                  <a:schemeClr val="accent2"/>
                </a:solidFill>
              </a:rPr>
              <a:t>Detail lists</a:t>
            </a:r>
            <a:endParaRPr lang="en-US" sz="1800" dirty="0"/>
          </a:p>
        </p:txBody>
      </p:sp>
      <p:sp>
        <p:nvSpPr>
          <p:cNvPr id="12" name="Text 10"/>
          <p:cNvSpPr txBox="1"/>
          <p:nvPr/>
        </p:nvSpPr>
        <p:spPr>
          <a:xfrm>
            <a:off x="6492240" y="3273552"/>
            <a:ext cx="2011680" cy="457200"/>
          </a:xfrm>
          <a:prstGeom prst="rect">
            <a:avLst/>
          </a:prstGeom>
          <a:noFill/>
          <a:ln/>
        </p:spPr>
        <p:txBody>
          <a:bodyPr wrap="square" lIns="0" tIns="0" rIns="0" bIns="0" rtlCol="0" anchor="t"/>
          <a:lstStyle/>
          <a:p>
            <a:pPr indent="0" marL="0">
              <a:buNone/>
            </a:pPr>
            <a:r>
              <a:rPr lang="en-US" sz="1200" dirty="0">
                <a:solidFill>
                  <a:schemeClr val="accent5"/>
                </a:solidFill>
              </a:rPr>
              <a:t>The lists inside each product's JSON</a:t>
            </a:r>
            <a:endParaRPr lang="en-US" sz="1200" dirty="0"/>
          </a:p>
        </p:txBody>
      </p:sp>
      <p:sp>
        <p:nvSpPr>
          <p:cNvPr id="13" name="Text 11"/>
          <p:cNvSpPr txBox="1"/>
          <p:nvPr/>
        </p:nvSpPr>
        <p:spPr>
          <a:xfrm>
            <a:off x="8549640" y="2011680"/>
            <a:ext cx="3044952" cy="1508760"/>
          </a:xfrm>
          <a:prstGeom prst="rect">
            <a:avLst/>
          </a:prstGeom>
          <a:noFill/>
          <a:ln/>
        </p:spPr>
        <p:txBody>
          <a:bodyPr wrap="square" lIns="0" tIns="0" rIns="0" bIns="0" rtlCol="0" anchor="t"/>
          <a:lstStyle/>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product_alternate_key</a:t>
            </a:r>
            <a:endParaRPr lang="en-US" sz="1200" dirty="0"/>
          </a:p>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product_unit</a:t>
            </a:r>
            <a:endParaRPr lang="en-US" sz="1200" dirty="0"/>
          </a:p>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product_property</a:t>
            </a:r>
            <a:endParaRPr lang="en-US" sz="1200" dirty="0"/>
          </a:p>
        </p:txBody>
      </p:sp>
      <p:sp>
        <p:nvSpPr>
          <p:cNvPr id="14" name="group-card-2"/>
          <p:cNvSpPr/>
          <p:nvPr/>
        </p:nvSpPr>
        <p:spPr>
          <a:xfrm>
            <a:off x="502920" y="4023360"/>
            <a:ext cx="5468112" cy="2057400"/>
          </a:xfrm>
          <a:prstGeom prst="roundRect">
            <a:avLst>
              <a:gd name="adj" fmla="val 3556"/>
            </a:avLst>
          </a:prstGeom>
          <a:solidFill>
            <a:schemeClr val="accent3">
              <a:alpha val="10000"/>
            </a:schemeClr>
          </a:solidFill>
          <a:ln w="9525">
            <a:solidFill>
              <a:srgbClr val="D3DCE1"/>
            </a:solidFill>
            <a:prstDash val="solid"/>
          </a:ln>
        </p:spPr>
      </p:sp>
      <p:sp>
        <p:nvSpPr>
          <p:cNvPr id="15" name="Text 13"/>
          <p:cNvSpPr txBox="1"/>
          <p:nvPr/>
        </p:nvSpPr>
        <p:spPr>
          <a:xfrm>
            <a:off x="777240" y="4251960"/>
            <a:ext cx="914400" cy="914400"/>
          </a:xfrm>
          <a:prstGeom prst="rect">
            <a:avLst/>
          </a:prstGeom>
          <a:noFill/>
          <a:ln/>
        </p:spPr>
        <p:txBody>
          <a:bodyPr wrap="square" lIns="0" tIns="0" rIns="0" bIns="0" rtlCol="0" anchor="ctr"/>
          <a:lstStyle/>
          <a:p>
            <a:pPr indent="0" marL="0">
              <a:buNone/>
            </a:pPr>
            <a:r>
              <a:rPr lang="en-US" sz="6000" b="1" dirty="0">
                <a:solidFill>
                  <a:schemeClr val="accent3"/>
                </a:solidFill>
                <a:latin typeface="Arial" pitchFamily="34" charset="0"/>
                <a:ea typeface="Arial" pitchFamily="34" charset="-122"/>
                <a:cs typeface="Arial" pitchFamily="34" charset="-120"/>
              </a:rPr>
              <a:t>4</a:t>
            </a:r>
            <a:endParaRPr lang="en-US" sz="6000" dirty="0"/>
          </a:p>
        </p:txBody>
      </p:sp>
      <p:sp>
        <p:nvSpPr>
          <p:cNvPr id="16" name="Text 14"/>
          <p:cNvSpPr txBox="1"/>
          <p:nvPr/>
        </p:nvSpPr>
        <p:spPr>
          <a:xfrm>
            <a:off x="777240" y="5212080"/>
            <a:ext cx="2011680" cy="365760"/>
          </a:xfrm>
          <a:prstGeom prst="rect">
            <a:avLst/>
          </a:prstGeom>
          <a:noFill/>
          <a:ln/>
        </p:spPr>
        <p:txBody>
          <a:bodyPr wrap="square" lIns="0" tIns="0" rIns="0" bIns="0" rtlCol="0" anchor="ctr"/>
          <a:lstStyle/>
          <a:p>
            <a:pPr indent="0" marL="0">
              <a:buNone/>
            </a:pPr>
            <a:r>
              <a:rPr lang="en-US" sz="1800" b="1" dirty="0">
                <a:solidFill>
                  <a:schemeClr val="accent3"/>
                </a:solidFill>
              </a:rPr>
              <a:t>Rule definitions</a:t>
            </a:r>
            <a:endParaRPr lang="en-US" sz="1800" dirty="0"/>
          </a:p>
        </p:txBody>
      </p:sp>
      <p:sp>
        <p:nvSpPr>
          <p:cNvPr id="17" name="Text 15"/>
          <p:cNvSpPr txBox="1"/>
          <p:nvPr/>
        </p:nvSpPr>
        <p:spPr>
          <a:xfrm>
            <a:off x="777240" y="5559552"/>
            <a:ext cx="2011680" cy="457200"/>
          </a:xfrm>
          <a:prstGeom prst="rect">
            <a:avLst/>
          </a:prstGeom>
          <a:noFill/>
          <a:ln/>
        </p:spPr>
        <p:txBody>
          <a:bodyPr wrap="square" lIns="0" tIns="0" rIns="0" bIns="0" rtlCol="0" anchor="t"/>
          <a:lstStyle/>
          <a:p>
            <a:pPr indent="0" marL="0">
              <a:buNone/>
            </a:pPr>
            <a:r>
              <a:rPr lang="en-US" sz="1200" dirty="0">
                <a:solidFill>
                  <a:schemeClr val="accent5"/>
                </a:solidFill>
              </a:rPr>
              <a:t>Validation rules, stored as data</a:t>
            </a:r>
            <a:endParaRPr lang="en-US" sz="1200" dirty="0"/>
          </a:p>
        </p:txBody>
      </p:sp>
      <p:sp>
        <p:nvSpPr>
          <p:cNvPr id="18" name="Text 16"/>
          <p:cNvSpPr txBox="1"/>
          <p:nvPr/>
        </p:nvSpPr>
        <p:spPr>
          <a:xfrm>
            <a:off x="2834640" y="4297680"/>
            <a:ext cx="3044952" cy="1508760"/>
          </a:xfrm>
          <a:prstGeom prst="rect">
            <a:avLst/>
          </a:prstGeom>
          <a:noFill/>
          <a:ln/>
        </p:spPr>
        <p:txBody>
          <a:bodyPr wrap="square" lIns="0" tIns="0" rIns="0" bIns="0" rtlCol="0" anchor="t"/>
          <a:lstStyle/>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product_val_rules</a:t>
            </a:r>
            <a:endParaRPr lang="en-US" sz="1200" dirty="0"/>
          </a:p>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product_val_rule_conditions</a:t>
            </a:r>
            <a:endParaRPr lang="en-US" sz="1200" dirty="0"/>
          </a:p>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product_val_checks</a:t>
            </a:r>
            <a:endParaRPr lang="en-US" sz="1200" dirty="0"/>
          </a:p>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product_val_logic</a:t>
            </a:r>
            <a:endParaRPr lang="en-US" sz="1200" dirty="0"/>
          </a:p>
        </p:txBody>
      </p:sp>
      <p:sp>
        <p:nvSpPr>
          <p:cNvPr id="19" name="group-card-3"/>
          <p:cNvSpPr/>
          <p:nvPr/>
        </p:nvSpPr>
        <p:spPr>
          <a:xfrm>
            <a:off x="6217920" y="4023360"/>
            <a:ext cx="5468112" cy="2057400"/>
          </a:xfrm>
          <a:prstGeom prst="roundRect">
            <a:avLst>
              <a:gd name="adj" fmla="val 3556"/>
            </a:avLst>
          </a:prstGeom>
          <a:solidFill>
            <a:schemeClr val="accent4">
              <a:alpha val="10000"/>
            </a:schemeClr>
          </a:solidFill>
          <a:ln w="9525">
            <a:solidFill>
              <a:srgbClr val="D3DCE1"/>
            </a:solidFill>
            <a:prstDash val="solid"/>
          </a:ln>
        </p:spPr>
      </p:sp>
      <p:sp>
        <p:nvSpPr>
          <p:cNvPr id="20" name="Text 18"/>
          <p:cNvSpPr txBox="1"/>
          <p:nvPr/>
        </p:nvSpPr>
        <p:spPr>
          <a:xfrm>
            <a:off x="6492240" y="4251960"/>
            <a:ext cx="914400" cy="914400"/>
          </a:xfrm>
          <a:prstGeom prst="rect">
            <a:avLst/>
          </a:prstGeom>
          <a:noFill/>
          <a:ln/>
        </p:spPr>
        <p:txBody>
          <a:bodyPr wrap="square" lIns="0" tIns="0" rIns="0" bIns="0" rtlCol="0" anchor="ctr"/>
          <a:lstStyle/>
          <a:p>
            <a:pPr indent="0" marL="0">
              <a:buNone/>
            </a:pPr>
            <a:r>
              <a:rPr lang="en-US" sz="6000" b="1" dirty="0">
                <a:solidFill>
                  <a:schemeClr val="accent4"/>
                </a:solidFill>
                <a:latin typeface="Arial" pitchFamily="34" charset="0"/>
                <a:ea typeface="Arial" pitchFamily="34" charset="-122"/>
                <a:cs typeface="Arial" pitchFamily="34" charset="-120"/>
              </a:rPr>
              <a:t>3</a:t>
            </a:r>
            <a:endParaRPr lang="en-US" sz="6000" dirty="0"/>
          </a:p>
        </p:txBody>
      </p:sp>
      <p:sp>
        <p:nvSpPr>
          <p:cNvPr id="21" name="Text 19"/>
          <p:cNvSpPr txBox="1"/>
          <p:nvPr/>
        </p:nvSpPr>
        <p:spPr>
          <a:xfrm>
            <a:off x="6492240" y="5212080"/>
            <a:ext cx="2011680" cy="365760"/>
          </a:xfrm>
          <a:prstGeom prst="rect">
            <a:avLst/>
          </a:prstGeom>
          <a:noFill/>
          <a:ln/>
        </p:spPr>
        <p:txBody>
          <a:bodyPr wrap="square" lIns="0" tIns="0" rIns="0" bIns="0" rtlCol="0" anchor="ctr"/>
          <a:lstStyle/>
          <a:p>
            <a:pPr indent="0" marL="0">
              <a:buNone/>
            </a:pPr>
            <a:r>
              <a:rPr lang="en-US" sz="1800" b="1" dirty="0">
                <a:solidFill>
                  <a:schemeClr val="accent4"/>
                </a:solidFill>
              </a:rPr>
              <a:t>Validation results</a:t>
            </a:r>
            <a:endParaRPr lang="en-US" sz="1800" dirty="0"/>
          </a:p>
        </p:txBody>
      </p:sp>
      <p:sp>
        <p:nvSpPr>
          <p:cNvPr id="22" name="Text 20"/>
          <p:cNvSpPr txBox="1"/>
          <p:nvPr/>
        </p:nvSpPr>
        <p:spPr>
          <a:xfrm>
            <a:off x="6492240" y="5559552"/>
            <a:ext cx="2011680" cy="457200"/>
          </a:xfrm>
          <a:prstGeom prst="rect">
            <a:avLst/>
          </a:prstGeom>
          <a:noFill/>
          <a:ln/>
        </p:spPr>
        <p:txBody>
          <a:bodyPr wrap="square" lIns="0" tIns="0" rIns="0" bIns="0" rtlCol="0" anchor="t"/>
          <a:lstStyle/>
          <a:p>
            <a:pPr indent="0" marL="0">
              <a:buNone/>
            </a:pPr>
            <a:r>
              <a:rPr lang="en-US" sz="1200" dirty="0">
                <a:solidFill>
                  <a:schemeClr val="accent5"/>
                </a:solidFill>
              </a:rPr>
              <a:t>Every outcome, the latest run, and a summary</a:t>
            </a:r>
            <a:endParaRPr lang="en-US" sz="1200" dirty="0"/>
          </a:p>
        </p:txBody>
      </p:sp>
      <p:sp>
        <p:nvSpPr>
          <p:cNvPr id="23" name="Text 21"/>
          <p:cNvSpPr txBox="1"/>
          <p:nvPr/>
        </p:nvSpPr>
        <p:spPr>
          <a:xfrm>
            <a:off x="8549640" y="4297680"/>
            <a:ext cx="3044952" cy="1508760"/>
          </a:xfrm>
          <a:prstGeom prst="rect">
            <a:avLst/>
          </a:prstGeom>
          <a:noFill/>
          <a:ln/>
        </p:spPr>
        <p:txBody>
          <a:bodyPr wrap="square" lIns="0" tIns="0" rIns="0" bIns="0" rtlCol="0" anchor="t"/>
          <a:lstStyle/>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product_validation_results</a:t>
            </a:r>
            <a:endParaRPr lang="en-US" sz="1200" dirty="0"/>
          </a:p>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product_latest_validation_rules</a:t>
            </a:r>
            <a:endParaRPr lang="en-US" sz="1200" dirty="0"/>
          </a:p>
          <a:p>
            <a:pPr indent="0" marL="0">
              <a:spcAft>
                <a:spcPts val="600"/>
              </a:spcAft>
              <a:buNone/>
            </a:pPr>
            <a:r>
              <a:rPr lang="en-US" sz="1200" dirty="0">
                <a:solidFill>
                  <a:schemeClr val="tx1"/>
                </a:solidFill>
                <a:latin typeface="Courier New" pitchFamily="34" charset="0"/>
                <a:ea typeface="Courier New" pitchFamily="34" charset="-122"/>
                <a:cs typeface="Courier New" pitchFamily="34" charset="-120"/>
              </a:rPr>
              <a:t>product_validation_summary</a:t>
            </a:r>
            <a:endParaRPr lang="en-US" sz="12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How the tables connect</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Detail and result tables point to a product through product_hash, the SHA256 of PrimaryProductKey</a:t>
            </a:r>
            <a:endParaRPr lang="en-US" sz="1600" dirty="0"/>
          </a:p>
        </p:txBody>
      </p:sp>
      <p:sp>
        <p:nvSpPr>
          <p:cNvPr id="4" name="Text 2"/>
          <p:cNvSpPr txBox="1"/>
          <p:nvPr/>
        </p:nvSpPr>
        <p:spPr>
          <a:xfrm>
            <a:off x="914400" y="1627632"/>
            <a:ext cx="2926080" cy="256032"/>
          </a:xfrm>
          <a:prstGeom prst="rect">
            <a:avLst/>
          </a:prstGeom>
          <a:noFill/>
          <a:ln/>
        </p:spPr>
        <p:txBody>
          <a:bodyPr wrap="square" lIns="0" tIns="0" rIns="0" bIns="0" rtlCol="0" anchor="ctr"/>
          <a:lstStyle/>
          <a:p>
            <a:pPr indent="0" marL="0">
              <a:buNone/>
            </a:pPr>
            <a:r>
              <a:rPr lang="en-US" sz="1100" b="1" spc="150" kern="0" dirty="0">
                <a:solidFill>
                  <a:schemeClr val="accent3"/>
                </a:solidFill>
              </a:rPr>
              <a:t>RULE DEFINITIONS</a:t>
            </a:r>
            <a:endParaRPr lang="en-US" sz="1100" dirty="0"/>
          </a:p>
        </p:txBody>
      </p:sp>
      <p:sp>
        <p:nvSpPr>
          <p:cNvPr id="5" name="Text 3"/>
          <p:cNvSpPr txBox="1"/>
          <p:nvPr/>
        </p:nvSpPr>
        <p:spPr>
          <a:xfrm>
            <a:off x="4617720" y="1627632"/>
            <a:ext cx="2926080"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PRODUCT DATA</a:t>
            </a:r>
            <a:endParaRPr lang="en-US" sz="1100" dirty="0"/>
          </a:p>
        </p:txBody>
      </p:sp>
      <p:sp>
        <p:nvSpPr>
          <p:cNvPr id="6" name="Text 4"/>
          <p:cNvSpPr txBox="1"/>
          <p:nvPr/>
        </p:nvSpPr>
        <p:spPr>
          <a:xfrm>
            <a:off x="8823960" y="1627632"/>
            <a:ext cx="2926080" cy="256032"/>
          </a:xfrm>
          <a:prstGeom prst="rect">
            <a:avLst/>
          </a:prstGeom>
          <a:noFill/>
          <a:ln/>
        </p:spPr>
        <p:txBody>
          <a:bodyPr wrap="square" lIns="0" tIns="0" rIns="0" bIns="0" rtlCol="0" anchor="ctr"/>
          <a:lstStyle/>
          <a:p>
            <a:pPr indent="0" marL="0">
              <a:buNone/>
            </a:pPr>
            <a:r>
              <a:rPr lang="en-US" sz="1100" b="1" spc="150" kern="0" dirty="0">
                <a:solidFill>
                  <a:schemeClr val="accent5"/>
                </a:solidFill>
              </a:rPr>
              <a:t>DETAIL LISTS AND SUMMARIES</a:t>
            </a:r>
            <a:endParaRPr lang="en-US" sz="1100" dirty="0"/>
          </a:p>
        </p:txBody>
      </p:sp>
      <p:sp>
        <p:nvSpPr>
          <p:cNvPr id="7" name="Shape 5"/>
          <p:cNvSpPr/>
          <p:nvPr/>
        </p:nvSpPr>
        <p:spPr>
          <a:xfrm>
            <a:off x="640080" y="2286000"/>
            <a:ext cx="0" cy="2606040"/>
          </a:xfrm>
          <a:prstGeom prst="line">
            <a:avLst/>
          </a:prstGeom>
          <a:noFill/>
          <a:ln w="15875">
            <a:solidFill>
              <a:schemeClr val="accent3"/>
            </a:solidFill>
            <a:prstDash val="solid"/>
          </a:ln>
        </p:spPr>
      </p:sp>
      <p:sp>
        <p:nvSpPr>
          <p:cNvPr id="8" name="Shape 6"/>
          <p:cNvSpPr/>
          <p:nvPr/>
        </p:nvSpPr>
        <p:spPr>
          <a:xfrm>
            <a:off x="640080" y="2286000"/>
            <a:ext cx="274320" cy="0"/>
          </a:xfrm>
          <a:prstGeom prst="line">
            <a:avLst/>
          </a:prstGeom>
          <a:noFill/>
          <a:ln w="15875">
            <a:solidFill>
              <a:schemeClr val="accent3"/>
            </a:solidFill>
            <a:prstDash val="solid"/>
          </a:ln>
        </p:spPr>
      </p:sp>
      <p:sp>
        <p:nvSpPr>
          <p:cNvPr id="9" name="rel-product_val_rules"/>
          <p:cNvSpPr/>
          <p:nvPr/>
        </p:nvSpPr>
        <p:spPr>
          <a:xfrm>
            <a:off x="914400" y="1965960"/>
            <a:ext cx="2743200" cy="640080"/>
          </a:xfrm>
          <a:prstGeom prst="roundRect">
            <a:avLst>
              <a:gd name="adj" fmla="val 8571"/>
            </a:avLst>
          </a:prstGeom>
          <a:solidFill>
            <a:schemeClr val="accent3">
              <a:alpha val="12000"/>
            </a:schemeClr>
          </a:solidFill>
          <a:ln w="15875">
            <a:solidFill>
              <a:schemeClr val="accent3"/>
            </a:solidFill>
            <a:prstDash val="solid"/>
          </a:ln>
        </p:spPr>
      </p:sp>
      <p:sp>
        <p:nvSpPr>
          <p:cNvPr id="10" name="Text 8"/>
          <p:cNvSpPr txBox="1"/>
          <p:nvPr/>
        </p:nvSpPr>
        <p:spPr>
          <a:xfrm>
            <a:off x="1005840" y="1965960"/>
            <a:ext cx="256032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3"/>
                </a:solidFill>
                <a:latin typeface="Courier New" pitchFamily="34" charset="0"/>
                <a:ea typeface="Courier New" pitchFamily="34" charset="-122"/>
                <a:cs typeface="Courier New" pitchFamily="34" charset="-120"/>
              </a:rPr>
              <a:t>product_val_rules</a:t>
            </a:r>
            <a:endParaRPr lang="en-US" sz="1400" dirty="0"/>
          </a:p>
          <a:p>
            <a:pPr indent="0" marL="0">
              <a:spcAft>
                <a:spcPts val="200"/>
              </a:spcAft>
              <a:buNone/>
            </a:pPr>
            <a:r>
              <a:rPr lang="en-US" sz="1100" dirty="0">
                <a:solidFill>
                  <a:schemeClr val="tx1"/>
                </a:solidFill>
              </a:rPr>
              <a:t>rule list; check_id points to a check or logic</a:t>
            </a:r>
            <a:endParaRPr lang="en-US" sz="1400" dirty="0"/>
          </a:p>
        </p:txBody>
      </p:sp>
      <p:sp>
        <p:nvSpPr>
          <p:cNvPr id="11" name="Shape 9"/>
          <p:cNvSpPr/>
          <p:nvPr/>
        </p:nvSpPr>
        <p:spPr>
          <a:xfrm>
            <a:off x="640080" y="3154680"/>
            <a:ext cx="274320" cy="0"/>
          </a:xfrm>
          <a:prstGeom prst="line">
            <a:avLst/>
          </a:prstGeom>
          <a:noFill/>
          <a:ln w="15875">
            <a:solidFill>
              <a:schemeClr val="accent3"/>
            </a:solidFill>
            <a:prstDash val="solid"/>
          </a:ln>
        </p:spPr>
      </p:sp>
      <p:sp>
        <p:nvSpPr>
          <p:cNvPr id="12" name="rel-product_val_rule_conditions"/>
          <p:cNvSpPr/>
          <p:nvPr/>
        </p:nvSpPr>
        <p:spPr>
          <a:xfrm>
            <a:off x="914400" y="2834640"/>
            <a:ext cx="2743200" cy="640080"/>
          </a:xfrm>
          <a:prstGeom prst="roundRect">
            <a:avLst>
              <a:gd name="adj" fmla="val 8571"/>
            </a:avLst>
          </a:prstGeom>
          <a:solidFill>
            <a:schemeClr val="accent3">
              <a:alpha val="12000"/>
            </a:schemeClr>
          </a:solidFill>
          <a:ln w="15875">
            <a:solidFill>
              <a:schemeClr val="accent3"/>
            </a:solidFill>
            <a:prstDash val="solid"/>
          </a:ln>
        </p:spPr>
      </p:sp>
      <p:sp>
        <p:nvSpPr>
          <p:cNvPr id="13" name="Text 11"/>
          <p:cNvSpPr txBox="1"/>
          <p:nvPr/>
        </p:nvSpPr>
        <p:spPr>
          <a:xfrm>
            <a:off x="1005840" y="2834640"/>
            <a:ext cx="256032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3"/>
                </a:solidFill>
                <a:latin typeface="Courier New" pitchFamily="34" charset="0"/>
                <a:ea typeface="Courier New" pitchFamily="34" charset="-122"/>
                <a:cs typeface="Courier New" pitchFamily="34" charset="-120"/>
              </a:rPr>
              <a:t>product_val_rule_conditions</a:t>
            </a:r>
            <a:endParaRPr lang="en-US" sz="1400" dirty="0"/>
          </a:p>
          <a:p>
            <a:pPr indent="0" marL="0">
              <a:spcAft>
                <a:spcPts val="200"/>
              </a:spcAft>
              <a:buNone/>
            </a:pPr>
            <a:r>
              <a:rPr lang="en-US" sz="1100" dirty="0">
                <a:solidFill>
                  <a:schemeClr val="tx1"/>
                </a:solidFill>
              </a:rPr>
              <a:t>Trigger / Target rows per rule_id</a:t>
            </a:r>
            <a:endParaRPr lang="en-US" sz="1400" dirty="0"/>
          </a:p>
        </p:txBody>
      </p:sp>
      <p:sp>
        <p:nvSpPr>
          <p:cNvPr id="14" name="Shape 12"/>
          <p:cNvSpPr/>
          <p:nvPr/>
        </p:nvSpPr>
        <p:spPr>
          <a:xfrm>
            <a:off x="640080" y="4023360"/>
            <a:ext cx="274320" cy="0"/>
          </a:xfrm>
          <a:prstGeom prst="line">
            <a:avLst/>
          </a:prstGeom>
          <a:noFill/>
          <a:ln w="15875">
            <a:solidFill>
              <a:schemeClr val="accent3"/>
            </a:solidFill>
            <a:prstDash val="solid"/>
          </a:ln>
        </p:spPr>
      </p:sp>
      <p:sp>
        <p:nvSpPr>
          <p:cNvPr id="15" name="rel-product_val_checks"/>
          <p:cNvSpPr/>
          <p:nvPr/>
        </p:nvSpPr>
        <p:spPr>
          <a:xfrm>
            <a:off x="914400" y="3703320"/>
            <a:ext cx="2743200" cy="640080"/>
          </a:xfrm>
          <a:prstGeom prst="roundRect">
            <a:avLst>
              <a:gd name="adj" fmla="val 8571"/>
            </a:avLst>
          </a:prstGeom>
          <a:solidFill>
            <a:schemeClr val="accent3">
              <a:alpha val="12000"/>
            </a:schemeClr>
          </a:solidFill>
          <a:ln w="15875">
            <a:solidFill>
              <a:schemeClr val="accent3"/>
            </a:solidFill>
            <a:prstDash val="solid"/>
          </a:ln>
        </p:spPr>
      </p:sp>
      <p:sp>
        <p:nvSpPr>
          <p:cNvPr id="16" name="Text 14"/>
          <p:cNvSpPr txBox="1"/>
          <p:nvPr/>
        </p:nvSpPr>
        <p:spPr>
          <a:xfrm>
            <a:off x="1005840" y="3703320"/>
            <a:ext cx="256032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3"/>
                </a:solidFill>
                <a:latin typeface="Courier New" pitchFamily="34" charset="0"/>
                <a:ea typeface="Courier New" pitchFamily="34" charset="-122"/>
                <a:cs typeface="Courier New" pitchFamily="34" charset="-120"/>
              </a:rPr>
              <a:t>product_val_checks</a:t>
            </a:r>
            <a:endParaRPr lang="en-US" sz="1400" dirty="0"/>
          </a:p>
          <a:p>
            <a:pPr indent="0" marL="0">
              <a:spcAft>
                <a:spcPts val="200"/>
              </a:spcAft>
              <a:buNone/>
            </a:pPr>
            <a:r>
              <a:rPr lang="en-US" sz="1100" dirty="0">
                <a:solidFill>
                  <a:schemeClr val="tx1"/>
                </a:solidFill>
              </a:rPr>
              <a:t>reusable checks</a:t>
            </a:r>
            <a:endParaRPr lang="en-US" sz="1400" dirty="0"/>
          </a:p>
        </p:txBody>
      </p:sp>
      <p:sp>
        <p:nvSpPr>
          <p:cNvPr id="17" name="Shape 15"/>
          <p:cNvSpPr/>
          <p:nvPr/>
        </p:nvSpPr>
        <p:spPr>
          <a:xfrm>
            <a:off x="640080" y="4892040"/>
            <a:ext cx="274320" cy="0"/>
          </a:xfrm>
          <a:prstGeom prst="line">
            <a:avLst/>
          </a:prstGeom>
          <a:noFill/>
          <a:ln w="15875">
            <a:solidFill>
              <a:schemeClr val="accent3"/>
            </a:solidFill>
            <a:prstDash val="solid"/>
          </a:ln>
        </p:spPr>
      </p:sp>
      <p:sp>
        <p:nvSpPr>
          <p:cNvPr id="18" name="rel-product_val_logic"/>
          <p:cNvSpPr/>
          <p:nvPr/>
        </p:nvSpPr>
        <p:spPr>
          <a:xfrm>
            <a:off x="914400" y="4572000"/>
            <a:ext cx="2743200" cy="640080"/>
          </a:xfrm>
          <a:prstGeom prst="roundRect">
            <a:avLst>
              <a:gd name="adj" fmla="val 8571"/>
            </a:avLst>
          </a:prstGeom>
          <a:solidFill>
            <a:schemeClr val="accent3">
              <a:alpha val="12000"/>
            </a:schemeClr>
          </a:solidFill>
          <a:ln w="15875">
            <a:solidFill>
              <a:schemeClr val="accent3"/>
            </a:solidFill>
            <a:prstDash val="solid"/>
          </a:ln>
        </p:spPr>
      </p:sp>
      <p:sp>
        <p:nvSpPr>
          <p:cNvPr id="19" name="Text 17"/>
          <p:cNvSpPr txBox="1"/>
          <p:nvPr/>
        </p:nvSpPr>
        <p:spPr>
          <a:xfrm>
            <a:off x="1005840" y="4572000"/>
            <a:ext cx="256032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3"/>
                </a:solidFill>
                <a:latin typeface="Courier New" pitchFamily="34" charset="0"/>
                <a:ea typeface="Courier New" pitchFamily="34" charset="-122"/>
                <a:cs typeface="Courier New" pitchFamily="34" charset="-120"/>
              </a:rPr>
              <a:t>product_val_logic</a:t>
            </a:r>
            <a:endParaRPr lang="en-US" sz="1400" dirty="0"/>
          </a:p>
          <a:p>
            <a:pPr indent="0" marL="0">
              <a:spcAft>
                <a:spcPts val="200"/>
              </a:spcAft>
              <a:buNone/>
            </a:pPr>
            <a:r>
              <a:rPr lang="en-US" sz="1100" dirty="0">
                <a:solidFill>
                  <a:schemeClr val="tx1"/>
                </a:solidFill>
              </a:rPr>
              <a:t>IF / THEN / ELSE of checks</a:t>
            </a:r>
            <a:endParaRPr lang="en-US" sz="1400" dirty="0"/>
          </a:p>
        </p:txBody>
      </p:sp>
      <p:sp>
        <p:nvSpPr>
          <p:cNvPr id="20" name="rel-product_history"/>
          <p:cNvSpPr/>
          <p:nvPr/>
        </p:nvSpPr>
        <p:spPr>
          <a:xfrm>
            <a:off x="4617720" y="1965960"/>
            <a:ext cx="2743200" cy="640080"/>
          </a:xfrm>
          <a:prstGeom prst="roundRect">
            <a:avLst>
              <a:gd name="adj" fmla="val 8571"/>
            </a:avLst>
          </a:prstGeom>
          <a:solidFill>
            <a:schemeClr val="accent1">
              <a:alpha val="12000"/>
            </a:schemeClr>
          </a:solidFill>
          <a:ln w="15875">
            <a:solidFill>
              <a:schemeClr val="accent1"/>
            </a:solidFill>
            <a:prstDash val="solid"/>
          </a:ln>
        </p:spPr>
      </p:sp>
      <p:sp>
        <p:nvSpPr>
          <p:cNvPr id="21" name="Text 19"/>
          <p:cNvSpPr txBox="1"/>
          <p:nvPr/>
        </p:nvSpPr>
        <p:spPr>
          <a:xfrm>
            <a:off x="4709160" y="1965960"/>
            <a:ext cx="256032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1"/>
                </a:solidFill>
                <a:latin typeface="Courier New" pitchFamily="34" charset="0"/>
                <a:ea typeface="Courier New" pitchFamily="34" charset="-122"/>
                <a:cs typeface="Courier New" pitchFamily="34" charset="-120"/>
              </a:rPr>
              <a:t>product_history</a:t>
            </a:r>
            <a:endParaRPr lang="en-US" sz="1400" dirty="0"/>
          </a:p>
          <a:p>
            <a:pPr indent="0" marL="0">
              <a:spcAft>
                <a:spcPts val="200"/>
              </a:spcAft>
              <a:buNone/>
            </a:pPr>
            <a:r>
              <a:rPr lang="en-US" sz="1100" dirty="0">
                <a:solidFill>
                  <a:schemeClr val="tx1"/>
                </a:solidFill>
              </a:rPr>
              <a:t>every posting</a:t>
            </a:r>
            <a:endParaRPr lang="en-US" sz="1400" dirty="0"/>
          </a:p>
        </p:txBody>
      </p:sp>
      <p:sp>
        <p:nvSpPr>
          <p:cNvPr id="22" name="rel-product_latest"/>
          <p:cNvSpPr/>
          <p:nvPr/>
        </p:nvSpPr>
        <p:spPr>
          <a:xfrm>
            <a:off x="4617720" y="3291840"/>
            <a:ext cx="2743200" cy="640080"/>
          </a:xfrm>
          <a:prstGeom prst="roundRect">
            <a:avLst>
              <a:gd name="adj" fmla="val 8571"/>
            </a:avLst>
          </a:prstGeom>
          <a:solidFill>
            <a:schemeClr val="accent1">
              <a:alpha val="12000"/>
            </a:schemeClr>
          </a:solidFill>
          <a:ln w="15875">
            <a:solidFill>
              <a:schemeClr val="accent1"/>
            </a:solidFill>
            <a:prstDash val="solid"/>
          </a:ln>
        </p:spPr>
      </p:sp>
      <p:sp>
        <p:nvSpPr>
          <p:cNvPr id="23" name="Text 21"/>
          <p:cNvSpPr txBox="1"/>
          <p:nvPr/>
        </p:nvSpPr>
        <p:spPr>
          <a:xfrm>
            <a:off x="4709160" y="3291840"/>
            <a:ext cx="256032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1"/>
                </a:solidFill>
                <a:latin typeface="Courier New" pitchFamily="34" charset="0"/>
                <a:ea typeface="Courier New" pitchFamily="34" charset="-122"/>
                <a:cs typeface="Courier New" pitchFamily="34" charset="-120"/>
              </a:rPr>
              <a:t>product_latest</a:t>
            </a:r>
            <a:endParaRPr lang="en-US" sz="1400" dirty="0"/>
          </a:p>
          <a:p>
            <a:pPr indent="0" marL="0">
              <a:spcAft>
                <a:spcPts val="200"/>
              </a:spcAft>
              <a:buNone/>
            </a:pPr>
            <a:r>
              <a:rPr lang="en-US" sz="1100" dirty="0">
                <a:solidFill>
                  <a:schemeClr val="tx1"/>
                </a:solidFill>
              </a:rPr>
              <a:t>newest per product; parent_product_key links levels</a:t>
            </a:r>
            <a:endParaRPr lang="en-US" sz="1400" dirty="0"/>
          </a:p>
        </p:txBody>
      </p:sp>
      <p:sp>
        <p:nvSpPr>
          <p:cNvPr id="24" name="rel-product_validation_results"/>
          <p:cNvSpPr/>
          <p:nvPr/>
        </p:nvSpPr>
        <p:spPr>
          <a:xfrm>
            <a:off x="4617720" y="4617720"/>
            <a:ext cx="2743200" cy="640080"/>
          </a:xfrm>
          <a:prstGeom prst="roundRect">
            <a:avLst>
              <a:gd name="adj" fmla="val 8571"/>
            </a:avLst>
          </a:prstGeom>
          <a:solidFill>
            <a:schemeClr val="accent4">
              <a:alpha val="12000"/>
            </a:schemeClr>
          </a:solidFill>
          <a:ln w="15875">
            <a:solidFill>
              <a:schemeClr val="accent4"/>
            </a:solidFill>
            <a:prstDash val="solid"/>
          </a:ln>
        </p:spPr>
      </p:sp>
      <p:sp>
        <p:nvSpPr>
          <p:cNvPr id="25" name="Text 23"/>
          <p:cNvSpPr txBox="1"/>
          <p:nvPr/>
        </p:nvSpPr>
        <p:spPr>
          <a:xfrm>
            <a:off x="4709160" y="4617720"/>
            <a:ext cx="256032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4"/>
                </a:solidFill>
                <a:latin typeface="Courier New" pitchFamily="34" charset="0"/>
                <a:ea typeface="Courier New" pitchFamily="34" charset="-122"/>
                <a:cs typeface="Courier New" pitchFamily="34" charset="-120"/>
              </a:rPr>
              <a:t>product_validation_results</a:t>
            </a:r>
            <a:endParaRPr lang="en-US" sz="1400" dirty="0"/>
          </a:p>
          <a:p>
            <a:pPr indent="0" marL="0">
              <a:spcAft>
                <a:spcPts val="200"/>
              </a:spcAft>
              <a:buNone/>
            </a:pPr>
            <a:r>
              <a:rPr lang="en-US" sz="1100" dirty="0">
                <a:solidFill>
                  <a:schemeClr val="tx1"/>
                </a:solidFill>
              </a:rPr>
              <a:t>every outcome (product_id, rule_id)</a:t>
            </a:r>
            <a:endParaRPr lang="en-US" sz="1400" dirty="0"/>
          </a:p>
        </p:txBody>
      </p:sp>
      <p:sp>
        <p:nvSpPr>
          <p:cNvPr id="26" name="Shape 24"/>
          <p:cNvSpPr/>
          <p:nvPr/>
        </p:nvSpPr>
        <p:spPr>
          <a:xfrm>
            <a:off x="5989320" y="2606040"/>
            <a:ext cx="0" cy="685800"/>
          </a:xfrm>
          <a:prstGeom prst="line">
            <a:avLst/>
          </a:prstGeom>
          <a:noFill/>
          <a:ln w="15875">
            <a:solidFill>
              <a:schemeClr val="accent5"/>
            </a:solidFill>
            <a:prstDash val="solid"/>
          </a:ln>
        </p:spPr>
      </p:sp>
      <p:sp>
        <p:nvSpPr>
          <p:cNvPr id="27" name="Text 25"/>
          <p:cNvSpPr txBox="1"/>
          <p:nvPr/>
        </p:nvSpPr>
        <p:spPr>
          <a:xfrm>
            <a:off x="6080760" y="2807208"/>
            <a:ext cx="1188720" cy="27432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product_hash</a:t>
            </a:r>
            <a:endParaRPr lang="en-US" sz="1000" dirty="0"/>
          </a:p>
        </p:txBody>
      </p:sp>
      <p:sp>
        <p:nvSpPr>
          <p:cNvPr id="28" name="Shape 26"/>
          <p:cNvSpPr/>
          <p:nvPr/>
        </p:nvSpPr>
        <p:spPr>
          <a:xfrm>
            <a:off x="5989320" y="3931920"/>
            <a:ext cx="0" cy="685800"/>
          </a:xfrm>
          <a:prstGeom prst="line">
            <a:avLst/>
          </a:prstGeom>
          <a:noFill/>
          <a:ln w="15875">
            <a:solidFill>
              <a:schemeClr val="accent5"/>
            </a:solidFill>
            <a:prstDash val="solid"/>
          </a:ln>
        </p:spPr>
      </p:sp>
      <p:sp>
        <p:nvSpPr>
          <p:cNvPr id="29" name="Text 27"/>
          <p:cNvSpPr txBox="1"/>
          <p:nvPr/>
        </p:nvSpPr>
        <p:spPr>
          <a:xfrm>
            <a:off x="6080760" y="4133088"/>
            <a:ext cx="1188720" cy="274320"/>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product_hash</a:t>
            </a:r>
            <a:endParaRPr lang="en-US" sz="1000" dirty="0"/>
          </a:p>
        </p:txBody>
      </p:sp>
      <p:sp>
        <p:nvSpPr>
          <p:cNvPr id="30" name="Shape 28"/>
          <p:cNvSpPr/>
          <p:nvPr/>
        </p:nvSpPr>
        <p:spPr>
          <a:xfrm>
            <a:off x="3657600" y="2286000"/>
            <a:ext cx="548640" cy="0"/>
          </a:xfrm>
          <a:prstGeom prst="line">
            <a:avLst/>
          </a:prstGeom>
          <a:noFill/>
          <a:ln w="15875">
            <a:solidFill>
              <a:schemeClr val="accent3"/>
            </a:solidFill>
            <a:prstDash val="solid"/>
          </a:ln>
        </p:spPr>
      </p:sp>
      <p:sp>
        <p:nvSpPr>
          <p:cNvPr id="31" name="Shape 29"/>
          <p:cNvSpPr/>
          <p:nvPr/>
        </p:nvSpPr>
        <p:spPr>
          <a:xfrm>
            <a:off x="4206240" y="2286000"/>
            <a:ext cx="0" cy="2651760"/>
          </a:xfrm>
          <a:prstGeom prst="line">
            <a:avLst/>
          </a:prstGeom>
          <a:noFill/>
          <a:ln w="15875">
            <a:solidFill>
              <a:schemeClr val="accent3"/>
            </a:solidFill>
            <a:prstDash val="solid"/>
          </a:ln>
        </p:spPr>
      </p:sp>
      <p:sp>
        <p:nvSpPr>
          <p:cNvPr id="32" name="Shape 30"/>
          <p:cNvSpPr/>
          <p:nvPr/>
        </p:nvSpPr>
        <p:spPr>
          <a:xfrm>
            <a:off x="4206240" y="4937760"/>
            <a:ext cx="411480" cy="0"/>
          </a:xfrm>
          <a:prstGeom prst="line">
            <a:avLst/>
          </a:prstGeom>
          <a:noFill/>
          <a:ln w="15875">
            <a:solidFill>
              <a:schemeClr val="accent3"/>
            </a:solidFill>
            <a:prstDash val="solid"/>
          </a:ln>
        </p:spPr>
      </p:sp>
      <p:sp>
        <p:nvSpPr>
          <p:cNvPr id="33" name="Text 31"/>
          <p:cNvSpPr txBox="1"/>
          <p:nvPr/>
        </p:nvSpPr>
        <p:spPr>
          <a:xfrm>
            <a:off x="3685032" y="1984248"/>
            <a:ext cx="640080" cy="256032"/>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rule_id</a:t>
            </a:r>
            <a:endParaRPr lang="en-US" sz="1000" dirty="0"/>
          </a:p>
        </p:txBody>
      </p:sp>
      <p:sp>
        <p:nvSpPr>
          <p:cNvPr id="34" name="Shape 32"/>
          <p:cNvSpPr/>
          <p:nvPr/>
        </p:nvSpPr>
        <p:spPr>
          <a:xfrm>
            <a:off x="7360920" y="3611880"/>
            <a:ext cx="1097280" cy="0"/>
          </a:xfrm>
          <a:prstGeom prst="line">
            <a:avLst/>
          </a:prstGeom>
          <a:noFill/>
          <a:ln w="15875">
            <a:solidFill>
              <a:schemeClr val="accent5"/>
            </a:solidFill>
            <a:prstDash val="solid"/>
          </a:ln>
        </p:spPr>
      </p:sp>
      <p:sp>
        <p:nvSpPr>
          <p:cNvPr id="35" name="Text 33"/>
          <p:cNvSpPr txBox="1"/>
          <p:nvPr/>
        </p:nvSpPr>
        <p:spPr>
          <a:xfrm>
            <a:off x="7434072" y="3310128"/>
            <a:ext cx="960120" cy="256032"/>
          </a:xfrm>
          <a:prstGeom prst="rect">
            <a:avLst/>
          </a:prstGeom>
          <a:noFill/>
          <a:ln/>
        </p:spPr>
        <p:txBody>
          <a:bodyPr wrap="square" lIns="0" tIns="0" rIns="0" bIns="0" rtlCol="0" anchor="ctr"/>
          <a:lstStyle/>
          <a:p>
            <a:pPr indent="0" marL="0">
              <a:buNone/>
            </a:pPr>
            <a:r>
              <a:rPr lang="en-US" sz="1000" dirty="0">
                <a:solidFill>
                  <a:schemeClr val="accent5"/>
                </a:solidFill>
                <a:latin typeface="Courier New" pitchFamily="34" charset="0"/>
                <a:ea typeface="Courier New" pitchFamily="34" charset="-122"/>
                <a:cs typeface="Courier New" pitchFamily="34" charset="-120"/>
              </a:rPr>
              <a:t>product_hash</a:t>
            </a:r>
            <a:endParaRPr lang="en-US" sz="1000" dirty="0"/>
          </a:p>
        </p:txBody>
      </p:sp>
      <p:sp>
        <p:nvSpPr>
          <p:cNvPr id="36" name="Shape 34"/>
          <p:cNvSpPr/>
          <p:nvPr/>
        </p:nvSpPr>
        <p:spPr>
          <a:xfrm>
            <a:off x="8458200" y="2286000"/>
            <a:ext cx="0" cy="3291840"/>
          </a:xfrm>
          <a:prstGeom prst="line">
            <a:avLst/>
          </a:prstGeom>
          <a:noFill/>
          <a:ln w="15875">
            <a:solidFill>
              <a:schemeClr val="accent5"/>
            </a:solidFill>
            <a:prstDash val="solid"/>
          </a:ln>
        </p:spPr>
      </p:sp>
      <p:sp>
        <p:nvSpPr>
          <p:cNvPr id="37" name="Shape 35"/>
          <p:cNvSpPr/>
          <p:nvPr/>
        </p:nvSpPr>
        <p:spPr>
          <a:xfrm>
            <a:off x="8458200" y="2286000"/>
            <a:ext cx="365760" cy="0"/>
          </a:xfrm>
          <a:prstGeom prst="line">
            <a:avLst/>
          </a:prstGeom>
          <a:noFill/>
          <a:ln w="15875">
            <a:solidFill>
              <a:schemeClr val="accent5"/>
            </a:solidFill>
            <a:prstDash val="solid"/>
          </a:ln>
        </p:spPr>
      </p:sp>
      <p:sp>
        <p:nvSpPr>
          <p:cNvPr id="38" name="rel-product_alternate_key"/>
          <p:cNvSpPr/>
          <p:nvPr/>
        </p:nvSpPr>
        <p:spPr>
          <a:xfrm>
            <a:off x="8823960" y="1965960"/>
            <a:ext cx="2834640" cy="640080"/>
          </a:xfrm>
          <a:prstGeom prst="roundRect">
            <a:avLst>
              <a:gd name="adj" fmla="val 8571"/>
            </a:avLst>
          </a:prstGeom>
          <a:solidFill>
            <a:schemeClr val="accent2">
              <a:alpha val="12000"/>
            </a:schemeClr>
          </a:solidFill>
          <a:ln w="15875">
            <a:solidFill>
              <a:schemeClr val="accent2"/>
            </a:solidFill>
            <a:prstDash val="solid"/>
          </a:ln>
        </p:spPr>
      </p:sp>
      <p:sp>
        <p:nvSpPr>
          <p:cNvPr id="39" name="Text 37"/>
          <p:cNvSpPr txBox="1"/>
          <p:nvPr/>
        </p:nvSpPr>
        <p:spPr>
          <a:xfrm>
            <a:off x="8915400" y="1965960"/>
            <a:ext cx="265176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2"/>
                </a:solidFill>
                <a:latin typeface="Courier New" pitchFamily="34" charset="0"/>
                <a:ea typeface="Courier New" pitchFamily="34" charset="-122"/>
                <a:cs typeface="Courier New" pitchFamily="34" charset="-120"/>
              </a:rPr>
              <a:t>product_alternate_key</a:t>
            </a:r>
            <a:endParaRPr lang="en-US" sz="1400" dirty="0"/>
          </a:p>
          <a:p>
            <a:pPr indent="0" marL="0">
              <a:spcAft>
                <a:spcPts val="200"/>
              </a:spcAft>
              <a:buNone/>
            </a:pPr>
            <a:r>
              <a:rPr lang="en-US" sz="1100" dirty="0">
                <a:solidFill>
                  <a:schemeClr val="tx1"/>
                </a:solidFill>
              </a:rPr>
              <a:t>AlternateProductKeys[]</a:t>
            </a:r>
            <a:endParaRPr lang="en-US" sz="1400" dirty="0"/>
          </a:p>
        </p:txBody>
      </p:sp>
      <p:sp>
        <p:nvSpPr>
          <p:cNvPr id="40" name="Shape 38"/>
          <p:cNvSpPr/>
          <p:nvPr/>
        </p:nvSpPr>
        <p:spPr>
          <a:xfrm>
            <a:off x="8458200" y="3108960"/>
            <a:ext cx="365760" cy="0"/>
          </a:xfrm>
          <a:prstGeom prst="line">
            <a:avLst/>
          </a:prstGeom>
          <a:noFill/>
          <a:ln w="15875">
            <a:solidFill>
              <a:schemeClr val="accent5"/>
            </a:solidFill>
            <a:prstDash val="solid"/>
          </a:ln>
        </p:spPr>
      </p:sp>
      <p:sp>
        <p:nvSpPr>
          <p:cNvPr id="41" name="rel-product_unit"/>
          <p:cNvSpPr/>
          <p:nvPr/>
        </p:nvSpPr>
        <p:spPr>
          <a:xfrm>
            <a:off x="8823960" y="2788920"/>
            <a:ext cx="2834640" cy="640080"/>
          </a:xfrm>
          <a:prstGeom prst="roundRect">
            <a:avLst>
              <a:gd name="adj" fmla="val 8571"/>
            </a:avLst>
          </a:prstGeom>
          <a:solidFill>
            <a:schemeClr val="accent2">
              <a:alpha val="12000"/>
            </a:schemeClr>
          </a:solidFill>
          <a:ln w="15875">
            <a:solidFill>
              <a:schemeClr val="accent2"/>
            </a:solidFill>
            <a:prstDash val="solid"/>
          </a:ln>
        </p:spPr>
      </p:sp>
      <p:sp>
        <p:nvSpPr>
          <p:cNvPr id="42" name="Text 40"/>
          <p:cNvSpPr txBox="1"/>
          <p:nvPr/>
        </p:nvSpPr>
        <p:spPr>
          <a:xfrm>
            <a:off x="8915400" y="2788920"/>
            <a:ext cx="265176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2"/>
                </a:solidFill>
                <a:latin typeface="Courier New" pitchFamily="34" charset="0"/>
                <a:ea typeface="Courier New" pitchFamily="34" charset="-122"/>
                <a:cs typeface="Courier New" pitchFamily="34" charset="-120"/>
              </a:rPr>
              <a:t>product_unit</a:t>
            </a:r>
            <a:endParaRPr lang="en-US" sz="1400" dirty="0"/>
          </a:p>
          <a:p>
            <a:pPr indent="0" marL="0">
              <a:spcAft>
                <a:spcPts val="200"/>
              </a:spcAft>
              <a:buNone/>
            </a:pPr>
            <a:r>
              <a:rPr lang="en-US" sz="1100" dirty="0">
                <a:solidFill>
                  <a:schemeClr val="tx1"/>
                </a:solidFill>
              </a:rPr>
              <a:t>Units[]</a:t>
            </a:r>
            <a:endParaRPr lang="en-US" sz="1400" dirty="0"/>
          </a:p>
        </p:txBody>
      </p:sp>
      <p:sp>
        <p:nvSpPr>
          <p:cNvPr id="43" name="Shape 41"/>
          <p:cNvSpPr/>
          <p:nvPr/>
        </p:nvSpPr>
        <p:spPr>
          <a:xfrm>
            <a:off x="8458200" y="3931920"/>
            <a:ext cx="365760" cy="0"/>
          </a:xfrm>
          <a:prstGeom prst="line">
            <a:avLst/>
          </a:prstGeom>
          <a:noFill/>
          <a:ln w="15875">
            <a:solidFill>
              <a:schemeClr val="accent5"/>
            </a:solidFill>
            <a:prstDash val="solid"/>
          </a:ln>
        </p:spPr>
      </p:sp>
      <p:sp>
        <p:nvSpPr>
          <p:cNvPr id="44" name="rel-product_property"/>
          <p:cNvSpPr/>
          <p:nvPr/>
        </p:nvSpPr>
        <p:spPr>
          <a:xfrm>
            <a:off x="8823960" y="3611880"/>
            <a:ext cx="2834640" cy="640080"/>
          </a:xfrm>
          <a:prstGeom prst="roundRect">
            <a:avLst>
              <a:gd name="adj" fmla="val 8571"/>
            </a:avLst>
          </a:prstGeom>
          <a:solidFill>
            <a:schemeClr val="accent2">
              <a:alpha val="12000"/>
            </a:schemeClr>
          </a:solidFill>
          <a:ln w="15875">
            <a:solidFill>
              <a:schemeClr val="accent2"/>
            </a:solidFill>
            <a:prstDash val="solid"/>
          </a:ln>
        </p:spPr>
      </p:sp>
      <p:sp>
        <p:nvSpPr>
          <p:cNvPr id="45" name="Text 43"/>
          <p:cNvSpPr txBox="1"/>
          <p:nvPr/>
        </p:nvSpPr>
        <p:spPr>
          <a:xfrm>
            <a:off x="8915400" y="3611880"/>
            <a:ext cx="265176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2"/>
                </a:solidFill>
                <a:latin typeface="Courier New" pitchFamily="34" charset="0"/>
                <a:ea typeface="Courier New" pitchFamily="34" charset="-122"/>
                <a:cs typeface="Courier New" pitchFamily="34" charset="-120"/>
              </a:rPr>
              <a:t>product_property</a:t>
            </a:r>
            <a:endParaRPr lang="en-US" sz="1400" dirty="0"/>
          </a:p>
          <a:p>
            <a:pPr indent="0" marL="0">
              <a:spcAft>
                <a:spcPts val="200"/>
              </a:spcAft>
              <a:buNone/>
            </a:pPr>
            <a:r>
              <a:rPr lang="en-US" sz="1100" dirty="0">
                <a:solidFill>
                  <a:schemeClr val="tx1"/>
                </a:solidFill>
              </a:rPr>
              <a:t>ProductProperties + ...DefinitionProperties</a:t>
            </a:r>
            <a:endParaRPr lang="en-US" sz="1400" dirty="0"/>
          </a:p>
        </p:txBody>
      </p:sp>
      <p:sp>
        <p:nvSpPr>
          <p:cNvPr id="46" name="Shape 44"/>
          <p:cNvSpPr/>
          <p:nvPr/>
        </p:nvSpPr>
        <p:spPr>
          <a:xfrm>
            <a:off x="8458200" y="4754880"/>
            <a:ext cx="365760" cy="0"/>
          </a:xfrm>
          <a:prstGeom prst="line">
            <a:avLst/>
          </a:prstGeom>
          <a:noFill/>
          <a:ln w="15875">
            <a:solidFill>
              <a:schemeClr val="accent5"/>
            </a:solidFill>
            <a:prstDash val="solid"/>
          </a:ln>
        </p:spPr>
      </p:sp>
      <p:sp>
        <p:nvSpPr>
          <p:cNvPr id="47" name="rel-product_latest_validation_rules"/>
          <p:cNvSpPr/>
          <p:nvPr/>
        </p:nvSpPr>
        <p:spPr>
          <a:xfrm>
            <a:off x="8823960" y="4434840"/>
            <a:ext cx="2834640" cy="640080"/>
          </a:xfrm>
          <a:prstGeom prst="roundRect">
            <a:avLst>
              <a:gd name="adj" fmla="val 8571"/>
            </a:avLst>
          </a:prstGeom>
          <a:solidFill>
            <a:schemeClr val="accent4">
              <a:alpha val="12000"/>
            </a:schemeClr>
          </a:solidFill>
          <a:ln w="15875">
            <a:solidFill>
              <a:schemeClr val="accent4"/>
            </a:solidFill>
            <a:prstDash val="solid"/>
          </a:ln>
        </p:spPr>
      </p:sp>
      <p:sp>
        <p:nvSpPr>
          <p:cNvPr id="48" name="Text 46"/>
          <p:cNvSpPr txBox="1"/>
          <p:nvPr/>
        </p:nvSpPr>
        <p:spPr>
          <a:xfrm>
            <a:off x="8915400" y="4434840"/>
            <a:ext cx="265176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4"/>
                </a:solidFill>
                <a:latin typeface="Courier New" pitchFamily="34" charset="0"/>
                <a:ea typeface="Courier New" pitchFamily="34" charset="-122"/>
                <a:cs typeface="Courier New" pitchFamily="34" charset="-120"/>
              </a:rPr>
              <a:t>product_latest_validation_rules</a:t>
            </a:r>
            <a:endParaRPr lang="en-US" sz="1400" dirty="0"/>
          </a:p>
          <a:p>
            <a:pPr indent="0" marL="0">
              <a:spcAft>
                <a:spcPts val="200"/>
              </a:spcAft>
              <a:buNone/>
            </a:pPr>
            <a:r>
              <a:rPr lang="en-US" sz="1100" dirty="0">
                <a:solidFill>
                  <a:schemeClr val="tx1"/>
                </a:solidFill>
              </a:rPr>
              <a:t>latest run per product and rule</a:t>
            </a:r>
            <a:endParaRPr lang="en-US" sz="1400" dirty="0"/>
          </a:p>
        </p:txBody>
      </p:sp>
      <p:sp>
        <p:nvSpPr>
          <p:cNvPr id="49" name="Shape 47"/>
          <p:cNvSpPr/>
          <p:nvPr/>
        </p:nvSpPr>
        <p:spPr>
          <a:xfrm>
            <a:off x="8458200" y="5577840"/>
            <a:ext cx="365760" cy="0"/>
          </a:xfrm>
          <a:prstGeom prst="line">
            <a:avLst/>
          </a:prstGeom>
          <a:noFill/>
          <a:ln w="15875">
            <a:solidFill>
              <a:schemeClr val="accent5"/>
            </a:solidFill>
            <a:prstDash val="solid"/>
          </a:ln>
        </p:spPr>
      </p:sp>
      <p:sp>
        <p:nvSpPr>
          <p:cNvPr id="50" name="rel-product_validation_summary"/>
          <p:cNvSpPr/>
          <p:nvPr/>
        </p:nvSpPr>
        <p:spPr>
          <a:xfrm>
            <a:off x="8823960" y="5257800"/>
            <a:ext cx="2834640" cy="640080"/>
          </a:xfrm>
          <a:prstGeom prst="roundRect">
            <a:avLst>
              <a:gd name="adj" fmla="val 8571"/>
            </a:avLst>
          </a:prstGeom>
          <a:solidFill>
            <a:schemeClr val="accent4">
              <a:alpha val="12000"/>
            </a:schemeClr>
          </a:solidFill>
          <a:ln w="15875">
            <a:solidFill>
              <a:schemeClr val="accent4"/>
            </a:solidFill>
            <a:prstDash val="solid"/>
          </a:ln>
        </p:spPr>
      </p:sp>
      <p:sp>
        <p:nvSpPr>
          <p:cNvPr id="51" name="Text 49"/>
          <p:cNvSpPr txBox="1"/>
          <p:nvPr/>
        </p:nvSpPr>
        <p:spPr>
          <a:xfrm>
            <a:off x="8915400" y="5257800"/>
            <a:ext cx="2651760" cy="640080"/>
          </a:xfrm>
          <a:prstGeom prst="rect">
            <a:avLst/>
          </a:prstGeom>
          <a:noFill/>
          <a:ln/>
        </p:spPr>
        <p:txBody>
          <a:bodyPr wrap="square" lIns="0" tIns="0" rIns="0" bIns="0" rtlCol="0" anchor="ctr"/>
          <a:lstStyle/>
          <a:p>
            <a:pPr indent="0" marL="0">
              <a:spcAft>
                <a:spcPts val="200"/>
              </a:spcAft>
              <a:buNone/>
            </a:pPr>
            <a:r>
              <a:rPr lang="en-US" sz="1100" b="1" dirty="0">
                <a:solidFill>
                  <a:schemeClr val="accent4"/>
                </a:solidFill>
                <a:latin typeface="Courier New" pitchFamily="34" charset="0"/>
                <a:ea typeface="Courier New" pitchFamily="34" charset="-122"/>
                <a:cs typeface="Courier New" pitchFamily="34" charset="-120"/>
              </a:rPr>
              <a:t>product_validation_summary</a:t>
            </a:r>
            <a:endParaRPr lang="en-US" sz="1400" dirty="0"/>
          </a:p>
          <a:p>
            <a:pPr indent="0" marL="0">
              <a:spcAft>
                <a:spcPts val="200"/>
              </a:spcAft>
              <a:buNone/>
            </a:pPr>
            <a:r>
              <a:rPr lang="en-US" sz="1100" dirty="0">
                <a:solidFill>
                  <a:schemeClr val="tx1"/>
                </a:solidFill>
              </a:rPr>
              <a:t>one row per product</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One file becomes three products</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Every level of the packaging hierarchy in product.json has its own PrimaryProductKey, so each level is stored as a row</a:t>
            </a:r>
            <a:endParaRPr lang="en-US" sz="1600" dirty="0"/>
          </a:p>
        </p:txBody>
      </p:sp>
      <p:sp>
        <p:nvSpPr>
          <p:cNvPr id="4" name="level-0"/>
          <p:cNvSpPr/>
          <p:nvPr/>
        </p:nvSpPr>
        <p:spPr>
          <a:xfrm>
            <a:off x="502920" y="1828800"/>
            <a:ext cx="3291840" cy="640080"/>
          </a:xfrm>
          <a:prstGeom prst="roundRect">
            <a:avLst>
              <a:gd name="adj" fmla="val 8571"/>
            </a:avLst>
          </a:prstGeom>
          <a:solidFill>
            <a:schemeClr val="accent1">
              <a:alpha val="12000"/>
            </a:schemeClr>
          </a:solidFill>
          <a:ln w="15875">
            <a:solidFill>
              <a:schemeClr val="accent1"/>
            </a:solidFill>
            <a:prstDash val="solid"/>
          </a:ln>
        </p:spPr>
      </p:sp>
      <p:sp>
        <p:nvSpPr>
          <p:cNvPr id="5" name="Text 3"/>
          <p:cNvSpPr txBox="1"/>
          <p:nvPr/>
        </p:nvSpPr>
        <p:spPr>
          <a:xfrm>
            <a:off x="640080" y="1828800"/>
            <a:ext cx="3063240" cy="640080"/>
          </a:xfrm>
          <a:prstGeom prst="rect">
            <a:avLst/>
          </a:prstGeom>
          <a:noFill/>
          <a:ln/>
        </p:spPr>
        <p:txBody>
          <a:bodyPr wrap="square" lIns="0" tIns="0" rIns="0" bIns="0" rtlCol="0" anchor="ctr"/>
          <a:lstStyle/>
          <a:p>
            <a:pPr indent="0" marL="0">
              <a:buNone/>
            </a:pPr>
            <a:r>
              <a:rPr lang="en-US" sz="1500" b="1" dirty="0">
                <a:solidFill>
                  <a:schemeClr val="accent1"/>
                </a:solidFill>
              </a:rPr>
              <a:t>Shipping Case</a:t>
            </a:r>
            <a:pPr indent="0" marL="0">
              <a:buNone/>
            </a:pPr>
            <a:r>
              <a:rPr lang="en-US" sz="1100" dirty="0">
                <a:solidFill>
                  <a:schemeClr val="tx1"/>
                </a:solidFill>
                <a:latin typeface="Courier New" pitchFamily="34" charset="0"/>
                <a:ea typeface="Courier New" pitchFamily="34" charset="-122"/>
                <a:cs typeface="Courier New" pitchFamily="34" charset="-120"/>
              </a:rPr>
              <a:t>   …FA003115.00.3</a:t>
            </a:r>
            <a:endParaRPr lang="en-US" sz="1400" dirty="0"/>
          </a:p>
        </p:txBody>
      </p:sp>
      <p:sp>
        <p:nvSpPr>
          <p:cNvPr id="6" name="Shape 4"/>
          <p:cNvSpPr/>
          <p:nvPr/>
        </p:nvSpPr>
        <p:spPr>
          <a:xfrm>
            <a:off x="777240" y="2606040"/>
            <a:ext cx="0" cy="731520"/>
          </a:xfrm>
          <a:prstGeom prst="line">
            <a:avLst/>
          </a:prstGeom>
          <a:noFill/>
          <a:ln w="15875">
            <a:solidFill>
              <a:schemeClr val="accent1"/>
            </a:solidFill>
            <a:prstDash val="solid"/>
          </a:ln>
        </p:spPr>
      </p:sp>
      <p:sp>
        <p:nvSpPr>
          <p:cNvPr id="7" name="Shape 5"/>
          <p:cNvSpPr/>
          <p:nvPr/>
        </p:nvSpPr>
        <p:spPr>
          <a:xfrm>
            <a:off x="777240" y="3337560"/>
            <a:ext cx="274320" cy="0"/>
          </a:xfrm>
          <a:prstGeom prst="line">
            <a:avLst/>
          </a:prstGeom>
          <a:noFill/>
          <a:ln w="15875">
            <a:solidFill>
              <a:schemeClr val="accent1"/>
            </a:solidFill>
            <a:prstDash val="solid"/>
          </a:ln>
        </p:spPr>
      </p:sp>
      <p:sp>
        <p:nvSpPr>
          <p:cNvPr id="8" name="Text 6"/>
          <p:cNvSpPr txBox="1"/>
          <p:nvPr/>
        </p:nvSpPr>
        <p:spPr>
          <a:xfrm>
            <a:off x="886968" y="2633472"/>
            <a:ext cx="1828800" cy="274320"/>
          </a:xfrm>
          <a:prstGeom prst="rect">
            <a:avLst/>
          </a:prstGeom>
          <a:noFill/>
          <a:ln/>
        </p:spPr>
        <p:txBody>
          <a:bodyPr wrap="square" lIns="0" tIns="0" rIns="0" bIns="0" rtlCol="0" anchor="ctr"/>
          <a:lstStyle/>
          <a:p>
            <a:pPr indent="0" marL="0">
              <a:buNone/>
            </a:pPr>
            <a:r>
              <a:rPr lang="en-US" sz="1200" i="1" dirty="0">
                <a:solidFill>
                  <a:schemeClr val="accent5"/>
                </a:solidFill>
              </a:rPr>
              <a:t>25 per case</a:t>
            </a:r>
            <a:endParaRPr lang="en-US" sz="1200" dirty="0"/>
          </a:p>
        </p:txBody>
      </p:sp>
      <p:sp>
        <p:nvSpPr>
          <p:cNvPr id="9" name="level-1"/>
          <p:cNvSpPr/>
          <p:nvPr/>
        </p:nvSpPr>
        <p:spPr>
          <a:xfrm>
            <a:off x="1051560" y="3017520"/>
            <a:ext cx="3291840" cy="640080"/>
          </a:xfrm>
          <a:prstGeom prst="roundRect">
            <a:avLst>
              <a:gd name="adj" fmla="val 8571"/>
            </a:avLst>
          </a:prstGeom>
          <a:solidFill>
            <a:schemeClr val="accent1">
              <a:alpha val="12000"/>
            </a:schemeClr>
          </a:solidFill>
          <a:ln w="15875">
            <a:solidFill>
              <a:schemeClr val="accent1"/>
            </a:solidFill>
            <a:prstDash val="solid"/>
          </a:ln>
        </p:spPr>
      </p:sp>
      <p:sp>
        <p:nvSpPr>
          <p:cNvPr id="10" name="Text 8"/>
          <p:cNvSpPr txBox="1"/>
          <p:nvPr/>
        </p:nvSpPr>
        <p:spPr>
          <a:xfrm>
            <a:off x="1188720" y="3017520"/>
            <a:ext cx="3063240" cy="640080"/>
          </a:xfrm>
          <a:prstGeom prst="rect">
            <a:avLst/>
          </a:prstGeom>
          <a:noFill/>
          <a:ln/>
        </p:spPr>
        <p:txBody>
          <a:bodyPr wrap="square" lIns="0" tIns="0" rIns="0" bIns="0" rtlCol="0" anchor="ctr"/>
          <a:lstStyle/>
          <a:p>
            <a:pPr indent="0" marL="0">
              <a:buNone/>
            </a:pPr>
            <a:r>
              <a:rPr lang="en-US" sz="1500" b="1" dirty="0">
                <a:solidFill>
                  <a:schemeClr val="accent1"/>
                </a:solidFill>
              </a:rPr>
              <a:t>Bundle</a:t>
            </a:r>
            <a:pPr indent="0" marL="0">
              <a:buNone/>
            </a:pPr>
            <a:r>
              <a:rPr lang="en-US" sz="1100" dirty="0">
                <a:solidFill>
                  <a:schemeClr val="tx1"/>
                </a:solidFill>
                <a:latin typeface="Courier New" pitchFamily="34" charset="0"/>
                <a:ea typeface="Courier New" pitchFamily="34" charset="-122"/>
                <a:cs typeface="Courier New" pitchFamily="34" charset="-120"/>
              </a:rPr>
              <a:t>   …FA003115.00.2</a:t>
            </a:r>
            <a:endParaRPr lang="en-US" sz="1400" dirty="0"/>
          </a:p>
        </p:txBody>
      </p:sp>
      <p:sp>
        <p:nvSpPr>
          <p:cNvPr id="11" name="Shape 9"/>
          <p:cNvSpPr/>
          <p:nvPr/>
        </p:nvSpPr>
        <p:spPr>
          <a:xfrm>
            <a:off x="1325880" y="3794760"/>
            <a:ext cx="0" cy="731520"/>
          </a:xfrm>
          <a:prstGeom prst="line">
            <a:avLst/>
          </a:prstGeom>
          <a:noFill/>
          <a:ln w="15875">
            <a:solidFill>
              <a:schemeClr val="accent1"/>
            </a:solidFill>
            <a:prstDash val="solid"/>
          </a:ln>
        </p:spPr>
      </p:sp>
      <p:sp>
        <p:nvSpPr>
          <p:cNvPr id="12" name="Shape 10"/>
          <p:cNvSpPr/>
          <p:nvPr/>
        </p:nvSpPr>
        <p:spPr>
          <a:xfrm>
            <a:off x="1325880" y="4526280"/>
            <a:ext cx="274320" cy="0"/>
          </a:xfrm>
          <a:prstGeom prst="line">
            <a:avLst/>
          </a:prstGeom>
          <a:noFill/>
          <a:ln w="15875">
            <a:solidFill>
              <a:schemeClr val="accent1"/>
            </a:solidFill>
            <a:prstDash val="solid"/>
          </a:ln>
        </p:spPr>
      </p:sp>
      <p:sp>
        <p:nvSpPr>
          <p:cNvPr id="13" name="Text 11"/>
          <p:cNvSpPr txBox="1"/>
          <p:nvPr/>
        </p:nvSpPr>
        <p:spPr>
          <a:xfrm>
            <a:off x="1435608" y="3822192"/>
            <a:ext cx="1828800" cy="274320"/>
          </a:xfrm>
          <a:prstGeom prst="rect">
            <a:avLst/>
          </a:prstGeom>
          <a:noFill/>
          <a:ln/>
        </p:spPr>
        <p:txBody>
          <a:bodyPr wrap="square" lIns="0" tIns="0" rIns="0" bIns="0" rtlCol="0" anchor="ctr"/>
          <a:lstStyle/>
          <a:p>
            <a:pPr indent="0" marL="0">
              <a:buNone/>
            </a:pPr>
            <a:r>
              <a:rPr lang="en-US" sz="1200" i="1" dirty="0">
                <a:solidFill>
                  <a:schemeClr val="accent5"/>
                </a:solidFill>
              </a:rPr>
              <a:t>10 per bundle</a:t>
            </a:r>
            <a:endParaRPr lang="en-US" sz="1200" dirty="0"/>
          </a:p>
        </p:txBody>
      </p:sp>
      <p:sp>
        <p:nvSpPr>
          <p:cNvPr id="14" name="level-2"/>
          <p:cNvSpPr/>
          <p:nvPr/>
        </p:nvSpPr>
        <p:spPr>
          <a:xfrm>
            <a:off x="1600200" y="4206240"/>
            <a:ext cx="3291840" cy="640080"/>
          </a:xfrm>
          <a:prstGeom prst="roundRect">
            <a:avLst>
              <a:gd name="adj" fmla="val 8571"/>
            </a:avLst>
          </a:prstGeom>
          <a:solidFill>
            <a:schemeClr val="accent1">
              <a:alpha val="12000"/>
            </a:schemeClr>
          </a:solidFill>
          <a:ln w="15875">
            <a:solidFill>
              <a:schemeClr val="accent1"/>
            </a:solidFill>
            <a:prstDash val="solid"/>
          </a:ln>
        </p:spPr>
      </p:sp>
      <p:sp>
        <p:nvSpPr>
          <p:cNvPr id="15" name="Text 13"/>
          <p:cNvSpPr txBox="1"/>
          <p:nvPr/>
        </p:nvSpPr>
        <p:spPr>
          <a:xfrm>
            <a:off x="1737360" y="4206240"/>
            <a:ext cx="3063240" cy="640080"/>
          </a:xfrm>
          <a:prstGeom prst="rect">
            <a:avLst/>
          </a:prstGeom>
          <a:noFill/>
          <a:ln/>
        </p:spPr>
        <p:txBody>
          <a:bodyPr wrap="square" lIns="0" tIns="0" rIns="0" bIns="0" rtlCol="0" anchor="ctr"/>
          <a:lstStyle/>
          <a:p>
            <a:pPr indent="0" marL="0">
              <a:buNone/>
            </a:pPr>
            <a:r>
              <a:rPr lang="en-US" sz="1500" b="1" dirty="0">
                <a:solidFill>
                  <a:schemeClr val="accent1"/>
                </a:solidFill>
              </a:rPr>
              <a:t>Pack</a:t>
            </a:r>
            <a:pPr indent="0" marL="0">
              <a:buNone/>
            </a:pPr>
            <a:r>
              <a:rPr lang="en-US" sz="1100" dirty="0">
                <a:solidFill>
                  <a:schemeClr val="tx1"/>
                </a:solidFill>
                <a:latin typeface="Courier New" pitchFamily="34" charset="0"/>
                <a:ea typeface="Courier New" pitchFamily="34" charset="-122"/>
                <a:cs typeface="Courier New" pitchFamily="34" charset="-120"/>
              </a:rPr>
              <a:t>   …FA003115.00.1</a:t>
            </a:r>
            <a:endParaRPr lang="en-US" sz="1400" dirty="0"/>
          </a:p>
        </p:txBody>
      </p:sp>
      <p:sp>
        <p:nvSpPr>
          <p:cNvPr id="16" name="Text 14"/>
          <p:cNvSpPr txBox="1"/>
          <p:nvPr/>
        </p:nvSpPr>
        <p:spPr>
          <a:xfrm>
            <a:off x="502920" y="5349240"/>
            <a:ext cx="4206240" cy="685800"/>
          </a:xfrm>
          <a:prstGeom prst="rect">
            <a:avLst/>
          </a:prstGeom>
          <a:noFill/>
          <a:ln/>
        </p:spPr>
        <p:txBody>
          <a:bodyPr wrap="square" lIns="0" tIns="0" rIns="0" bIns="0" rtlCol="0" anchor="t"/>
          <a:lstStyle/>
          <a:p>
            <a:pPr indent="0" marL="0">
              <a:buNone/>
            </a:pPr>
            <a:r>
              <a:rPr lang="en-US" sz="1300" dirty="0">
                <a:solidFill>
                  <a:schemeClr val="accent5"/>
                </a:solidFill>
              </a:rPr>
              <a:t>ChildProducts is not a column: each child becomes its own row, linked by parent_product_key.</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74920" y="1828800"/>
          <a:ext cx="6583680" cy="914400"/>
        </p:xfrm>
        <a:graphic>
          <a:graphicData uri="http://schemas.openxmlformats.org/drawingml/2006/table">
            <a:tbl>
              <a:tblPr/>
              <a:tblGrid>
                <a:gridCol w="411480"/>
                <a:gridCol w="1691640"/>
                <a:gridCol w="1691640"/>
                <a:gridCol w="594360"/>
                <a:gridCol w="777240"/>
                <a:gridCol w="1417320"/>
              </a:tblGrid>
              <a:tr h="365760">
                <a:tc>
                  <a:txBody>
                    <a:bodyPr/>
                    <a:lstStyle/>
                    <a:p>
                      <a:pPr indent="0" marL="0">
                        <a:buNone/>
                      </a:pPr>
                      <a:r>
                        <a:rPr lang="en-US" sz="1200" b="1" dirty="0">
                          <a:solidFill>
                            <a:schemeClr val="bg1"/>
                          </a:solidFill>
                        </a:rPr>
                        <a:t>id</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primary_product_key</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parent_product_key</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level</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quantity</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bg1"/>
                          </a:solidFill>
                        </a:rPr>
                        <a:t>product_type</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1"/>
                    </a:solidFill>
                  </a:tcPr>
                </a:tc>
              </a:tr>
              <a:tr h="365760">
                <a:tc>
                  <a:txBody>
                    <a:bodyPr/>
                    <a:lstStyle/>
                    <a:p>
                      <a:pPr indent="0" marL="0">
                        <a:buNone/>
                      </a:pPr>
                      <a:r>
                        <a:rPr lang="en-US" sz="1200" dirty="0">
                          <a:solidFill>
                            <a:schemeClr val="tx1"/>
                          </a:solidFill>
                        </a:rPr>
                        <a:t>1</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…FA003115.00.3</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i="1" dirty="0">
                          <a:solidFill>
                            <a:schemeClr val="accent5"/>
                          </a:solidFill>
                        </a:rPr>
                        <a:t>empty</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0</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i="1" dirty="0">
                          <a:solidFill>
                            <a:schemeClr val="accent5"/>
                          </a:solidFill>
                        </a:rPr>
                        <a:t>empty</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Shipping Case</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r>
              <a:tr h="365760">
                <a:tc>
                  <a:txBody>
                    <a:bodyPr/>
                    <a:lstStyle/>
                    <a:p>
                      <a:pPr indent="0" marL="0">
                        <a:buNone/>
                      </a:pPr>
                      <a:r>
                        <a:rPr lang="en-US" sz="1200" dirty="0">
                          <a:solidFill>
                            <a:schemeClr val="tx1"/>
                          </a:solidFill>
                        </a:rPr>
                        <a:t>2</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…FA003115.00.2</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…FA003115.00.3</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1</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25.0</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Bundle</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r>
              <a:tr h="365760">
                <a:tc>
                  <a:txBody>
                    <a:bodyPr/>
                    <a:lstStyle/>
                    <a:p>
                      <a:pPr indent="0" marL="0">
                        <a:buNone/>
                      </a:pPr>
                      <a:r>
                        <a:rPr lang="en-US" sz="1200" dirty="0">
                          <a:solidFill>
                            <a:schemeClr val="tx1"/>
                          </a:solidFill>
                        </a:rPr>
                        <a:t>3</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…FA003115.00.1</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…FA003115.00.2</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2</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10.0</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Pack</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r>
            </a:tbl>
          </a:graphicData>
        </a:graphic>
      </p:graphicFrame>
      <p:sp>
        <p:nvSpPr>
          <p:cNvPr id="18" name="Text 15"/>
          <p:cNvSpPr txBox="1"/>
          <p:nvPr/>
        </p:nvSpPr>
        <p:spPr>
          <a:xfrm>
            <a:off x="5074920" y="3657600"/>
            <a:ext cx="6583680" cy="320040"/>
          </a:xfrm>
          <a:prstGeom prst="rect">
            <a:avLst/>
          </a:prstGeom>
          <a:noFill/>
          <a:ln/>
        </p:spPr>
        <p:txBody>
          <a:bodyPr wrap="square" lIns="0" tIns="0" rIns="0" bIns="0" rtlCol="0" anchor="ctr"/>
          <a:lstStyle/>
          <a:p>
            <a:pPr indent="0" marL="0">
              <a:buNone/>
            </a:pPr>
            <a:r>
              <a:rPr lang="en-US" sz="1500" b="1" dirty="0">
                <a:solidFill>
                  <a:schemeClr val="accent2"/>
                </a:solidFill>
              </a:rPr>
              <a:t>The lists go to detail tables</a:t>
            </a:r>
            <a:endParaRPr lang="en-US" sz="15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074920" y="4069080"/>
          <a:ext cx="6583680" cy="914400"/>
        </p:xfrm>
        <a:graphic>
          <a:graphicData uri="http://schemas.openxmlformats.org/drawingml/2006/table">
            <a:tbl>
              <a:tblPr/>
              <a:tblGrid>
                <a:gridCol w="2834640"/>
                <a:gridCol w="2103120"/>
                <a:gridCol w="1645920"/>
              </a:tblGrid>
              <a:tr h="365760">
                <a:tc>
                  <a:txBody>
                    <a:bodyPr/>
                    <a:lstStyle/>
                    <a:p>
                      <a:pPr indent="0" marL="0">
                        <a:buNone/>
                      </a:pPr>
                      <a:r>
                        <a:rPr lang="en-US" sz="1200" b="1" dirty="0">
                          <a:solidFill>
                            <a:schemeClr val="bg1"/>
                          </a:solidFill>
                        </a:rPr>
                        <a:t>JSON list</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Table</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2"/>
                    </a:solidFill>
                  </a:tcPr>
                </a:tc>
                <a:tc>
                  <a:txBody>
                    <a:bodyPr/>
                    <a:lstStyle/>
                    <a:p>
                      <a:pPr indent="0" marL="0">
                        <a:buNone/>
                      </a:pPr>
                      <a:r>
                        <a:rPr lang="en-US" sz="1200" b="1" dirty="0">
                          <a:solidFill>
                            <a:schemeClr val="bg1"/>
                          </a:solidFill>
                        </a:rPr>
                        <a:t>Rows for product.json</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2"/>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AlternateProductKeys[]</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product_alternate_key</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7  (4 + 1 + 2)</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Units[]</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product_unit</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3  (1 per level)</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r>
              <a:tr h="365760">
                <a:tc>
                  <a:txBody>
                    <a:bodyPr/>
                    <a:lstStyle/>
                    <a:p>
                      <a:pPr indent="0" marL="0">
                        <a:buNone/>
                      </a:pPr>
                      <a:r>
                        <a:rPr lang="en-US" sz="1200" dirty="0">
                          <a:solidFill>
                            <a:schemeClr val="tx1"/>
                          </a:solidFill>
                        </a:rPr>
                        <a:t>ProductProperties + ProductDefinitionProperties</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product_property</a:t>
                      </a:r>
                      <a:endParaRPr lang="en-US" sz="1100" dirty="0">
                        <a:latin typeface="Courier New" charset="0"/>
                        <a:ea typeface="Courier New" charset="0"/>
                        <a:cs typeface="Courier New" charset="0"/>
                      </a:endParaRPr>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c>
                  <a:txBody>
                    <a:bodyPr/>
                    <a:lstStyle/>
                    <a:p>
                      <a:pPr indent="0" marL="0">
                        <a:buNone/>
                      </a:pPr>
                      <a:r>
                        <a:rPr lang="en-US" sz="1200" dirty="0">
                          <a:solidFill>
                            <a:schemeClr val="tx1"/>
                          </a:solidFill>
                        </a:rPr>
                        <a:t>27  (9 per level)</a:t>
                      </a:r>
                      <a:endParaRPr lang="en-US" sz="1200" dirty="0"/>
                    </a:p>
                  </a:txBody>
                  <a:tcPr marL="73152" marR="73152"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History keeps everything, latest keeps one row</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Both tables have the same 18 columns; they differ in what happens when a product is posted again</a:t>
            </a:r>
            <a:endParaRPr lang="en-US" sz="1600" dirty="0"/>
          </a:p>
        </p:txBody>
      </p:sp>
      <p:sp>
        <p:nvSpPr>
          <p:cNvPr id="4" name="compare-product_history"/>
          <p:cNvSpPr/>
          <p:nvPr/>
        </p:nvSpPr>
        <p:spPr>
          <a:xfrm>
            <a:off x="502920" y="1737360"/>
            <a:ext cx="5468112" cy="4297680"/>
          </a:xfrm>
          <a:prstGeom prst="roundRect">
            <a:avLst>
              <a:gd name="adj" fmla="val 1702"/>
            </a:avLst>
          </a:prstGeom>
          <a:solidFill>
            <a:schemeClr val="accent1">
              <a:alpha val="7000"/>
            </a:schemeClr>
          </a:solidFill>
          <a:ln w="9525">
            <a:solidFill>
              <a:srgbClr val="D3DCE1"/>
            </a:solidFill>
            <a:prstDash val="solid"/>
          </a:ln>
        </p:spPr>
      </p:sp>
      <p:sp>
        <p:nvSpPr>
          <p:cNvPr id="5" name="Text 3"/>
          <p:cNvSpPr txBox="1"/>
          <p:nvPr/>
        </p:nvSpPr>
        <p:spPr>
          <a:xfrm>
            <a:off x="822960" y="1965960"/>
            <a:ext cx="4846320" cy="411480"/>
          </a:xfrm>
          <a:prstGeom prst="rect">
            <a:avLst/>
          </a:prstGeom>
          <a:noFill/>
          <a:ln/>
        </p:spPr>
        <p:txBody>
          <a:bodyPr wrap="square" lIns="0" tIns="0" rIns="0" bIns="0" rtlCol="0" anchor="ctr"/>
          <a:lstStyle/>
          <a:p>
            <a:pPr indent="0" marL="0">
              <a:buNone/>
            </a:pPr>
            <a:r>
              <a:rPr lang="en-US" sz="2000" b="1" dirty="0">
                <a:solidFill>
                  <a:schemeClr val="accent1"/>
                </a:solidFill>
                <a:latin typeface="Courier New" pitchFamily="34" charset="0"/>
                <a:ea typeface="Courier New" pitchFamily="34" charset="-122"/>
                <a:cs typeface="Courier New" pitchFamily="34" charset="-120"/>
              </a:rPr>
              <a:t>product_history</a:t>
            </a:r>
            <a:endParaRPr lang="en-US" sz="2000" dirty="0"/>
          </a:p>
        </p:txBody>
      </p:sp>
      <p:sp>
        <p:nvSpPr>
          <p:cNvPr id="6" name="Text 4"/>
          <p:cNvSpPr txBox="1"/>
          <p:nvPr/>
        </p:nvSpPr>
        <p:spPr>
          <a:xfrm>
            <a:off x="822960" y="2514600"/>
            <a:ext cx="1463040" cy="1097280"/>
          </a:xfrm>
          <a:prstGeom prst="rect">
            <a:avLst/>
          </a:prstGeom>
          <a:noFill/>
          <a:ln/>
        </p:spPr>
        <p:txBody>
          <a:bodyPr wrap="square" lIns="0" tIns="0" rIns="0" bIns="0" rtlCol="0" anchor="ctr"/>
          <a:lstStyle/>
          <a:p>
            <a:pPr indent="0" marL="0">
              <a:buNone/>
            </a:pPr>
            <a:r>
              <a:rPr lang="en-US" sz="7200" b="1" dirty="0">
                <a:solidFill>
                  <a:schemeClr val="tx1"/>
                </a:solidFill>
                <a:latin typeface="Arial" pitchFamily="34" charset="0"/>
                <a:ea typeface="Arial" pitchFamily="34" charset="-122"/>
                <a:cs typeface="Arial" pitchFamily="34" charset="-120"/>
              </a:rPr>
              <a:t>18</a:t>
            </a:r>
            <a:endParaRPr lang="en-US" sz="7200" dirty="0"/>
          </a:p>
        </p:txBody>
      </p:sp>
      <p:sp>
        <p:nvSpPr>
          <p:cNvPr id="7" name="Text 5"/>
          <p:cNvSpPr txBox="1"/>
          <p:nvPr/>
        </p:nvSpPr>
        <p:spPr>
          <a:xfrm>
            <a:off x="822960" y="3611880"/>
            <a:ext cx="4846320" cy="320040"/>
          </a:xfrm>
          <a:prstGeom prst="rect">
            <a:avLst/>
          </a:prstGeom>
          <a:noFill/>
          <a:ln/>
        </p:spPr>
        <p:txBody>
          <a:bodyPr wrap="square" lIns="0" tIns="0" rIns="0" bIns="0" rtlCol="0" anchor="ctr"/>
          <a:lstStyle/>
          <a:p>
            <a:pPr indent="0" marL="0">
              <a:buNone/>
            </a:pPr>
            <a:r>
              <a:rPr lang="en-US" sz="1400" dirty="0">
                <a:solidFill>
                  <a:schemeClr val="accent5"/>
                </a:solidFill>
              </a:rPr>
              <a:t>rows after loading product_data/ twice</a:t>
            </a:r>
            <a:endParaRPr lang="en-US" sz="1400" dirty="0"/>
          </a:p>
        </p:txBody>
      </p:sp>
      <p:sp>
        <p:nvSpPr>
          <p:cNvPr id="8" name="Text 6"/>
          <p:cNvSpPr txBox="1"/>
          <p:nvPr/>
        </p:nvSpPr>
        <p:spPr>
          <a:xfrm>
            <a:off x="822960" y="4206240"/>
            <a:ext cx="4846320" cy="1691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 new row on every posting</a:t>
            </a:r>
            <a:endParaRPr lang="en-US" sz="1600" dirty="0"/>
          </a:p>
          <a:p>
            <a:pPr marL="342900" indent="-342900">
              <a:spcAft>
                <a:spcPts val="1000"/>
              </a:spcAft>
              <a:buSzPct val="100000"/>
              <a:buChar char="•"/>
            </a:pPr>
            <a:r>
              <a:rPr lang="en-US" sz="1600" dirty="0">
                <a:solidFill>
                  <a:schemeClr val="tx1"/>
                </a:solidFill>
              </a:rPr>
              <a:t>Never updated or deleted</a:t>
            </a:r>
            <a:endParaRPr lang="en-US" sz="1600" dirty="0"/>
          </a:p>
          <a:p>
            <a:pPr marL="342900" indent="-342900">
              <a:spcAft>
                <a:spcPts val="1000"/>
              </a:spcAft>
              <a:buSzPct val="100000"/>
              <a:buChar char="•"/>
            </a:pPr>
            <a:r>
              <a:rPr lang="en-US" sz="1600" dirty="0">
                <a:solidFill>
                  <a:schemeClr val="tx1"/>
                </a:solidFill>
              </a:rPr>
              <a:t>Its id is product_id in product_validation_results</a:t>
            </a:r>
            <a:endParaRPr lang="en-US" sz="1600" dirty="0"/>
          </a:p>
        </p:txBody>
      </p:sp>
      <p:sp>
        <p:nvSpPr>
          <p:cNvPr id="9" name="compare-product_latest"/>
          <p:cNvSpPr/>
          <p:nvPr/>
        </p:nvSpPr>
        <p:spPr>
          <a:xfrm>
            <a:off x="6217920" y="1737360"/>
            <a:ext cx="5468112" cy="4297680"/>
          </a:xfrm>
          <a:prstGeom prst="roundRect">
            <a:avLst>
              <a:gd name="adj" fmla="val 1702"/>
            </a:avLst>
          </a:prstGeom>
          <a:solidFill>
            <a:schemeClr val="accent1">
              <a:alpha val="18000"/>
            </a:schemeClr>
          </a:solidFill>
          <a:ln w="9525">
            <a:solidFill>
              <a:srgbClr val="D3DCE1"/>
            </a:solidFill>
            <a:prstDash val="solid"/>
          </a:ln>
        </p:spPr>
      </p:sp>
      <p:sp>
        <p:nvSpPr>
          <p:cNvPr id="10" name="Text 8"/>
          <p:cNvSpPr txBox="1"/>
          <p:nvPr/>
        </p:nvSpPr>
        <p:spPr>
          <a:xfrm>
            <a:off x="6537960" y="1965960"/>
            <a:ext cx="4846320" cy="411480"/>
          </a:xfrm>
          <a:prstGeom prst="rect">
            <a:avLst/>
          </a:prstGeom>
          <a:noFill/>
          <a:ln/>
        </p:spPr>
        <p:txBody>
          <a:bodyPr wrap="square" lIns="0" tIns="0" rIns="0" bIns="0" rtlCol="0" anchor="ctr"/>
          <a:lstStyle/>
          <a:p>
            <a:pPr indent="0" marL="0">
              <a:buNone/>
            </a:pPr>
            <a:r>
              <a:rPr lang="en-US" sz="2000" b="1" dirty="0">
                <a:solidFill>
                  <a:schemeClr val="accent1"/>
                </a:solidFill>
                <a:latin typeface="Courier New" pitchFamily="34" charset="0"/>
                <a:ea typeface="Courier New" pitchFamily="34" charset="-122"/>
                <a:cs typeface="Courier New" pitchFamily="34" charset="-120"/>
              </a:rPr>
              <a:t>product_latest</a:t>
            </a:r>
            <a:endParaRPr lang="en-US" sz="2000" dirty="0"/>
          </a:p>
        </p:txBody>
      </p:sp>
      <p:sp>
        <p:nvSpPr>
          <p:cNvPr id="11" name="Text 9"/>
          <p:cNvSpPr txBox="1"/>
          <p:nvPr/>
        </p:nvSpPr>
        <p:spPr>
          <a:xfrm>
            <a:off x="6537960" y="2514600"/>
            <a:ext cx="1463040" cy="1097280"/>
          </a:xfrm>
          <a:prstGeom prst="rect">
            <a:avLst/>
          </a:prstGeom>
          <a:noFill/>
          <a:ln/>
        </p:spPr>
        <p:txBody>
          <a:bodyPr wrap="square" lIns="0" tIns="0" rIns="0" bIns="0" rtlCol="0" anchor="ctr"/>
          <a:lstStyle/>
          <a:p>
            <a:pPr indent="0" marL="0">
              <a:buNone/>
            </a:pPr>
            <a:r>
              <a:rPr lang="en-US" sz="7200" b="1" dirty="0">
                <a:solidFill>
                  <a:schemeClr val="tx1"/>
                </a:solidFill>
                <a:latin typeface="Arial" pitchFamily="34" charset="0"/>
                <a:ea typeface="Arial" pitchFamily="34" charset="-122"/>
                <a:cs typeface="Arial" pitchFamily="34" charset="-120"/>
              </a:rPr>
              <a:t>9</a:t>
            </a:r>
            <a:endParaRPr lang="en-US" sz="7200" dirty="0"/>
          </a:p>
        </p:txBody>
      </p:sp>
      <p:sp>
        <p:nvSpPr>
          <p:cNvPr id="12" name="Text 10"/>
          <p:cNvSpPr txBox="1"/>
          <p:nvPr/>
        </p:nvSpPr>
        <p:spPr>
          <a:xfrm>
            <a:off x="6537960" y="3611880"/>
            <a:ext cx="4846320" cy="320040"/>
          </a:xfrm>
          <a:prstGeom prst="rect">
            <a:avLst/>
          </a:prstGeom>
          <a:noFill/>
          <a:ln/>
        </p:spPr>
        <p:txBody>
          <a:bodyPr wrap="square" lIns="0" tIns="0" rIns="0" bIns="0" rtlCol="0" anchor="ctr"/>
          <a:lstStyle/>
          <a:p>
            <a:pPr indent="0" marL="0">
              <a:buNone/>
            </a:pPr>
            <a:r>
              <a:rPr lang="en-US" sz="1400" dirty="0">
                <a:solidFill>
                  <a:schemeClr val="accent5"/>
                </a:solidFill>
              </a:rPr>
              <a:t>rows after loading product_data/ twice</a:t>
            </a:r>
            <a:endParaRPr lang="en-US" sz="1400" dirty="0"/>
          </a:p>
        </p:txBody>
      </p:sp>
      <p:sp>
        <p:nvSpPr>
          <p:cNvPr id="13" name="Text 11"/>
          <p:cNvSpPr txBox="1"/>
          <p:nvPr/>
        </p:nvSpPr>
        <p:spPr>
          <a:xfrm>
            <a:off x="6537960" y="4206240"/>
            <a:ext cx="4846320" cy="16916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One row per PrimaryProductKey (product_hash is UNIQUE)</a:t>
            </a:r>
            <a:endParaRPr lang="en-US" sz="1600" dirty="0"/>
          </a:p>
          <a:p>
            <a:pPr marL="342900" indent="-342900">
              <a:spcAft>
                <a:spcPts val="1000"/>
              </a:spcAft>
              <a:buSzPct val="100000"/>
              <a:buChar char="•"/>
            </a:pPr>
            <a:r>
              <a:rPr lang="en-US" sz="1600" dirty="0">
                <a:solidFill>
                  <a:schemeClr val="tx1"/>
                </a:solidFill>
              </a:rPr>
              <a:t>A re-post replaces the row: id kept, created_at refreshed</a:t>
            </a:r>
            <a:endParaRPr lang="en-US" sz="1600" dirty="0"/>
          </a:p>
          <a:p>
            <a:pPr marL="342900" indent="-342900">
              <a:spcAft>
                <a:spcPts val="1000"/>
              </a:spcAft>
              <a:buSzPct val="100000"/>
              <a:buChar char="•"/>
            </a:pPr>
            <a:r>
              <a:rPr lang="en-US" sz="1600" dirty="0">
                <a:solidFill>
                  <a:schemeClr val="tx1"/>
                </a:solidFill>
              </a:rPr>
              <a:t>The detail tables follow it: newest posting only</a:t>
            </a:r>
            <a:endParaRPr lang="en-US" sz="16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Columns of the product tables</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Identical in product_history and product_latest; most columns come straight from a JSON path</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5120640" cy="914400"/>
        </p:xfrm>
        <a:graphic>
          <a:graphicData uri="http://schemas.openxmlformats.org/drawingml/2006/table">
            <a:tbl>
              <a:tblPr/>
              <a:tblGrid>
                <a:gridCol w="2011680"/>
                <a:gridCol w="1051560"/>
                <a:gridCol w="2057400"/>
              </a:tblGrid>
              <a:tr h="402336">
                <a:tc gridSpan="3">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product_history  /  product_latest  (1-9)</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1"/>
                    </a:solidFill>
                  </a:tcPr>
                </a:tc>
                <a:tc hMerge="1">
                  <a:tcPr/>
                </a:tc>
                <a:tc hMerge="1">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INTEGER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Row number (PK)</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product_hash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SHA256 of PrimaryProductKey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primary_product_key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PrimaryProductKey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parent_product_key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Parent's key; empty at top</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level</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INTEGER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 case, 1 bundle, 2 pack</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quantity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rPr>
                        <a:t>REAL</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Quantity per parent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product_type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ProductType.Name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customer_code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Customer.Code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customer_name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Customer.Name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897880" y="1737360"/>
          <a:ext cx="5806440" cy="914400"/>
        </p:xfrm>
        <a:graphic>
          <a:graphicData uri="http://schemas.openxmlformats.org/drawingml/2006/table">
            <a:tbl>
              <a:tblPr/>
              <a:tblGrid>
                <a:gridCol w="2148840"/>
                <a:gridCol w="1051560"/>
                <a:gridCol w="2606040"/>
              </a:tblGrid>
              <a:tr h="402336">
                <a:tc gridSpan="3">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product_history  /  product_latest  (10-18)</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1"/>
                    </a:solidFill>
                  </a:tcPr>
                </a:tc>
                <a:tc hMerge="1">
                  <a:tcPr/>
                </a:tc>
                <a:tc hMerge="1">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customer_owner</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Customer.Owner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product_definition_key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ProductDefinition.</a:t>
                      </a:r>
                      <a:endParaRPr lang="en-US" sz="1200" dirty="0"/>
                    </a:p>
                    <a:p>
                      <a:pPr indent="0" marL="0">
                        <a:buNone/>
                      </a:pPr>
                      <a:r>
                        <a:rPr lang="en-US" sz="1200" dirty="0">
                          <a:solidFill>
                            <a:schemeClr val="tx1"/>
                          </a:solidFill>
                        </a:rPr>
                        <a:t>ProductDefinitionKey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description</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ProductDefinition.Description</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product_category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ProductDefinition.</a:t>
                      </a:r>
                      <a:endParaRPr lang="en-US" sz="1200" dirty="0"/>
                    </a:p>
                    <a:p>
                      <a:pPr indent="0" marL="0">
                        <a:buNone/>
                      </a:pPr>
                      <a:r>
                        <a:rPr lang="en-US" sz="1200" dirty="0">
                          <a:solidFill>
                            <a:schemeClr val="tx1"/>
                          </a:solidFill>
                        </a:rPr>
                        <a:t>ProductCategory.Name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brand_family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ProductDefinition.BrandFamily.Name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parent_brand_family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ProductDefinition.BrandFamily.</a:t>
                      </a:r>
                      <a:endParaRPr lang="en-US" sz="1200" dirty="0"/>
                    </a:p>
                    <a:p>
                      <a:pPr indent="0" marL="0">
                        <a:buNone/>
                      </a:pPr>
                      <a:r>
                        <a:rPr lang="en-US" sz="1200" dirty="0">
                          <a:solidFill>
                            <a:schemeClr val="tx1"/>
                          </a:solidFill>
                        </a:rPr>
                        <a:t>ParentBrandFamily.Name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child_count</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INTEGER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Number of ChildProducts</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product_json</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accent5"/>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Full JSON, without ChildProducts</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40233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created_at</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5"/>
                          </a:solidFill>
                        </a:rPr>
                        <a:t>TIMESTAMP</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When the row was written</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Detail tables: the lists inside a product</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Keyed by product_hash and holding the newest posting only: a re-post deletes a product's rows and inserts the new ones</a:t>
            </a:r>
            <a:endParaRPr lang="en-US" sz="1600" dirty="0"/>
          </a:p>
        </p:txBody>
      </p:sp>
      <p:sp>
        <p:nvSpPr>
          <p:cNvPr id="4" name="Text 2"/>
          <p:cNvSpPr txBox="1"/>
          <p:nvPr/>
        </p:nvSpPr>
        <p:spPr>
          <a:xfrm>
            <a:off x="502920" y="1737360"/>
            <a:ext cx="3566160" cy="548640"/>
          </a:xfrm>
          <a:prstGeom prst="rect">
            <a:avLst/>
          </a:prstGeom>
          <a:noFill/>
          <a:ln/>
        </p:spPr>
        <p:txBody>
          <a:bodyPr wrap="square" lIns="0" tIns="0" rIns="0" bIns="0" rtlCol="0" anchor="t"/>
          <a:lstStyle/>
          <a:p>
            <a:pPr indent="0" marL="0">
              <a:buNone/>
            </a:pPr>
            <a:r>
              <a:rPr lang="en-US" sz="1300" dirty="0">
                <a:solidFill>
                  <a:schemeClr val="accent5"/>
                </a:solidFill>
              </a:rPr>
              <a:t>AlternateProductKeys[]: MSKU, GTIN, EU-TPD keys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2377440"/>
          <a:ext cx="3566160" cy="914400"/>
        </p:xfrm>
        <a:graphic>
          <a:graphicData uri="http://schemas.openxmlformats.org/drawingml/2006/table">
            <a:tbl>
              <a:tblPr/>
              <a:tblGrid>
                <a:gridCol w="2194560"/>
                <a:gridCol w="1371600"/>
              </a:tblGrid>
              <a:tr h="365760">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product_alternate_key</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2"/>
                    </a:solidFill>
                  </a:tcPr>
                </a:tc>
                <a:tc hMerge="1">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INTEGER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product_hash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product_key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product_key_type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INTEGER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product_key_mode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INTEGER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02920" y="4846320"/>
            <a:ext cx="3566160" cy="822960"/>
          </a:xfrm>
          <a:prstGeom prst="rect">
            <a:avLst/>
          </a:prstGeom>
          <a:noFill/>
          <a:ln/>
        </p:spPr>
        <p:txBody>
          <a:bodyPr wrap="square" lIns="0" tIns="0" rIns="0" bIns="0" rtlCol="0" anchor="b"/>
          <a:lstStyle/>
          <a:p>
            <a:pPr indent="0" marL="0">
              <a:buNone/>
            </a:pPr>
            <a:r>
              <a:rPr lang="en-US" sz="4400" b="1" dirty="0">
                <a:solidFill>
                  <a:schemeClr val="accent2"/>
                </a:solidFill>
                <a:latin typeface="Arial" pitchFamily="34" charset="0"/>
                <a:ea typeface="Arial" pitchFamily="34" charset="-122"/>
                <a:cs typeface="Arial" pitchFamily="34" charset="-120"/>
              </a:rPr>
              <a:t>23</a:t>
            </a:r>
            <a:pPr indent="0" marL="0">
              <a:buNone/>
            </a:pPr>
            <a:r>
              <a:rPr lang="en-US" sz="1400" dirty="0">
                <a:solidFill>
                  <a:schemeClr val="accent5"/>
                </a:solidFill>
              </a:rPr>
              <a:t>  rows after one load</a:t>
            </a:r>
            <a:endParaRPr lang="en-US" sz="1400" dirty="0"/>
          </a:p>
        </p:txBody>
      </p:sp>
      <p:sp>
        <p:nvSpPr>
          <p:cNvPr id="7" name="Text 4"/>
          <p:cNvSpPr txBox="1"/>
          <p:nvPr/>
        </p:nvSpPr>
        <p:spPr>
          <a:xfrm>
            <a:off x="4306824" y="1737360"/>
            <a:ext cx="3566160" cy="548640"/>
          </a:xfrm>
          <a:prstGeom prst="rect">
            <a:avLst/>
          </a:prstGeom>
          <a:noFill/>
          <a:ln/>
        </p:spPr>
        <p:txBody>
          <a:bodyPr wrap="square" lIns="0" tIns="0" rIns="0" bIns="0" rtlCol="0" anchor="t"/>
          <a:lstStyle/>
          <a:p>
            <a:pPr indent="0" marL="0">
              <a:buNone/>
            </a:pPr>
            <a:r>
              <a:rPr lang="en-US" sz="1300" dirty="0">
                <a:solidFill>
                  <a:schemeClr val="accent5"/>
                </a:solidFill>
              </a:rPr>
              <a:t>Units[]: unit type, quantity and base unit</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306824" y="2377440"/>
          <a:ext cx="3566160" cy="914400"/>
        </p:xfrm>
        <a:graphic>
          <a:graphicData uri="http://schemas.openxmlformats.org/drawingml/2006/table">
            <a:tbl>
              <a:tblPr/>
              <a:tblGrid>
                <a:gridCol w="2194560"/>
                <a:gridCol w="1371600"/>
              </a:tblGrid>
              <a:tr h="365760">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product_unit</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2"/>
                    </a:solidFill>
                  </a:tcPr>
                </a:tc>
                <a:tc hMerge="1">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INTEGER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product_hash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unit_type_name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quantity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REAL</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base_unit</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bl>
          </a:graphicData>
        </a:graphic>
      </p:graphicFrame>
      <p:sp>
        <p:nvSpPr>
          <p:cNvPr id="9" name="Text 5"/>
          <p:cNvSpPr txBox="1"/>
          <p:nvPr/>
        </p:nvSpPr>
        <p:spPr>
          <a:xfrm>
            <a:off x="4306824" y="4846320"/>
            <a:ext cx="3566160" cy="822960"/>
          </a:xfrm>
          <a:prstGeom prst="rect">
            <a:avLst/>
          </a:prstGeom>
          <a:noFill/>
          <a:ln/>
        </p:spPr>
        <p:txBody>
          <a:bodyPr wrap="square" lIns="0" tIns="0" rIns="0" bIns="0" rtlCol="0" anchor="b"/>
          <a:lstStyle/>
          <a:p>
            <a:pPr indent="0" marL="0">
              <a:buNone/>
            </a:pPr>
            <a:r>
              <a:rPr lang="en-US" sz="4400" b="1" dirty="0">
                <a:solidFill>
                  <a:schemeClr val="accent2"/>
                </a:solidFill>
                <a:latin typeface="Arial" pitchFamily="34" charset="0"/>
                <a:ea typeface="Arial" pitchFamily="34" charset="-122"/>
                <a:cs typeface="Arial" pitchFamily="34" charset="-120"/>
              </a:rPr>
              <a:t>9</a:t>
            </a:r>
            <a:pPr indent="0" marL="0">
              <a:buNone/>
            </a:pPr>
            <a:r>
              <a:rPr lang="en-US" sz="1400" dirty="0">
                <a:solidFill>
                  <a:schemeClr val="accent5"/>
                </a:solidFill>
              </a:rPr>
              <a:t>  rows after one load</a:t>
            </a:r>
            <a:endParaRPr lang="en-US" sz="1400" dirty="0"/>
          </a:p>
        </p:txBody>
      </p:sp>
      <p:sp>
        <p:nvSpPr>
          <p:cNvPr id="10" name="Text 6"/>
          <p:cNvSpPr txBox="1"/>
          <p:nvPr/>
        </p:nvSpPr>
        <p:spPr>
          <a:xfrm>
            <a:off x="8110728" y="1737360"/>
            <a:ext cx="3566160" cy="548640"/>
          </a:xfrm>
          <a:prstGeom prst="rect">
            <a:avLst/>
          </a:prstGeom>
          <a:noFill/>
          <a:ln/>
        </p:spPr>
        <p:txBody>
          <a:bodyPr wrap="square" lIns="0" tIns="0" rIns="0" bIns="0" rtlCol="0" anchor="t"/>
          <a:lstStyle/>
          <a:p>
            <a:pPr indent="0" marL="0">
              <a:buNone/>
            </a:pPr>
            <a:r>
              <a:rPr lang="en-US" sz="1300" dirty="0">
                <a:solidFill>
                  <a:schemeClr val="accent5"/>
                </a:solidFill>
              </a:rPr>
              <a:t>ProductProperties and ProductDefinitionProperties as name/value rows</a:t>
            </a:r>
            <a:endParaRPr lang="en-US" sz="130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8110728" y="2377440"/>
          <a:ext cx="3566160" cy="914400"/>
        </p:xfrm>
        <a:graphic>
          <a:graphicData uri="http://schemas.openxmlformats.org/drawingml/2006/table">
            <a:tbl>
              <a:tblPr/>
              <a:tblGrid>
                <a:gridCol w="2194560"/>
                <a:gridCol w="1371600"/>
              </a:tblGrid>
              <a:tr h="365760">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product_property</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2"/>
                    </a:solidFill>
                  </a:tcPr>
                </a:tc>
                <a:tc hMerge="1">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INTEGER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product_hash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property_group</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name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65760">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value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TEXT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bl>
          </a:graphicData>
        </a:graphic>
      </p:graphicFrame>
      <p:sp>
        <p:nvSpPr>
          <p:cNvPr id="12" name="Text 7"/>
          <p:cNvSpPr txBox="1"/>
          <p:nvPr/>
        </p:nvSpPr>
        <p:spPr>
          <a:xfrm>
            <a:off x="8110728" y="4846320"/>
            <a:ext cx="3566160" cy="822960"/>
          </a:xfrm>
          <a:prstGeom prst="rect">
            <a:avLst/>
          </a:prstGeom>
          <a:noFill/>
          <a:ln/>
        </p:spPr>
        <p:txBody>
          <a:bodyPr wrap="square" lIns="0" tIns="0" rIns="0" bIns="0" rtlCol="0" anchor="b"/>
          <a:lstStyle/>
          <a:p>
            <a:pPr indent="0" marL="0">
              <a:buNone/>
            </a:pPr>
            <a:r>
              <a:rPr lang="en-US" sz="4400" b="1" dirty="0">
                <a:solidFill>
                  <a:schemeClr val="accent2"/>
                </a:solidFill>
                <a:latin typeface="Arial" pitchFamily="34" charset="0"/>
                <a:ea typeface="Arial" pitchFamily="34" charset="-122"/>
                <a:cs typeface="Arial" pitchFamily="34" charset="-120"/>
              </a:rPr>
              <a:t>81</a:t>
            </a:r>
            <a:pPr indent="0" marL="0">
              <a:buNone/>
            </a:pPr>
            <a:r>
              <a:rPr lang="en-US" sz="1400" dirty="0">
                <a:solidFill>
                  <a:schemeClr val="accent5"/>
                </a:solidFill>
              </a:rPr>
              <a:t>  rows after one load</a:t>
            </a:r>
            <a:endParaRPr lang="en-US" sz="14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Rules and their conditions</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Rules are data, not Python code: add them with the seed script or POST /product-validation-rules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5440680" cy="914400"/>
        </p:xfrm>
        <a:graphic>
          <a:graphicData uri="http://schemas.openxmlformats.org/drawingml/2006/table">
            <a:tbl>
              <a:tblPr/>
              <a:tblGrid>
                <a:gridCol w="2423160"/>
                <a:gridCol w="3017520"/>
              </a:tblGrid>
              <a:tr h="384048">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product_val_rules</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3"/>
                    </a:solidFill>
                  </a:tcPr>
                </a:tc>
                <a:tc hMerge="1">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rule_id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Primary key, e.g. PRD-PACK-GTIN</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validation_type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Category label</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function_name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Label only, not used</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check_id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Points to a check or a logic row</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description</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What the rule requires</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severity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Critical or Warning</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active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 = ignored (default 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on_exception_status</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Status on failure (default -1)</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on_exception_description</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Message on failure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217920" y="1737360"/>
          <a:ext cx="5440680" cy="914400"/>
        </p:xfrm>
        <a:graphic>
          <a:graphicData uri="http://schemas.openxmlformats.org/drawingml/2006/table">
            <a:tbl>
              <a:tblPr/>
              <a:tblGrid>
                <a:gridCol w="1965960"/>
                <a:gridCol w="3474720"/>
              </a:tblGrid>
              <a:tr h="384048">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product_val_rule_conditions</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3"/>
                    </a:solidFill>
                  </a:tcPr>
                </a:tc>
                <a:tc hMerge="1">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Row number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rule_id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The rule this row belongs to</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role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Trigger (when it applies) or Target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field_name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JSON path, e.g. ProductType.Name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operator</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 triggers: equals, in, exists, ...</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expected_value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Value to compare with</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data_type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 targets: Exist, Number, Regex, ...</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constraint_expr</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e.g. min=1 or a regex pattern</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reference_source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For Unique: batch or database.t.c</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8404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logical_group</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Label only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Reusable checks and IF / THEN / ELSE logic</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A rule's check_id can name one check, or a logic row that chains checks together</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5669280" cy="914400"/>
        </p:xfrm>
        <a:graphic>
          <a:graphicData uri="http://schemas.openxmlformats.org/drawingml/2006/table">
            <a:tbl>
              <a:tblPr/>
              <a:tblGrid>
                <a:gridCol w="1965960"/>
                <a:gridCol w="3703320"/>
              </a:tblGrid>
              <a:tr h="310896">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product_val_checks</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3"/>
                    </a:solidFill>
                  </a:tcPr>
                </a:tc>
                <a:tc hMerge="1">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check_id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Primary key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check_type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Operator or Data Type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field_names</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One or more fields, comma-separated</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check_value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Operator or data type name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expected_value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Value to compare with</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reference_source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For Unique checks</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field_combine</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AND / OR across the fields (default AND)</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02920" y="4498848"/>
          <a:ext cx="5669280" cy="914400"/>
        </p:xfrm>
        <a:graphic>
          <a:graphicData uri="http://schemas.openxmlformats.org/drawingml/2006/table">
            <a:tbl>
              <a:tblPr/>
              <a:tblGrid>
                <a:gridCol w="1965960"/>
                <a:gridCol w="3703320"/>
              </a:tblGrid>
              <a:tr h="310896">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product_val_logic</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3"/>
                    </a:solidFill>
                  </a:tcPr>
                </a:tc>
                <a:tc hMerge="1">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logic_id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Primary key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if_check_id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Check or logic to test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then_check_id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Runs when IF is true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else_check_id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Runs when IF is false, or True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bl>
          </a:graphicData>
        </a:graphic>
      </p:graphicFrame>
      <p:sp>
        <p:nvSpPr>
          <p:cNvPr id="6" name="Text 2"/>
          <p:cNvSpPr txBox="1"/>
          <p:nvPr/>
        </p:nvSpPr>
        <p:spPr>
          <a:xfrm>
            <a:off x="6629400" y="1737360"/>
            <a:ext cx="5029200" cy="274320"/>
          </a:xfrm>
          <a:prstGeom prst="rect">
            <a:avLst/>
          </a:prstGeom>
          <a:noFill/>
          <a:ln/>
        </p:spPr>
        <p:txBody>
          <a:bodyPr wrap="square" lIns="0" tIns="0" rIns="0" bIns="0" rtlCol="0" anchor="ctr"/>
          <a:lstStyle/>
          <a:p>
            <a:pPr indent="0" marL="0">
              <a:buNone/>
            </a:pPr>
            <a:r>
              <a:rPr lang="en-US" sz="1100" b="1" spc="150" kern="0" dirty="0">
                <a:solidFill>
                  <a:schemeClr val="accent3"/>
                </a:solidFill>
              </a:rPr>
              <a:t>EXAMPLE: PRD-EU-TPD</a:t>
            </a:r>
            <a:endParaRPr lang="en-US" sz="1100" dirty="0"/>
          </a:p>
        </p:txBody>
      </p:sp>
      <p:sp>
        <p:nvSpPr>
          <p:cNvPr id="7" name="logic-RULE"/>
          <p:cNvSpPr/>
          <p:nvPr/>
        </p:nvSpPr>
        <p:spPr>
          <a:xfrm>
            <a:off x="6629400" y="2148840"/>
            <a:ext cx="5029200" cy="685800"/>
          </a:xfrm>
          <a:prstGeom prst="roundRect">
            <a:avLst>
              <a:gd name="adj" fmla="val 8000"/>
            </a:avLst>
          </a:prstGeom>
          <a:solidFill>
            <a:schemeClr val="accent3">
              <a:alpha val="20000"/>
            </a:schemeClr>
          </a:solidFill>
          <a:ln w="12700">
            <a:solidFill>
              <a:schemeClr val="accent3"/>
            </a:solidFill>
            <a:prstDash val="solid"/>
          </a:ln>
        </p:spPr>
      </p:sp>
      <p:sp>
        <p:nvSpPr>
          <p:cNvPr id="8" name="Text 4"/>
          <p:cNvSpPr txBox="1"/>
          <p:nvPr/>
        </p:nvSpPr>
        <p:spPr>
          <a:xfrm>
            <a:off x="6766560" y="2148840"/>
            <a:ext cx="731520" cy="685800"/>
          </a:xfrm>
          <a:prstGeom prst="rect">
            <a:avLst/>
          </a:prstGeom>
          <a:noFill/>
          <a:ln/>
        </p:spPr>
        <p:txBody>
          <a:bodyPr wrap="square" lIns="0" tIns="0" rIns="0" bIns="0" rtlCol="0" anchor="ctr"/>
          <a:lstStyle/>
          <a:p>
            <a:pPr indent="0" marL="0">
              <a:buNone/>
            </a:pPr>
            <a:r>
              <a:rPr lang="en-US" sz="1300" b="1" dirty="0">
                <a:solidFill>
                  <a:schemeClr val="accent3"/>
                </a:solidFill>
              </a:rPr>
              <a:t>RULE</a:t>
            </a:r>
            <a:endParaRPr lang="en-US" sz="1300" dirty="0"/>
          </a:p>
        </p:txBody>
      </p:sp>
      <p:sp>
        <p:nvSpPr>
          <p:cNvPr id="9" name="Text 5"/>
          <p:cNvSpPr txBox="1"/>
          <p:nvPr/>
        </p:nvSpPr>
        <p:spPr>
          <a:xfrm>
            <a:off x="7543800" y="2148840"/>
            <a:ext cx="4023360" cy="68580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PRD-EU-TPD</a:t>
            </a:r>
            <a:endParaRPr lang="en-US" sz="1400" dirty="0"/>
          </a:p>
          <a:p>
            <a:pPr indent="0" marL="0">
              <a:buNone/>
            </a:pPr>
            <a:r>
              <a:rPr lang="en-US" sz="1200" dirty="0">
                <a:solidFill>
                  <a:schemeClr val="accent5"/>
                </a:solidFill>
              </a:rPr>
              <a:t>check_id = logic_product_eu_tpd</a:t>
            </a:r>
            <a:endParaRPr lang="en-US" sz="1400" dirty="0"/>
          </a:p>
        </p:txBody>
      </p:sp>
      <p:sp>
        <p:nvSpPr>
          <p:cNvPr id="10" name="Shape 6"/>
          <p:cNvSpPr/>
          <p:nvPr/>
        </p:nvSpPr>
        <p:spPr>
          <a:xfrm>
            <a:off x="6995160" y="2834640"/>
            <a:ext cx="0" cy="274320"/>
          </a:xfrm>
          <a:prstGeom prst="line">
            <a:avLst/>
          </a:prstGeom>
          <a:noFill/>
          <a:ln w="15875">
            <a:solidFill>
              <a:schemeClr val="accent3"/>
            </a:solidFill>
            <a:prstDash val="solid"/>
          </a:ln>
        </p:spPr>
      </p:sp>
      <p:sp>
        <p:nvSpPr>
          <p:cNvPr id="11" name="logic-IF"/>
          <p:cNvSpPr/>
          <p:nvPr/>
        </p:nvSpPr>
        <p:spPr>
          <a:xfrm>
            <a:off x="6629400" y="3108960"/>
            <a:ext cx="5029200" cy="685800"/>
          </a:xfrm>
          <a:prstGeom prst="roundRect">
            <a:avLst>
              <a:gd name="adj" fmla="val 8000"/>
            </a:avLst>
          </a:prstGeom>
          <a:solidFill>
            <a:schemeClr val="accent3">
              <a:alpha val="10000"/>
            </a:schemeClr>
          </a:solidFill>
          <a:ln w="12700">
            <a:solidFill>
              <a:schemeClr val="accent3"/>
            </a:solidFill>
            <a:prstDash val="solid"/>
          </a:ln>
        </p:spPr>
      </p:sp>
      <p:sp>
        <p:nvSpPr>
          <p:cNvPr id="12" name="Text 8"/>
          <p:cNvSpPr txBox="1"/>
          <p:nvPr/>
        </p:nvSpPr>
        <p:spPr>
          <a:xfrm>
            <a:off x="6766560" y="3108960"/>
            <a:ext cx="731520" cy="685800"/>
          </a:xfrm>
          <a:prstGeom prst="rect">
            <a:avLst/>
          </a:prstGeom>
          <a:noFill/>
          <a:ln/>
        </p:spPr>
        <p:txBody>
          <a:bodyPr wrap="square" lIns="0" tIns="0" rIns="0" bIns="0" rtlCol="0" anchor="ctr"/>
          <a:lstStyle/>
          <a:p>
            <a:pPr indent="0" marL="0">
              <a:buNone/>
            </a:pPr>
            <a:r>
              <a:rPr lang="en-US" sz="1300" b="1" dirty="0">
                <a:solidFill>
                  <a:schemeClr val="accent3"/>
                </a:solidFill>
              </a:rPr>
              <a:t>IF</a:t>
            </a:r>
            <a:endParaRPr lang="en-US" sz="1300" dirty="0"/>
          </a:p>
        </p:txBody>
      </p:sp>
      <p:sp>
        <p:nvSpPr>
          <p:cNvPr id="13" name="Text 9"/>
          <p:cNvSpPr txBox="1"/>
          <p:nvPr/>
        </p:nvSpPr>
        <p:spPr>
          <a:xfrm>
            <a:off x="7543800" y="3108960"/>
            <a:ext cx="4023360" cy="68580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chk_product_eu_uk_market</a:t>
            </a:r>
            <a:endParaRPr lang="en-US" sz="1400" dirty="0"/>
          </a:p>
          <a:p>
            <a:pPr indent="0" marL="0">
              <a:buNone/>
            </a:pPr>
            <a:r>
              <a:rPr lang="en-US" sz="1200" dirty="0">
                <a:solidFill>
                  <a:schemeClr val="accent5"/>
                </a:solidFill>
              </a:rPr>
              <a:t>DesignMarketCode starts with an EU/UK code</a:t>
            </a:r>
            <a:endParaRPr lang="en-US" sz="1400" dirty="0"/>
          </a:p>
        </p:txBody>
      </p:sp>
      <p:sp>
        <p:nvSpPr>
          <p:cNvPr id="14" name="Shape 10"/>
          <p:cNvSpPr/>
          <p:nvPr/>
        </p:nvSpPr>
        <p:spPr>
          <a:xfrm>
            <a:off x="6995160" y="3794760"/>
            <a:ext cx="0" cy="274320"/>
          </a:xfrm>
          <a:prstGeom prst="line">
            <a:avLst/>
          </a:prstGeom>
          <a:noFill/>
          <a:ln w="15875">
            <a:solidFill>
              <a:schemeClr val="accent3"/>
            </a:solidFill>
            <a:prstDash val="solid"/>
          </a:ln>
        </p:spPr>
      </p:sp>
      <p:sp>
        <p:nvSpPr>
          <p:cNvPr id="15" name="logic-THEN"/>
          <p:cNvSpPr/>
          <p:nvPr/>
        </p:nvSpPr>
        <p:spPr>
          <a:xfrm>
            <a:off x="6629400" y="4069080"/>
            <a:ext cx="5029200" cy="685800"/>
          </a:xfrm>
          <a:prstGeom prst="roundRect">
            <a:avLst>
              <a:gd name="adj" fmla="val 8000"/>
            </a:avLst>
          </a:prstGeom>
          <a:solidFill>
            <a:schemeClr val="accent3">
              <a:alpha val="10000"/>
            </a:schemeClr>
          </a:solidFill>
          <a:ln w="12700">
            <a:solidFill>
              <a:schemeClr val="accent3"/>
            </a:solidFill>
            <a:prstDash val="solid"/>
          </a:ln>
        </p:spPr>
      </p:sp>
      <p:sp>
        <p:nvSpPr>
          <p:cNvPr id="16" name="Text 12"/>
          <p:cNvSpPr txBox="1"/>
          <p:nvPr/>
        </p:nvSpPr>
        <p:spPr>
          <a:xfrm>
            <a:off x="6766560" y="4069080"/>
            <a:ext cx="731520" cy="685800"/>
          </a:xfrm>
          <a:prstGeom prst="rect">
            <a:avLst/>
          </a:prstGeom>
          <a:noFill/>
          <a:ln/>
        </p:spPr>
        <p:txBody>
          <a:bodyPr wrap="square" lIns="0" tIns="0" rIns="0" bIns="0" rtlCol="0" anchor="ctr"/>
          <a:lstStyle/>
          <a:p>
            <a:pPr indent="0" marL="0">
              <a:buNone/>
            </a:pPr>
            <a:r>
              <a:rPr lang="en-US" sz="1300" b="1" dirty="0">
                <a:solidFill>
                  <a:schemeClr val="accent3"/>
                </a:solidFill>
              </a:rPr>
              <a:t>THEN</a:t>
            </a:r>
            <a:endParaRPr lang="en-US" sz="1300" dirty="0"/>
          </a:p>
        </p:txBody>
      </p:sp>
      <p:sp>
        <p:nvSpPr>
          <p:cNvPr id="17" name="Text 13"/>
          <p:cNvSpPr txBox="1"/>
          <p:nvPr/>
        </p:nvSpPr>
        <p:spPr>
          <a:xfrm>
            <a:off x="7543800" y="4069080"/>
            <a:ext cx="4023360" cy="68580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chk_product_tpd_identifiers</a:t>
            </a:r>
            <a:endParaRPr lang="en-US" sz="1400" dirty="0"/>
          </a:p>
          <a:p>
            <a:pPr indent="0" marL="0">
              <a:buNone/>
            </a:pPr>
            <a:r>
              <a:rPr lang="en-US" sz="1200" dirty="0">
                <a:solidFill>
                  <a:schemeClr val="accent5"/>
                </a:solidFill>
              </a:rPr>
              <a:t>TPPN and TPID must both exist</a:t>
            </a:r>
            <a:endParaRPr lang="en-US" sz="1400" dirty="0"/>
          </a:p>
        </p:txBody>
      </p:sp>
      <p:sp>
        <p:nvSpPr>
          <p:cNvPr id="18" name="Shape 14"/>
          <p:cNvSpPr/>
          <p:nvPr/>
        </p:nvSpPr>
        <p:spPr>
          <a:xfrm>
            <a:off x="6995160" y="4754880"/>
            <a:ext cx="0" cy="274320"/>
          </a:xfrm>
          <a:prstGeom prst="line">
            <a:avLst/>
          </a:prstGeom>
          <a:noFill/>
          <a:ln w="15875">
            <a:solidFill>
              <a:schemeClr val="accent3"/>
            </a:solidFill>
            <a:prstDash val="solid"/>
          </a:ln>
        </p:spPr>
      </p:sp>
      <p:sp>
        <p:nvSpPr>
          <p:cNvPr id="19" name="logic-ELSE"/>
          <p:cNvSpPr/>
          <p:nvPr/>
        </p:nvSpPr>
        <p:spPr>
          <a:xfrm>
            <a:off x="6629400" y="5029200"/>
            <a:ext cx="5029200" cy="685800"/>
          </a:xfrm>
          <a:prstGeom prst="roundRect">
            <a:avLst>
              <a:gd name="adj" fmla="val 8000"/>
            </a:avLst>
          </a:prstGeom>
          <a:solidFill>
            <a:schemeClr val="accent3">
              <a:alpha val="10000"/>
            </a:schemeClr>
          </a:solidFill>
          <a:ln w="12700">
            <a:solidFill>
              <a:schemeClr val="accent3"/>
            </a:solidFill>
            <a:prstDash val="solid"/>
          </a:ln>
        </p:spPr>
      </p:sp>
      <p:sp>
        <p:nvSpPr>
          <p:cNvPr id="20" name="Text 16"/>
          <p:cNvSpPr txBox="1"/>
          <p:nvPr/>
        </p:nvSpPr>
        <p:spPr>
          <a:xfrm>
            <a:off x="6766560" y="5029200"/>
            <a:ext cx="731520" cy="685800"/>
          </a:xfrm>
          <a:prstGeom prst="rect">
            <a:avLst/>
          </a:prstGeom>
          <a:noFill/>
          <a:ln/>
        </p:spPr>
        <p:txBody>
          <a:bodyPr wrap="square" lIns="0" tIns="0" rIns="0" bIns="0" rtlCol="0" anchor="ctr"/>
          <a:lstStyle/>
          <a:p>
            <a:pPr indent="0" marL="0">
              <a:buNone/>
            </a:pPr>
            <a:r>
              <a:rPr lang="en-US" sz="1300" b="1" dirty="0">
                <a:solidFill>
                  <a:schemeClr val="accent3"/>
                </a:solidFill>
              </a:rPr>
              <a:t>ELSE</a:t>
            </a:r>
            <a:endParaRPr lang="en-US" sz="1300" dirty="0"/>
          </a:p>
        </p:txBody>
      </p:sp>
      <p:sp>
        <p:nvSpPr>
          <p:cNvPr id="21" name="Text 17"/>
          <p:cNvSpPr txBox="1"/>
          <p:nvPr/>
        </p:nvSpPr>
        <p:spPr>
          <a:xfrm>
            <a:off x="7543800" y="5029200"/>
            <a:ext cx="4023360" cy="685800"/>
          </a:xfrm>
          <a:prstGeom prst="rect">
            <a:avLst/>
          </a:prstGeom>
          <a:noFill/>
          <a:ln/>
        </p:spPr>
        <p:txBody>
          <a:bodyPr wrap="square" lIns="0" tIns="0" rIns="0" bIns="0" rtlCol="0" anchor="ctr"/>
          <a:lstStyle/>
          <a:p>
            <a:pPr indent="0" marL="0">
              <a:buNone/>
            </a:pPr>
            <a:r>
              <a:rPr lang="en-US" sz="1200" b="1" dirty="0">
                <a:solidFill>
                  <a:schemeClr val="tx1"/>
                </a:solidFill>
                <a:latin typeface="Courier New" pitchFamily="34" charset="0"/>
                <a:ea typeface="Courier New" pitchFamily="34" charset="-122"/>
                <a:cs typeface="Courier New" pitchFamily="34" charset="-120"/>
              </a:rPr>
              <a:t>True</a:t>
            </a:r>
            <a:endParaRPr lang="en-US" sz="1400" dirty="0"/>
          </a:p>
          <a:p>
            <a:pPr indent="0" marL="0">
              <a:buNone/>
            </a:pPr>
            <a:r>
              <a:rPr lang="en-US" sz="1200" dirty="0">
                <a:solidFill>
                  <a:schemeClr val="accent5"/>
                </a:solidFill>
              </a:rPr>
              <a:t>Any other market passes</a:t>
            </a:r>
            <a:endParaRPr lang="en-US" sz="1400" dirty="0"/>
          </a:p>
        </p:txBody>
      </p:sp>
      <p:sp>
        <p:nvSpPr>
          <p:cNvPr id="22" name="Text 18"/>
          <p:cNvSpPr txBox="1"/>
          <p:nvPr/>
        </p:nvSpPr>
        <p:spPr>
          <a:xfrm>
            <a:off x="6629400" y="5852160"/>
            <a:ext cx="5029200" cy="320040"/>
          </a:xfrm>
          <a:prstGeom prst="rect">
            <a:avLst/>
          </a:prstGeom>
          <a:noFill/>
          <a:ln/>
        </p:spPr>
        <p:txBody>
          <a:bodyPr wrap="square" lIns="0" tIns="0" rIns="0" bIns="0" rtlCol="0" anchor="ctr"/>
          <a:lstStyle/>
          <a:p>
            <a:pPr indent="0" marL="0">
              <a:buNone/>
            </a:pPr>
            <a:r>
              <a:rPr lang="en-US" sz="1200" i="1" dirty="0">
                <a:solidFill>
                  <a:schemeClr val="accent5"/>
                </a:solidFill>
              </a:rPr>
              <a:t>FR04 has both identifiers, so it passes; MK04 and JP04 take the ELSE branch.</a:t>
            </a:r>
            <a:endParaRPr lang="en-US" sz="12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Where validation results go</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One full history plus two summaries, all written in the same transaction so they always agree</a:t>
            </a:r>
            <a:endParaRPr lang="en-US" sz="1600" dirty="0"/>
          </a:p>
        </p:txBody>
      </p:sp>
      <p:sp>
        <p:nvSpPr>
          <p:cNvPr id="4" name="Text 2"/>
          <p:cNvSpPr txBox="1"/>
          <p:nvPr/>
        </p:nvSpPr>
        <p:spPr>
          <a:xfrm>
            <a:off x="502920" y="1691640"/>
            <a:ext cx="3566160" cy="502920"/>
          </a:xfrm>
          <a:prstGeom prst="rect">
            <a:avLst/>
          </a:prstGeom>
          <a:noFill/>
          <a:ln/>
        </p:spPr>
        <p:txBody>
          <a:bodyPr wrap="square" lIns="0" tIns="0" rIns="0" bIns="0" rtlCol="0" anchor="t"/>
          <a:lstStyle/>
          <a:p>
            <a:pPr indent="0" marL="0">
              <a:buNone/>
            </a:pPr>
            <a:r>
              <a:rPr lang="en-US" sz="1300" dirty="0">
                <a:solidFill>
                  <a:schemeClr val="accent5"/>
                </a:solidFill>
              </a:rPr>
              <a:t>Every outcome: one row per posting and rule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2240280"/>
          <a:ext cx="3566160" cy="914400"/>
        </p:xfrm>
        <a:graphic>
          <a:graphicData uri="http://schemas.openxmlformats.org/drawingml/2006/table">
            <a:tbl>
              <a:tblPr/>
              <a:tblGrid>
                <a:gridCol w="1874520"/>
                <a:gridCol w="1691640"/>
              </a:tblGrid>
              <a:tr h="338328">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product_validation_results</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4"/>
                    </a:solidFill>
                  </a:tcPr>
                </a:tc>
                <a:tc hMerge="1">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Row number</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product_hash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The product</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product_history.id</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rule_id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The rule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passed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 pass, 0 fail</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severity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From the rule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status</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Status on failure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description</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Message on failure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created_at</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When it ran</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bl>
          </a:graphicData>
        </a:graphic>
      </p:graphicFrame>
      <p:sp>
        <p:nvSpPr>
          <p:cNvPr id="6" name="Text 3"/>
          <p:cNvSpPr txBox="1"/>
          <p:nvPr/>
        </p:nvSpPr>
        <p:spPr>
          <a:xfrm>
            <a:off x="502920" y="5733288"/>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72 rows per load</a:t>
            </a:r>
            <a:endParaRPr lang="en-US" sz="1200" dirty="0"/>
          </a:p>
        </p:txBody>
      </p:sp>
      <p:sp>
        <p:nvSpPr>
          <p:cNvPr id="7" name="Text 4"/>
          <p:cNvSpPr txBox="1"/>
          <p:nvPr/>
        </p:nvSpPr>
        <p:spPr>
          <a:xfrm>
            <a:off x="4306824" y="1691640"/>
            <a:ext cx="3566160" cy="502920"/>
          </a:xfrm>
          <a:prstGeom prst="rect">
            <a:avLst/>
          </a:prstGeom>
          <a:noFill/>
          <a:ln/>
        </p:spPr>
        <p:txBody>
          <a:bodyPr wrap="square" lIns="0" tIns="0" rIns="0" bIns="0" rtlCol="0" anchor="t"/>
          <a:lstStyle/>
          <a:p>
            <a:pPr indent="0" marL="0">
              <a:buNone/>
            </a:pPr>
            <a:r>
              <a:rPr lang="en-US" sz="1300" dirty="0">
                <a:solidFill>
                  <a:schemeClr val="accent5"/>
                </a:solidFill>
              </a:rPr>
              <a:t>Latest run only: one row per product and rule</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306824" y="2240280"/>
          <a:ext cx="3566160" cy="914400"/>
        </p:xfrm>
        <a:graphic>
          <a:graphicData uri="http://schemas.openxmlformats.org/drawingml/2006/table">
            <a:tbl>
              <a:tblPr/>
              <a:tblGrid>
                <a:gridCol w="1874520"/>
                <a:gridCol w="1691640"/>
              </a:tblGrid>
              <a:tr h="338328">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product_latest_validation_rules</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4"/>
                    </a:solidFill>
                  </a:tcPr>
                </a:tc>
                <a:tc hMerge="1">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product_hash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Key (with rule_id)</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primary_product_key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Readable key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rule_id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Key (with hash)</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passed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Latest outcome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severity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From the rule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status</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Status on failure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description</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Message on failure</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validated_at</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Time of last run</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bl>
          </a:graphicData>
        </a:graphic>
      </p:graphicFrame>
      <p:sp>
        <p:nvSpPr>
          <p:cNvPr id="9" name="Text 5"/>
          <p:cNvSpPr txBox="1"/>
          <p:nvPr/>
        </p:nvSpPr>
        <p:spPr>
          <a:xfrm>
            <a:off x="4306824" y="5394960"/>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72 rows</a:t>
            </a:r>
            <a:endParaRPr lang="en-US" sz="1200" dirty="0"/>
          </a:p>
        </p:txBody>
      </p:sp>
      <p:sp>
        <p:nvSpPr>
          <p:cNvPr id="10" name="Text 6"/>
          <p:cNvSpPr txBox="1"/>
          <p:nvPr/>
        </p:nvSpPr>
        <p:spPr>
          <a:xfrm>
            <a:off x="8110728" y="1691640"/>
            <a:ext cx="3566160" cy="502920"/>
          </a:xfrm>
          <a:prstGeom prst="rect">
            <a:avLst/>
          </a:prstGeom>
          <a:noFill/>
          <a:ln/>
        </p:spPr>
        <p:txBody>
          <a:bodyPr wrap="square" lIns="0" tIns="0" rIns="0" bIns="0" rtlCol="0" anchor="t"/>
          <a:lstStyle/>
          <a:p>
            <a:pPr indent="0" marL="0">
              <a:buNone/>
            </a:pPr>
            <a:r>
              <a:rPr lang="en-US" sz="1300" dirty="0">
                <a:solidFill>
                  <a:schemeClr val="accent5"/>
                </a:solidFill>
              </a:rPr>
              <a:t>One row per product</a:t>
            </a:r>
            <a:endParaRPr lang="en-US" sz="1300" dirty="0"/>
          </a:p>
        </p:txBody>
      </p:sp>
      <p:graphicFrame>
        <p:nvGraphicFramePr>
          <p:cNvPr id="31" name="Table 2"/>
          <p:cNvGraphicFramePr>
            <a:graphicFrameLocks noGrp="1"/>
          </p:cNvGraphicFramePr>
          <p:nvPr>
            <p:extLst>
              <p:ext uri="{D42A27DB-BD31-4B8C-83A1-F6EECF244321}">
                <p14:modId xmlns:p14="http://schemas.microsoft.com/office/powerpoint/2010/main" val="1579011935"/>
              </p:ext>
            </p:extLst>
          </p:nvPr>
        </p:nvGraphicFramePr>
        <p:xfrm>
          <a:off x="8110728" y="2240280"/>
          <a:ext cx="3566160" cy="914400"/>
        </p:xfrm>
        <a:graphic>
          <a:graphicData uri="http://schemas.openxmlformats.org/drawingml/2006/table">
            <a:tbl>
              <a:tblPr/>
              <a:tblGrid>
                <a:gridCol w="1874520"/>
                <a:gridCol w="1691640"/>
              </a:tblGrid>
              <a:tr h="338328">
                <a:tc gridSpan="2">
                  <a:txBody>
                    <a:bodyPr/>
                    <a:lstStyle/>
                    <a:p>
                      <a:pPr indent="0" marL="0">
                        <a:buNone/>
                      </a:pPr>
                      <a:r>
                        <a:rPr lang="en-US" sz="1200" b="1" dirty="0">
                          <a:solidFill>
                            <a:schemeClr val="bg1"/>
                          </a:solidFill>
                          <a:latin typeface="Courier New" pitchFamily="34" charset="0"/>
                          <a:ea typeface="Courier New" pitchFamily="34" charset="-122"/>
                          <a:cs typeface="Courier New" pitchFamily="34" charset="-120"/>
                        </a:rPr>
                        <a:t>product_validation_summary</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accent4"/>
                    </a:solidFill>
                  </a:tcPr>
                </a:tc>
                <a:tc hMerge="1">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product_hash</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Primary key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primary_product_key</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Readable key</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rules_run</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Rules checked</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rules_failed</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Rules failed</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failed_rules</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e.g. PRD-PACK-GTIN</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validated_at</a:t>
                      </a:r>
                      <a:endParaRPr lang="en-US" sz="1100" dirty="0">
                        <a:latin typeface="Courier New" charset="0"/>
                        <a:ea typeface="Courier New" charset="0"/>
                        <a:cs typeface="Courier New" charset="0"/>
                      </a:endParaRPr>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Time of last run</a:t>
                      </a:r>
                      <a:endParaRPr lang="en-US" sz="1200" dirty="0"/>
                    </a:p>
                  </a:txBody>
                  <a:tcPr marL="91440" marR="91440" marT="27432" marB="27432" anchor="ctr">
                    <a:lnL w="9525" cap="flat" cmpd="sng" algn="ctr">
                      <a:solidFill>
                        <a:srgbClr val="D3DCE1"/>
                      </a:solidFill>
                      <a:prstDash val="solid"/>
                      <a:round/>
                      <a:headEnd type="none" w="med" len="med"/>
                      <a:tailEnd type="none" w="med" len="med"/>
                    </a:lnL>
                    <a:lnR w="9525" cap="flat" cmpd="sng" algn="ctr">
                      <a:solidFill>
                        <a:srgbClr val="D3DCE1"/>
                      </a:solidFill>
                      <a:prstDash val="solid"/>
                      <a:round/>
                      <a:headEnd type="none" w="med" len="med"/>
                      <a:tailEnd type="none" w="med" len="med"/>
                    </a:lnR>
                    <a:lnT w="9525" cap="flat" cmpd="sng" algn="ctr">
                      <a:solidFill>
                        <a:srgbClr val="D3DCE1"/>
                      </a:solidFill>
                      <a:prstDash val="solid"/>
                      <a:round/>
                      <a:headEnd type="none" w="med" len="med"/>
                      <a:tailEnd type="none" w="med" len="med"/>
                    </a:lnT>
                    <a:lnB w="9525" cap="flat" cmpd="sng" algn="ctr">
                      <a:solidFill>
                        <a:srgbClr val="D3DCE1"/>
                      </a:solidFill>
                      <a:prstDash val="solid"/>
                      <a:round/>
                      <a:headEnd type="none" w="med" len="med"/>
                      <a:tailEnd type="none" w="med" len="med"/>
                    </a:lnB>
                    <a:solidFill>
                      <a:schemeClr val="bg2"/>
                    </a:solidFill>
                  </a:tcPr>
                </a:tc>
              </a:tr>
            </a:tbl>
          </a:graphicData>
        </a:graphic>
      </p:graphicFrame>
      <p:sp>
        <p:nvSpPr>
          <p:cNvPr id="12" name="Text 7"/>
          <p:cNvSpPr txBox="1"/>
          <p:nvPr/>
        </p:nvSpPr>
        <p:spPr>
          <a:xfrm>
            <a:off x="8110728" y="4718304"/>
            <a:ext cx="3566160" cy="274320"/>
          </a:xfrm>
          <a:prstGeom prst="rect">
            <a:avLst/>
          </a:prstGeom>
          <a:noFill/>
          <a:ln/>
        </p:spPr>
        <p:txBody>
          <a:bodyPr wrap="square" lIns="0" tIns="0" rIns="0" bIns="0" rtlCol="0" anchor="ctr"/>
          <a:lstStyle/>
          <a:p>
            <a:pPr indent="0" marL="0">
              <a:buNone/>
            </a:pPr>
            <a:r>
              <a:rPr lang="en-US" sz="1200" b="1" dirty="0">
                <a:solidFill>
                  <a:schemeClr val="accent4"/>
                </a:solidFill>
              </a:rPr>
              <a:t>9 rows</a:t>
            </a:r>
            <a:endParaRPr lang="en-US" sz="12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02920" y="320040"/>
            <a:ext cx="11155680" cy="731520"/>
          </a:xfrm>
          <a:prstGeom prst="rect">
            <a:avLst/>
          </a:prstGeom>
          <a:noFill/>
          <a:ln/>
        </p:spPr>
        <p:txBody>
          <a:bodyPr wrap="square" lIns="0" tIns="0" rIns="0" bIns="0" rtlCol="0" anchor="ctr"/>
          <a:lstStyle/>
          <a:p>
            <a:pPr algn="l" indent="0" marL="0">
              <a:buNone/>
            </a:pPr>
            <a:r>
              <a:rPr lang="en-US" sz="3600" b="1" dirty="0">
                <a:solidFill>
                  <a:schemeClr val="tx1"/>
                </a:solidFill>
              </a:rPr>
              <a:t>What happens when a file is posted</a:t>
            </a:r>
            <a:endParaRPr lang="en-US" sz="3600" dirty="0"/>
          </a:p>
        </p:txBody>
      </p:sp>
      <p:sp>
        <p:nvSpPr>
          <p:cNvPr id="3" name="Text 0"/>
          <p:cNvSpPr/>
          <p:nvPr>
            <p:ph idx="101" type="body" hasCustomPrompt="1"/>
          </p:nvPr>
        </p:nvSpPr>
        <p:spPr>
          <a:xfrm>
            <a:off x="502920" y="1051560"/>
            <a:ext cx="11155680" cy="411480"/>
          </a:xfrm>
          <a:prstGeom prst="rect">
            <a:avLst/>
          </a:prstGeom>
          <a:noFill/>
          <a:ln/>
        </p:spPr>
        <p:txBody>
          <a:bodyPr wrap="square" lIns="0" tIns="0" rIns="0" bIns="0" rtlCol="0" anchor="t"/>
          <a:lstStyle/>
          <a:p>
            <a:pPr indent="0" marL="0">
              <a:buNone/>
            </a:pPr>
            <a:r>
              <a:rPr lang="en-US" sz="1600" dirty="0">
                <a:solidFill>
                  <a:schemeClr val="accent5"/>
                </a:solidFill>
              </a:rPr>
              <a:t>Steps 2 to 6 run in one transaction: a file is stored completely or not at all</a:t>
            </a:r>
            <a:endParaRPr lang="en-US" sz="1600" dirty="0"/>
          </a:p>
        </p:txBody>
      </p:sp>
      <p:sp>
        <p:nvSpPr>
          <p:cNvPr id="4" name="step-1"/>
          <p:cNvSpPr/>
          <p:nvPr/>
        </p:nvSpPr>
        <p:spPr>
          <a:xfrm>
            <a:off x="502920" y="1737360"/>
            <a:ext cx="3566160" cy="2011680"/>
          </a:xfrm>
          <a:prstGeom prst="roundRect">
            <a:avLst>
              <a:gd name="adj" fmla="val 3636"/>
            </a:avLst>
          </a:prstGeom>
          <a:solidFill>
            <a:schemeClr val="accent1">
              <a:alpha val="9000"/>
            </a:schemeClr>
          </a:solidFill>
          <a:ln w="9525">
            <a:solidFill>
              <a:srgbClr val="D3DCE1"/>
            </a:solidFill>
            <a:prstDash val="solid"/>
          </a:ln>
        </p:spPr>
      </p:sp>
      <p:sp>
        <p:nvSpPr>
          <p:cNvPr id="5" name="Shape 3"/>
          <p:cNvSpPr/>
          <p:nvPr/>
        </p:nvSpPr>
        <p:spPr>
          <a:xfrm>
            <a:off x="731520" y="1965960"/>
            <a:ext cx="420624" cy="420624"/>
          </a:xfrm>
          <a:prstGeom prst="ellipse">
            <a:avLst/>
          </a:prstGeom>
          <a:solidFill>
            <a:schemeClr val="accent1"/>
          </a:solidFill>
          <a:ln w="12700">
            <a:solidFill>
              <a:schemeClr val="accent1"/>
            </a:solidFill>
            <a:prstDash val="solid"/>
          </a:ln>
        </p:spPr>
      </p:sp>
      <p:sp>
        <p:nvSpPr>
          <p:cNvPr id="6" name="Text 4"/>
          <p:cNvSpPr txBox="1"/>
          <p:nvPr/>
        </p:nvSpPr>
        <p:spPr>
          <a:xfrm>
            <a:off x="731520"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280160" y="1965960"/>
            <a:ext cx="2651760" cy="420624"/>
          </a:xfrm>
          <a:prstGeom prst="rect">
            <a:avLst/>
          </a:prstGeom>
          <a:noFill/>
          <a:ln/>
        </p:spPr>
        <p:txBody>
          <a:bodyPr wrap="square" lIns="0" tIns="0" rIns="0" bIns="0" rtlCol="0" anchor="ctr"/>
          <a:lstStyle/>
          <a:p>
            <a:pPr indent="0" marL="0">
              <a:buNone/>
            </a:pPr>
            <a:r>
              <a:rPr lang="en-US" sz="1600" b="1" dirty="0">
                <a:solidFill>
                  <a:schemeClr val="accent1"/>
                </a:solidFill>
              </a:rPr>
              <a:t>Parse the whole payload</a:t>
            </a:r>
            <a:endParaRPr lang="en-US" sz="1600" dirty="0"/>
          </a:p>
        </p:txBody>
      </p:sp>
      <p:sp>
        <p:nvSpPr>
          <p:cNvPr id="8" name="Text 6"/>
          <p:cNvSpPr txBox="1"/>
          <p:nvPr/>
        </p:nvSpPr>
        <p:spPr>
          <a:xfrm>
            <a:off x="731520" y="2514600"/>
            <a:ext cx="3154680"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no tables yet</a:t>
            </a:r>
            <a:endParaRPr lang="en-US" sz="1000" dirty="0"/>
          </a:p>
        </p:txBody>
      </p:sp>
      <p:sp>
        <p:nvSpPr>
          <p:cNvPr id="9" name="Text 7"/>
          <p:cNvSpPr txBox="1"/>
          <p:nvPr/>
        </p:nvSpPr>
        <p:spPr>
          <a:xfrm>
            <a:off x="731520" y="2971800"/>
            <a:ext cx="3154680" cy="685800"/>
          </a:xfrm>
          <a:prstGeom prst="rect">
            <a:avLst/>
          </a:prstGeom>
          <a:noFill/>
          <a:ln/>
        </p:spPr>
        <p:txBody>
          <a:bodyPr wrap="square" lIns="0" tIns="0" rIns="0" bIns="0" rtlCol="0" anchor="t"/>
          <a:lstStyle/>
          <a:p>
            <a:pPr indent="0" marL="0">
              <a:buNone/>
            </a:pPr>
            <a:r>
              <a:rPr lang="en-US" sz="1300" dirty="0">
                <a:solidFill>
                  <a:schemeClr val="accent5"/>
                </a:solidFill>
              </a:rPr>
              <a:t>Every level becomes a product. A malformed node rejects the file before anything is written.</a:t>
            </a:r>
            <a:endParaRPr lang="en-US" sz="1300" dirty="0"/>
          </a:p>
        </p:txBody>
      </p:sp>
      <p:sp>
        <p:nvSpPr>
          <p:cNvPr id="10" name="step-2"/>
          <p:cNvSpPr/>
          <p:nvPr/>
        </p:nvSpPr>
        <p:spPr>
          <a:xfrm>
            <a:off x="4306824" y="1737360"/>
            <a:ext cx="3566160" cy="2011680"/>
          </a:xfrm>
          <a:prstGeom prst="roundRect">
            <a:avLst>
              <a:gd name="adj" fmla="val 3636"/>
            </a:avLst>
          </a:prstGeom>
          <a:solidFill>
            <a:schemeClr val="accent1">
              <a:alpha val="9000"/>
            </a:schemeClr>
          </a:solidFill>
          <a:ln w="9525">
            <a:solidFill>
              <a:srgbClr val="D3DCE1"/>
            </a:solidFill>
            <a:prstDash val="solid"/>
          </a:ln>
        </p:spPr>
      </p:sp>
      <p:sp>
        <p:nvSpPr>
          <p:cNvPr id="11" name="Shape 9"/>
          <p:cNvSpPr/>
          <p:nvPr/>
        </p:nvSpPr>
        <p:spPr>
          <a:xfrm>
            <a:off x="4535424" y="1965960"/>
            <a:ext cx="420624" cy="420624"/>
          </a:xfrm>
          <a:prstGeom prst="ellipse">
            <a:avLst/>
          </a:prstGeom>
          <a:solidFill>
            <a:schemeClr val="accent1"/>
          </a:solidFill>
          <a:ln w="12700">
            <a:solidFill>
              <a:schemeClr val="accent1"/>
            </a:solidFill>
            <a:prstDash val="solid"/>
          </a:ln>
        </p:spPr>
      </p:sp>
      <p:sp>
        <p:nvSpPr>
          <p:cNvPr id="12" name="Text 10"/>
          <p:cNvSpPr txBox="1"/>
          <p:nvPr/>
        </p:nvSpPr>
        <p:spPr>
          <a:xfrm>
            <a:off x="4535424"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5084064" y="1965960"/>
            <a:ext cx="2651760" cy="420624"/>
          </a:xfrm>
          <a:prstGeom prst="rect">
            <a:avLst/>
          </a:prstGeom>
          <a:noFill/>
          <a:ln/>
        </p:spPr>
        <p:txBody>
          <a:bodyPr wrap="square" lIns="0" tIns="0" rIns="0" bIns="0" rtlCol="0" anchor="ctr"/>
          <a:lstStyle/>
          <a:p>
            <a:pPr indent="0" marL="0">
              <a:buNone/>
            </a:pPr>
            <a:r>
              <a:rPr lang="en-US" sz="1600" b="1" dirty="0">
                <a:solidFill>
                  <a:schemeClr val="accent1"/>
                </a:solidFill>
              </a:rPr>
              <a:t>Append to history</a:t>
            </a:r>
            <a:endParaRPr lang="en-US" sz="1600" dirty="0"/>
          </a:p>
        </p:txBody>
      </p:sp>
      <p:sp>
        <p:nvSpPr>
          <p:cNvPr id="14" name="Text 12"/>
          <p:cNvSpPr txBox="1"/>
          <p:nvPr/>
        </p:nvSpPr>
        <p:spPr>
          <a:xfrm>
            <a:off x="4535424" y="2514600"/>
            <a:ext cx="3154680"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product_history</a:t>
            </a:r>
            <a:endParaRPr lang="en-US" sz="1000" dirty="0"/>
          </a:p>
        </p:txBody>
      </p:sp>
      <p:sp>
        <p:nvSpPr>
          <p:cNvPr id="15" name="Text 13"/>
          <p:cNvSpPr txBox="1"/>
          <p:nvPr/>
        </p:nvSpPr>
        <p:spPr>
          <a:xfrm>
            <a:off x="4535424" y="2971800"/>
            <a:ext cx="3154680" cy="685800"/>
          </a:xfrm>
          <a:prstGeom prst="rect">
            <a:avLst/>
          </a:prstGeom>
          <a:noFill/>
          <a:ln/>
        </p:spPr>
        <p:txBody>
          <a:bodyPr wrap="square" lIns="0" tIns="0" rIns="0" bIns="0" rtlCol="0" anchor="t"/>
          <a:lstStyle/>
          <a:p>
            <a:pPr indent="0" marL="0">
              <a:buNone/>
            </a:pPr>
            <a:r>
              <a:rPr lang="en-US" sz="1300" dirty="0">
                <a:solidFill>
                  <a:schemeClr val="accent5"/>
                </a:solidFill>
              </a:rPr>
              <a:t>One new row per product, every time it is posted.</a:t>
            </a:r>
            <a:endParaRPr lang="en-US" sz="1300" dirty="0"/>
          </a:p>
        </p:txBody>
      </p:sp>
      <p:sp>
        <p:nvSpPr>
          <p:cNvPr id="16" name="step-3"/>
          <p:cNvSpPr/>
          <p:nvPr/>
        </p:nvSpPr>
        <p:spPr>
          <a:xfrm>
            <a:off x="8110728" y="1737360"/>
            <a:ext cx="3566160" cy="2011680"/>
          </a:xfrm>
          <a:prstGeom prst="roundRect">
            <a:avLst>
              <a:gd name="adj" fmla="val 3636"/>
            </a:avLst>
          </a:prstGeom>
          <a:solidFill>
            <a:schemeClr val="accent1">
              <a:alpha val="9000"/>
            </a:schemeClr>
          </a:solidFill>
          <a:ln w="9525">
            <a:solidFill>
              <a:srgbClr val="D3DCE1"/>
            </a:solidFill>
            <a:prstDash val="solid"/>
          </a:ln>
        </p:spPr>
      </p:sp>
      <p:sp>
        <p:nvSpPr>
          <p:cNvPr id="17" name="Shape 15"/>
          <p:cNvSpPr/>
          <p:nvPr/>
        </p:nvSpPr>
        <p:spPr>
          <a:xfrm>
            <a:off x="8339328" y="1965960"/>
            <a:ext cx="420624" cy="420624"/>
          </a:xfrm>
          <a:prstGeom prst="ellipse">
            <a:avLst/>
          </a:prstGeom>
          <a:solidFill>
            <a:schemeClr val="accent1"/>
          </a:solidFill>
          <a:ln w="12700">
            <a:solidFill>
              <a:schemeClr val="accent1"/>
            </a:solidFill>
            <a:prstDash val="solid"/>
          </a:ln>
        </p:spPr>
      </p:sp>
      <p:sp>
        <p:nvSpPr>
          <p:cNvPr id="18" name="Text 16"/>
          <p:cNvSpPr txBox="1"/>
          <p:nvPr/>
        </p:nvSpPr>
        <p:spPr>
          <a:xfrm>
            <a:off x="8339328" y="1965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8887968" y="1965960"/>
            <a:ext cx="2651760" cy="420624"/>
          </a:xfrm>
          <a:prstGeom prst="rect">
            <a:avLst/>
          </a:prstGeom>
          <a:noFill/>
          <a:ln/>
        </p:spPr>
        <p:txBody>
          <a:bodyPr wrap="square" lIns="0" tIns="0" rIns="0" bIns="0" rtlCol="0" anchor="ctr"/>
          <a:lstStyle/>
          <a:p>
            <a:pPr indent="0" marL="0">
              <a:buNone/>
            </a:pPr>
            <a:r>
              <a:rPr lang="en-US" sz="1600" b="1" dirty="0">
                <a:solidFill>
                  <a:schemeClr val="accent1"/>
                </a:solidFill>
              </a:rPr>
              <a:t>Insert or replace latest</a:t>
            </a:r>
            <a:endParaRPr lang="en-US" sz="1600" dirty="0"/>
          </a:p>
        </p:txBody>
      </p:sp>
      <p:sp>
        <p:nvSpPr>
          <p:cNvPr id="20" name="Text 18"/>
          <p:cNvSpPr txBox="1"/>
          <p:nvPr/>
        </p:nvSpPr>
        <p:spPr>
          <a:xfrm>
            <a:off x="8339328" y="2514600"/>
            <a:ext cx="3154680"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product_latest</a:t>
            </a:r>
            <a:endParaRPr lang="en-US" sz="1000" dirty="0"/>
          </a:p>
        </p:txBody>
      </p:sp>
      <p:sp>
        <p:nvSpPr>
          <p:cNvPr id="21" name="Text 19"/>
          <p:cNvSpPr txBox="1"/>
          <p:nvPr/>
        </p:nvSpPr>
        <p:spPr>
          <a:xfrm>
            <a:off x="8339328" y="2971800"/>
            <a:ext cx="3154680" cy="685800"/>
          </a:xfrm>
          <a:prstGeom prst="rect">
            <a:avLst/>
          </a:prstGeom>
          <a:noFill/>
          <a:ln/>
        </p:spPr>
        <p:txBody>
          <a:bodyPr wrap="square" lIns="0" tIns="0" rIns="0" bIns="0" rtlCol="0" anchor="t"/>
          <a:lstStyle/>
          <a:p>
            <a:pPr indent="0" marL="0">
              <a:buNone/>
            </a:pPr>
            <a:r>
              <a:rPr lang="en-US" sz="1300" dirty="0">
                <a:solidFill>
                  <a:schemeClr val="accent5"/>
                </a:solidFill>
              </a:rPr>
              <a:t>A new product is inserted; a known one is replaced and keeps its id.</a:t>
            </a:r>
            <a:endParaRPr lang="en-US" sz="1300" dirty="0"/>
          </a:p>
        </p:txBody>
      </p:sp>
      <p:sp>
        <p:nvSpPr>
          <p:cNvPr id="22" name="step-4"/>
          <p:cNvSpPr/>
          <p:nvPr/>
        </p:nvSpPr>
        <p:spPr>
          <a:xfrm>
            <a:off x="502920" y="4023360"/>
            <a:ext cx="3566160" cy="2011680"/>
          </a:xfrm>
          <a:prstGeom prst="roundRect">
            <a:avLst>
              <a:gd name="adj" fmla="val 3636"/>
            </a:avLst>
          </a:prstGeom>
          <a:solidFill>
            <a:schemeClr val="accent2">
              <a:alpha val="9000"/>
            </a:schemeClr>
          </a:solidFill>
          <a:ln w="9525">
            <a:solidFill>
              <a:srgbClr val="D3DCE1"/>
            </a:solidFill>
            <a:prstDash val="solid"/>
          </a:ln>
        </p:spPr>
      </p:sp>
      <p:sp>
        <p:nvSpPr>
          <p:cNvPr id="23" name="Shape 21"/>
          <p:cNvSpPr/>
          <p:nvPr/>
        </p:nvSpPr>
        <p:spPr>
          <a:xfrm>
            <a:off x="731520" y="4251960"/>
            <a:ext cx="420624" cy="420624"/>
          </a:xfrm>
          <a:prstGeom prst="ellipse">
            <a:avLst/>
          </a:prstGeom>
          <a:solidFill>
            <a:schemeClr val="accent2"/>
          </a:solidFill>
          <a:ln w="12700">
            <a:solidFill>
              <a:schemeClr val="accent2"/>
            </a:solidFill>
            <a:prstDash val="solid"/>
          </a:ln>
        </p:spPr>
      </p:sp>
      <p:sp>
        <p:nvSpPr>
          <p:cNvPr id="24" name="Text 22"/>
          <p:cNvSpPr txBox="1"/>
          <p:nvPr/>
        </p:nvSpPr>
        <p:spPr>
          <a:xfrm>
            <a:off x="731520" y="4251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3"/>
          <p:cNvSpPr txBox="1"/>
          <p:nvPr/>
        </p:nvSpPr>
        <p:spPr>
          <a:xfrm>
            <a:off x="1280160" y="4251960"/>
            <a:ext cx="2651760" cy="420624"/>
          </a:xfrm>
          <a:prstGeom prst="rect">
            <a:avLst/>
          </a:prstGeom>
          <a:noFill/>
          <a:ln/>
        </p:spPr>
        <p:txBody>
          <a:bodyPr wrap="square" lIns="0" tIns="0" rIns="0" bIns="0" rtlCol="0" anchor="ctr"/>
          <a:lstStyle/>
          <a:p>
            <a:pPr indent="0" marL="0">
              <a:buNone/>
            </a:pPr>
            <a:r>
              <a:rPr lang="en-US" sz="1600" b="1" dirty="0">
                <a:solidFill>
                  <a:schemeClr val="accent2"/>
                </a:solidFill>
              </a:rPr>
              <a:t>Rewrite the lists</a:t>
            </a:r>
            <a:endParaRPr lang="en-US" sz="1600" dirty="0"/>
          </a:p>
        </p:txBody>
      </p:sp>
      <p:sp>
        <p:nvSpPr>
          <p:cNvPr id="26" name="Text 24"/>
          <p:cNvSpPr txBox="1"/>
          <p:nvPr/>
        </p:nvSpPr>
        <p:spPr>
          <a:xfrm>
            <a:off x="731520" y="4800600"/>
            <a:ext cx="3154680"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product_alternate_key · product_unit · product_property</a:t>
            </a:r>
            <a:endParaRPr lang="en-US" sz="1000" dirty="0"/>
          </a:p>
        </p:txBody>
      </p:sp>
      <p:sp>
        <p:nvSpPr>
          <p:cNvPr id="27" name="Text 25"/>
          <p:cNvSpPr txBox="1"/>
          <p:nvPr/>
        </p:nvSpPr>
        <p:spPr>
          <a:xfrm>
            <a:off x="731520" y="5257800"/>
            <a:ext cx="3154680" cy="685800"/>
          </a:xfrm>
          <a:prstGeom prst="rect">
            <a:avLst/>
          </a:prstGeom>
          <a:noFill/>
          <a:ln/>
        </p:spPr>
        <p:txBody>
          <a:bodyPr wrap="square" lIns="0" tIns="0" rIns="0" bIns="0" rtlCol="0" anchor="t"/>
          <a:lstStyle/>
          <a:p>
            <a:pPr indent="0" marL="0">
              <a:buNone/>
            </a:pPr>
            <a:r>
              <a:rPr lang="en-US" sz="1300" dirty="0">
                <a:solidFill>
                  <a:schemeClr val="accent5"/>
                </a:solidFill>
              </a:rPr>
              <a:t>Old rows deleted, new rows inserted, in three batches.</a:t>
            </a:r>
            <a:endParaRPr lang="en-US" sz="1300" dirty="0"/>
          </a:p>
        </p:txBody>
      </p:sp>
      <p:sp>
        <p:nvSpPr>
          <p:cNvPr id="28" name="step-5"/>
          <p:cNvSpPr/>
          <p:nvPr/>
        </p:nvSpPr>
        <p:spPr>
          <a:xfrm>
            <a:off x="4306824" y="4023360"/>
            <a:ext cx="3566160" cy="2011680"/>
          </a:xfrm>
          <a:prstGeom prst="roundRect">
            <a:avLst>
              <a:gd name="adj" fmla="val 3636"/>
            </a:avLst>
          </a:prstGeom>
          <a:solidFill>
            <a:schemeClr val="accent3">
              <a:alpha val="9000"/>
            </a:schemeClr>
          </a:solidFill>
          <a:ln w="9525">
            <a:solidFill>
              <a:srgbClr val="D3DCE1"/>
            </a:solidFill>
            <a:prstDash val="solid"/>
          </a:ln>
        </p:spPr>
      </p:sp>
      <p:sp>
        <p:nvSpPr>
          <p:cNvPr id="29" name="Shape 27"/>
          <p:cNvSpPr/>
          <p:nvPr/>
        </p:nvSpPr>
        <p:spPr>
          <a:xfrm>
            <a:off x="4535424" y="4251960"/>
            <a:ext cx="420624" cy="420624"/>
          </a:xfrm>
          <a:prstGeom prst="ellipse">
            <a:avLst/>
          </a:prstGeom>
          <a:solidFill>
            <a:schemeClr val="accent3"/>
          </a:solidFill>
          <a:ln w="12700">
            <a:solidFill>
              <a:schemeClr val="accent3"/>
            </a:solidFill>
            <a:prstDash val="solid"/>
          </a:ln>
        </p:spPr>
      </p:sp>
      <p:sp>
        <p:nvSpPr>
          <p:cNvPr id="30" name="Text 28"/>
          <p:cNvSpPr txBox="1"/>
          <p:nvPr/>
        </p:nvSpPr>
        <p:spPr>
          <a:xfrm>
            <a:off x="4535424" y="4251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Text 29"/>
          <p:cNvSpPr txBox="1"/>
          <p:nvPr/>
        </p:nvSpPr>
        <p:spPr>
          <a:xfrm>
            <a:off x="5084064" y="4251960"/>
            <a:ext cx="2651760" cy="420624"/>
          </a:xfrm>
          <a:prstGeom prst="rect">
            <a:avLst/>
          </a:prstGeom>
          <a:noFill/>
          <a:ln/>
        </p:spPr>
        <p:txBody>
          <a:bodyPr wrap="square" lIns="0" tIns="0" rIns="0" bIns="0" rtlCol="0" anchor="ctr"/>
          <a:lstStyle/>
          <a:p>
            <a:pPr indent="0" marL="0">
              <a:buNone/>
            </a:pPr>
            <a:r>
              <a:rPr lang="en-US" sz="1600" b="1" dirty="0">
                <a:solidFill>
                  <a:schemeClr val="accent3"/>
                </a:solidFill>
              </a:rPr>
              <a:t>Run the active rules</a:t>
            </a:r>
            <a:endParaRPr lang="en-US" sz="1600" dirty="0"/>
          </a:p>
        </p:txBody>
      </p:sp>
      <p:sp>
        <p:nvSpPr>
          <p:cNvPr id="32" name="Text 30"/>
          <p:cNvSpPr txBox="1"/>
          <p:nvPr/>
        </p:nvSpPr>
        <p:spPr>
          <a:xfrm>
            <a:off x="4535424" y="4800600"/>
            <a:ext cx="3154680"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product_val_*  →  product_validation_results</a:t>
            </a:r>
            <a:endParaRPr lang="en-US" sz="1000" dirty="0"/>
          </a:p>
        </p:txBody>
      </p:sp>
      <p:sp>
        <p:nvSpPr>
          <p:cNvPr id="33" name="Text 31"/>
          <p:cNvSpPr txBox="1"/>
          <p:nvPr/>
        </p:nvSpPr>
        <p:spPr>
          <a:xfrm>
            <a:off x="4535424" y="5257800"/>
            <a:ext cx="3154680" cy="685800"/>
          </a:xfrm>
          <a:prstGeom prst="rect">
            <a:avLst/>
          </a:prstGeom>
          <a:noFill/>
          <a:ln/>
        </p:spPr>
        <p:txBody>
          <a:bodyPr wrap="square" lIns="0" tIns="0" rIns="0" bIns="0" rtlCol="0" anchor="t"/>
          <a:lstStyle/>
          <a:p>
            <a:pPr indent="0" marL="0">
              <a:buNone/>
            </a:pPr>
            <a:r>
              <a:rPr lang="en-US" sz="1300" dirty="0">
                <a:solidFill>
                  <a:schemeClr val="accent5"/>
                </a:solidFill>
              </a:rPr>
              <a:t>Rules are read once per payload; one result row per product and rule.</a:t>
            </a:r>
            <a:endParaRPr lang="en-US" sz="1300" dirty="0"/>
          </a:p>
        </p:txBody>
      </p:sp>
      <p:sp>
        <p:nvSpPr>
          <p:cNvPr id="34" name="step-6"/>
          <p:cNvSpPr/>
          <p:nvPr/>
        </p:nvSpPr>
        <p:spPr>
          <a:xfrm>
            <a:off x="8110728" y="4023360"/>
            <a:ext cx="3566160" cy="2011680"/>
          </a:xfrm>
          <a:prstGeom prst="roundRect">
            <a:avLst>
              <a:gd name="adj" fmla="val 3636"/>
            </a:avLst>
          </a:prstGeom>
          <a:solidFill>
            <a:schemeClr val="accent4">
              <a:alpha val="9000"/>
            </a:schemeClr>
          </a:solidFill>
          <a:ln w="9525">
            <a:solidFill>
              <a:srgbClr val="D3DCE1"/>
            </a:solidFill>
            <a:prstDash val="solid"/>
          </a:ln>
        </p:spPr>
      </p:sp>
      <p:sp>
        <p:nvSpPr>
          <p:cNvPr id="35" name="Shape 33"/>
          <p:cNvSpPr/>
          <p:nvPr/>
        </p:nvSpPr>
        <p:spPr>
          <a:xfrm>
            <a:off x="8339328" y="4251960"/>
            <a:ext cx="420624" cy="420624"/>
          </a:xfrm>
          <a:prstGeom prst="ellipse">
            <a:avLst/>
          </a:prstGeom>
          <a:solidFill>
            <a:schemeClr val="accent4"/>
          </a:solidFill>
          <a:ln w="12700">
            <a:solidFill>
              <a:schemeClr val="accent4"/>
            </a:solidFill>
            <a:prstDash val="solid"/>
          </a:ln>
        </p:spPr>
      </p:sp>
      <p:sp>
        <p:nvSpPr>
          <p:cNvPr id="36" name="Text 34"/>
          <p:cNvSpPr txBox="1"/>
          <p:nvPr/>
        </p:nvSpPr>
        <p:spPr>
          <a:xfrm>
            <a:off x="8339328" y="4251960"/>
            <a:ext cx="420624" cy="420624"/>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7" name="Text 35"/>
          <p:cNvSpPr txBox="1"/>
          <p:nvPr/>
        </p:nvSpPr>
        <p:spPr>
          <a:xfrm>
            <a:off x="8887968" y="4251960"/>
            <a:ext cx="2651760" cy="420624"/>
          </a:xfrm>
          <a:prstGeom prst="rect">
            <a:avLst/>
          </a:prstGeom>
          <a:noFill/>
          <a:ln/>
        </p:spPr>
        <p:txBody>
          <a:bodyPr wrap="square" lIns="0" tIns="0" rIns="0" bIns="0" rtlCol="0" anchor="ctr"/>
          <a:lstStyle/>
          <a:p>
            <a:pPr indent="0" marL="0">
              <a:buNone/>
            </a:pPr>
            <a:r>
              <a:rPr lang="en-US" sz="1600" b="1" dirty="0">
                <a:solidFill>
                  <a:schemeClr val="accent4"/>
                </a:solidFill>
              </a:rPr>
              <a:t>Refresh the summaries</a:t>
            </a:r>
            <a:endParaRPr lang="en-US" sz="1600" dirty="0"/>
          </a:p>
        </p:txBody>
      </p:sp>
      <p:sp>
        <p:nvSpPr>
          <p:cNvPr id="38" name="Text 36"/>
          <p:cNvSpPr txBox="1"/>
          <p:nvPr/>
        </p:nvSpPr>
        <p:spPr>
          <a:xfrm>
            <a:off x="8339328" y="4800600"/>
            <a:ext cx="3154680" cy="457200"/>
          </a:xfrm>
          <a:prstGeom prst="rect">
            <a:avLst/>
          </a:prstGeom>
          <a:noFill/>
          <a:ln/>
        </p:spPr>
        <p:txBody>
          <a:bodyPr wrap="square" lIns="0" tIns="0" rIns="0" bIns="0" rtlCol="0" anchor="t"/>
          <a:lstStyle/>
          <a:p>
            <a:pPr indent="0" marL="0">
              <a:buNone/>
            </a:pPr>
            <a:r>
              <a:rPr lang="en-US" sz="1000" dirty="0">
                <a:solidFill>
                  <a:schemeClr val="tx1"/>
                </a:solidFill>
                <a:latin typeface="Courier New" pitchFamily="34" charset="0"/>
                <a:ea typeface="Courier New" pitchFamily="34" charset="-122"/>
                <a:cs typeface="Courier New" pitchFamily="34" charset="-120"/>
              </a:rPr>
              <a:t>product_latest_validation_rules · product_validation_summary</a:t>
            </a:r>
            <a:endParaRPr lang="en-US" sz="1000" dirty="0"/>
          </a:p>
        </p:txBody>
      </p:sp>
      <p:sp>
        <p:nvSpPr>
          <p:cNvPr id="39" name="Text 37"/>
          <p:cNvSpPr txBox="1"/>
          <p:nvPr/>
        </p:nvSpPr>
        <p:spPr>
          <a:xfrm>
            <a:off x="8339328" y="5257800"/>
            <a:ext cx="3154680" cy="685800"/>
          </a:xfrm>
          <a:prstGeom prst="rect">
            <a:avLst/>
          </a:prstGeom>
          <a:noFill/>
          <a:ln/>
        </p:spPr>
        <p:txBody>
          <a:bodyPr wrap="square" lIns="0" tIns="0" rIns="0" bIns="0" rtlCol="0" anchor="t"/>
          <a:lstStyle/>
          <a:p>
            <a:pPr indent="0" marL="0">
              <a:buNone/>
            </a:pPr>
            <a:r>
              <a:rPr lang="en-US" sz="1300" dirty="0">
                <a:solidFill>
                  <a:schemeClr val="accent5"/>
                </a:solidFill>
              </a:rPr>
              <a:t>Latest outcome per rule and the per-product counts.</a:t>
            </a:r>
            <a:endParaRPr lang="en-US" sz="1300" dirty="0"/>
          </a:p>
        </p:txBody>
      </p:sp>
      <p:sp>
        <p:nvSpPr>
          <p:cNvPr id="25" name="Slide Number Placeholder 0"/>
          <p:cNvSpPr>
            <a:spLocks noGrp="1"/>
          </p:cNvSpPr>
          <p:nvPr>
            <p:ph type="sldNum" sz="quarter" idx="4294967295"/>
          </p:nvPr>
        </p:nvSpPr>
        <p:spPr>
          <a:xfrm>
            <a:off x="1110996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822960"/>
          </a:xfrm>
          <a:prstGeom prst="rect">
            <a:avLst/>
          </a:prstGeom>
          <a:noFill/>
          <a:ln/>
        </p:spPr>
        <p:txBody>
          <a:bodyPr wrap="square" lIns="0" tIns="0" rIns="0" bIns="0" rtlCol="0" anchor="ctr"/>
          <a:lstStyle/>
          <a:p>
            <a:pPr algn="l" indent="0" marL="0">
              <a:buNone/>
            </a:pPr>
            <a:r>
              <a:rPr lang="en-US" sz="4000" b="1" dirty="0">
                <a:solidFill>
                  <a:schemeClr val="bg1"/>
                </a:solidFill>
              </a:rPr>
              <a:t>After one load of product_data/</a:t>
            </a:r>
            <a:endParaRPr lang="en-US" sz="4000" dirty="0"/>
          </a:p>
        </p:txBody>
      </p:sp>
      <p:sp>
        <p:nvSpPr>
          <p:cNvPr id="3" name="Text 0"/>
          <p:cNvSpPr/>
          <p:nvPr>
            <p:ph idx="101" type="body" hasCustomPrompt="1"/>
          </p:nvPr>
        </p:nvSpPr>
        <p:spPr>
          <a:xfrm>
            <a:off x="731520" y="1371600"/>
            <a:ext cx="10698480" cy="457200"/>
          </a:xfrm>
          <a:prstGeom prst="rect">
            <a:avLst/>
          </a:prstGeom>
          <a:noFill/>
          <a:ln/>
        </p:spPr>
        <p:txBody>
          <a:bodyPr wrap="square" lIns="0" tIns="0" rIns="0" bIns="0" rtlCol="0" anchor="t"/>
          <a:lstStyle/>
          <a:p>
            <a:pPr indent="0" marL="0">
              <a:buNone/>
            </a:pPr>
            <a:r>
              <a:rPr lang="en-US" sz="1800" dirty="0">
                <a:solidFill>
                  <a:schemeClr val="accent6"/>
                </a:solidFill>
              </a:rPr>
              <a:t>3 files, 3 hierarchies, validated by the 8 example rules</a:t>
            </a:r>
            <a:endParaRPr lang="en-US" sz="1800" dirty="0"/>
          </a:p>
        </p:txBody>
      </p:sp>
      <p:sp>
        <p:nvSpPr>
          <p:cNvPr id="4" name="stat-dot-0"/>
          <p:cNvSpPr/>
          <p:nvPr/>
        </p:nvSpPr>
        <p:spPr>
          <a:xfrm>
            <a:off x="731520" y="2514600"/>
            <a:ext cx="128016" cy="128016"/>
          </a:xfrm>
          <a:prstGeom prst="rect">
            <a:avLst/>
          </a:prstGeom>
          <a:solidFill>
            <a:schemeClr val="accent1"/>
          </a:solidFill>
          <a:ln w="12700">
            <a:solidFill>
              <a:schemeClr val="accent1"/>
            </a:solidFill>
            <a:prstDash val="solid"/>
          </a:ln>
        </p:spPr>
      </p:sp>
      <p:sp>
        <p:nvSpPr>
          <p:cNvPr id="5" name="Text 3"/>
          <p:cNvSpPr txBox="1"/>
          <p:nvPr/>
        </p:nvSpPr>
        <p:spPr>
          <a:xfrm>
            <a:off x="731520" y="2743200"/>
            <a:ext cx="2560320" cy="1097280"/>
          </a:xfrm>
          <a:prstGeom prst="rect">
            <a:avLst/>
          </a:prstGeom>
          <a:noFill/>
          <a:ln/>
        </p:spPr>
        <p:txBody>
          <a:bodyPr wrap="square" lIns="0" tIns="0" rIns="0" bIns="0" rtlCol="0" anchor="ctr"/>
          <a:lstStyle/>
          <a:p>
            <a:pPr indent="0" marL="0">
              <a:buNone/>
            </a:pPr>
            <a:r>
              <a:rPr lang="en-US" sz="6600" b="1" dirty="0">
                <a:solidFill>
                  <a:schemeClr val="bg1"/>
                </a:solidFill>
                <a:latin typeface="Arial" pitchFamily="34" charset="0"/>
                <a:ea typeface="Arial" pitchFamily="34" charset="-122"/>
                <a:cs typeface="Arial" pitchFamily="34" charset="-120"/>
              </a:rPr>
              <a:t>9</a:t>
            </a:r>
            <a:endParaRPr lang="en-US" sz="6600" dirty="0"/>
          </a:p>
        </p:txBody>
      </p:sp>
      <p:sp>
        <p:nvSpPr>
          <p:cNvPr id="6" name="Text 4"/>
          <p:cNvSpPr txBox="1"/>
          <p:nvPr/>
        </p:nvSpPr>
        <p:spPr>
          <a:xfrm>
            <a:off x="731520" y="3840480"/>
            <a:ext cx="2560320" cy="365760"/>
          </a:xfrm>
          <a:prstGeom prst="rect">
            <a:avLst/>
          </a:prstGeom>
          <a:noFill/>
          <a:ln/>
        </p:spPr>
        <p:txBody>
          <a:bodyPr wrap="square" lIns="0" tIns="0" rIns="0" bIns="0" rtlCol="0" anchor="ctr"/>
          <a:lstStyle/>
          <a:p>
            <a:pPr indent="0" marL="0">
              <a:buNone/>
            </a:pPr>
            <a:r>
              <a:rPr lang="en-US" sz="1800" dirty="0">
                <a:solidFill>
                  <a:schemeClr val="bg1"/>
                </a:solidFill>
              </a:rPr>
              <a:t>products</a:t>
            </a:r>
            <a:endParaRPr lang="en-US" sz="1800" dirty="0"/>
          </a:p>
        </p:txBody>
      </p:sp>
      <p:sp>
        <p:nvSpPr>
          <p:cNvPr id="7" name="Text 5"/>
          <p:cNvSpPr txBox="1"/>
          <p:nvPr/>
        </p:nvSpPr>
        <p:spPr>
          <a:xfrm>
            <a:off x="731520" y="4206240"/>
            <a:ext cx="2560320" cy="32004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product_latest</a:t>
            </a:r>
            <a:endParaRPr lang="en-US" sz="1100" dirty="0"/>
          </a:p>
        </p:txBody>
      </p:sp>
      <p:sp>
        <p:nvSpPr>
          <p:cNvPr id="8" name="stat-dot-1"/>
          <p:cNvSpPr/>
          <p:nvPr/>
        </p:nvSpPr>
        <p:spPr>
          <a:xfrm>
            <a:off x="3474720" y="2514600"/>
            <a:ext cx="128016" cy="128016"/>
          </a:xfrm>
          <a:prstGeom prst="rect">
            <a:avLst/>
          </a:prstGeom>
          <a:solidFill>
            <a:schemeClr val="accent2"/>
          </a:solidFill>
          <a:ln w="12700">
            <a:solidFill>
              <a:schemeClr val="accent2"/>
            </a:solidFill>
            <a:prstDash val="solid"/>
          </a:ln>
        </p:spPr>
      </p:sp>
      <p:sp>
        <p:nvSpPr>
          <p:cNvPr id="9" name="Text 7"/>
          <p:cNvSpPr txBox="1"/>
          <p:nvPr/>
        </p:nvSpPr>
        <p:spPr>
          <a:xfrm>
            <a:off x="3474720" y="2743200"/>
            <a:ext cx="2560320" cy="1097280"/>
          </a:xfrm>
          <a:prstGeom prst="rect">
            <a:avLst/>
          </a:prstGeom>
          <a:noFill/>
          <a:ln/>
        </p:spPr>
        <p:txBody>
          <a:bodyPr wrap="square" lIns="0" tIns="0" rIns="0" bIns="0" rtlCol="0" anchor="ctr"/>
          <a:lstStyle/>
          <a:p>
            <a:pPr indent="0" marL="0">
              <a:buNone/>
            </a:pPr>
            <a:r>
              <a:rPr lang="en-US" sz="6600" b="1" dirty="0">
                <a:solidFill>
                  <a:schemeClr val="bg1"/>
                </a:solidFill>
                <a:latin typeface="Arial" pitchFamily="34" charset="0"/>
                <a:ea typeface="Arial" pitchFamily="34" charset="-122"/>
                <a:cs typeface="Arial" pitchFamily="34" charset="-120"/>
              </a:rPr>
              <a:t>23</a:t>
            </a:r>
            <a:endParaRPr lang="en-US" sz="6600" dirty="0"/>
          </a:p>
        </p:txBody>
      </p:sp>
      <p:sp>
        <p:nvSpPr>
          <p:cNvPr id="10" name="Text 8"/>
          <p:cNvSpPr txBox="1"/>
          <p:nvPr/>
        </p:nvSpPr>
        <p:spPr>
          <a:xfrm>
            <a:off x="3474720" y="3840480"/>
            <a:ext cx="2560320" cy="365760"/>
          </a:xfrm>
          <a:prstGeom prst="rect">
            <a:avLst/>
          </a:prstGeom>
          <a:noFill/>
          <a:ln/>
        </p:spPr>
        <p:txBody>
          <a:bodyPr wrap="square" lIns="0" tIns="0" rIns="0" bIns="0" rtlCol="0" anchor="ctr"/>
          <a:lstStyle/>
          <a:p>
            <a:pPr indent="0" marL="0">
              <a:buNone/>
            </a:pPr>
            <a:r>
              <a:rPr lang="en-US" sz="1800" dirty="0">
                <a:solidFill>
                  <a:schemeClr val="bg1"/>
                </a:solidFill>
              </a:rPr>
              <a:t>alternate keys</a:t>
            </a:r>
            <a:endParaRPr lang="en-US" sz="1800" dirty="0"/>
          </a:p>
        </p:txBody>
      </p:sp>
      <p:sp>
        <p:nvSpPr>
          <p:cNvPr id="11" name="Text 9"/>
          <p:cNvSpPr txBox="1"/>
          <p:nvPr/>
        </p:nvSpPr>
        <p:spPr>
          <a:xfrm>
            <a:off x="3474720" y="4206240"/>
            <a:ext cx="2560320" cy="32004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product_alternate_key</a:t>
            </a:r>
            <a:endParaRPr lang="en-US" sz="1100" dirty="0"/>
          </a:p>
        </p:txBody>
      </p:sp>
      <p:sp>
        <p:nvSpPr>
          <p:cNvPr id="12" name="stat-dot-2"/>
          <p:cNvSpPr/>
          <p:nvPr/>
        </p:nvSpPr>
        <p:spPr>
          <a:xfrm>
            <a:off x="6217920" y="2514600"/>
            <a:ext cx="128016" cy="128016"/>
          </a:xfrm>
          <a:prstGeom prst="rect">
            <a:avLst/>
          </a:prstGeom>
          <a:solidFill>
            <a:schemeClr val="accent2"/>
          </a:solidFill>
          <a:ln w="12700">
            <a:solidFill>
              <a:schemeClr val="accent2"/>
            </a:solidFill>
            <a:prstDash val="solid"/>
          </a:ln>
        </p:spPr>
      </p:sp>
      <p:sp>
        <p:nvSpPr>
          <p:cNvPr id="13" name="Text 11"/>
          <p:cNvSpPr txBox="1"/>
          <p:nvPr/>
        </p:nvSpPr>
        <p:spPr>
          <a:xfrm>
            <a:off x="6217920" y="2743200"/>
            <a:ext cx="2560320" cy="1097280"/>
          </a:xfrm>
          <a:prstGeom prst="rect">
            <a:avLst/>
          </a:prstGeom>
          <a:noFill/>
          <a:ln/>
        </p:spPr>
        <p:txBody>
          <a:bodyPr wrap="square" lIns="0" tIns="0" rIns="0" bIns="0" rtlCol="0" anchor="ctr"/>
          <a:lstStyle/>
          <a:p>
            <a:pPr indent="0" marL="0">
              <a:buNone/>
            </a:pPr>
            <a:r>
              <a:rPr lang="en-US" sz="6600" b="1" dirty="0">
                <a:solidFill>
                  <a:schemeClr val="bg1"/>
                </a:solidFill>
                <a:latin typeface="Arial" pitchFamily="34" charset="0"/>
                <a:ea typeface="Arial" pitchFamily="34" charset="-122"/>
                <a:cs typeface="Arial" pitchFamily="34" charset="-120"/>
              </a:rPr>
              <a:t>81</a:t>
            </a:r>
            <a:endParaRPr lang="en-US" sz="6600" dirty="0"/>
          </a:p>
        </p:txBody>
      </p:sp>
      <p:sp>
        <p:nvSpPr>
          <p:cNvPr id="14" name="Text 12"/>
          <p:cNvSpPr txBox="1"/>
          <p:nvPr/>
        </p:nvSpPr>
        <p:spPr>
          <a:xfrm>
            <a:off x="6217920" y="3840480"/>
            <a:ext cx="2560320" cy="365760"/>
          </a:xfrm>
          <a:prstGeom prst="rect">
            <a:avLst/>
          </a:prstGeom>
          <a:noFill/>
          <a:ln/>
        </p:spPr>
        <p:txBody>
          <a:bodyPr wrap="square" lIns="0" tIns="0" rIns="0" bIns="0" rtlCol="0" anchor="ctr"/>
          <a:lstStyle/>
          <a:p>
            <a:pPr indent="0" marL="0">
              <a:buNone/>
            </a:pPr>
            <a:r>
              <a:rPr lang="en-US" sz="1800" dirty="0">
                <a:solidFill>
                  <a:schemeClr val="bg1"/>
                </a:solidFill>
              </a:rPr>
              <a:t>properties</a:t>
            </a:r>
            <a:endParaRPr lang="en-US" sz="1800" dirty="0"/>
          </a:p>
        </p:txBody>
      </p:sp>
      <p:sp>
        <p:nvSpPr>
          <p:cNvPr id="15" name="Text 13"/>
          <p:cNvSpPr txBox="1"/>
          <p:nvPr/>
        </p:nvSpPr>
        <p:spPr>
          <a:xfrm>
            <a:off x="6217920" y="4206240"/>
            <a:ext cx="2560320" cy="32004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product_property</a:t>
            </a:r>
            <a:endParaRPr lang="en-US" sz="1100" dirty="0"/>
          </a:p>
        </p:txBody>
      </p:sp>
      <p:sp>
        <p:nvSpPr>
          <p:cNvPr id="16" name="stat-dot-3"/>
          <p:cNvSpPr/>
          <p:nvPr/>
        </p:nvSpPr>
        <p:spPr>
          <a:xfrm>
            <a:off x="8961120" y="2514600"/>
            <a:ext cx="128016" cy="128016"/>
          </a:xfrm>
          <a:prstGeom prst="rect">
            <a:avLst/>
          </a:prstGeom>
          <a:solidFill>
            <a:schemeClr val="accent4"/>
          </a:solidFill>
          <a:ln w="12700">
            <a:solidFill>
              <a:schemeClr val="accent4"/>
            </a:solidFill>
            <a:prstDash val="solid"/>
          </a:ln>
        </p:spPr>
      </p:sp>
      <p:sp>
        <p:nvSpPr>
          <p:cNvPr id="17" name="Text 15"/>
          <p:cNvSpPr txBox="1"/>
          <p:nvPr/>
        </p:nvSpPr>
        <p:spPr>
          <a:xfrm>
            <a:off x="8961120" y="2743200"/>
            <a:ext cx="2560320" cy="1097280"/>
          </a:xfrm>
          <a:prstGeom prst="rect">
            <a:avLst/>
          </a:prstGeom>
          <a:noFill/>
          <a:ln/>
        </p:spPr>
        <p:txBody>
          <a:bodyPr wrap="square" lIns="0" tIns="0" rIns="0" bIns="0" rtlCol="0" anchor="ctr"/>
          <a:lstStyle/>
          <a:p>
            <a:pPr indent="0" marL="0">
              <a:buNone/>
            </a:pPr>
            <a:r>
              <a:rPr lang="en-US" sz="6600" b="1" dirty="0">
                <a:solidFill>
                  <a:schemeClr val="bg1"/>
                </a:solidFill>
                <a:latin typeface="Arial" pitchFamily="34" charset="0"/>
                <a:ea typeface="Arial" pitchFamily="34" charset="-122"/>
                <a:cs typeface="Arial" pitchFamily="34" charset="-120"/>
              </a:rPr>
              <a:t>72</a:t>
            </a:r>
            <a:endParaRPr lang="en-US" sz="6600" dirty="0"/>
          </a:p>
        </p:txBody>
      </p:sp>
      <p:sp>
        <p:nvSpPr>
          <p:cNvPr id="18" name="Text 16"/>
          <p:cNvSpPr txBox="1"/>
          <p:nvPr/>
        </p:nvSpPr>
        <p:spPr>
          <a:xfrm>
            <a:off x="8961120" y="3840480"/>
            <a:ext cx="2560320" cy="365760"/>
          </a:xfrm>
          <a:prstGeom prst="rect">
            <a:avLst/>
          </a:prstGeom>
          <a:noFill/>
          <a:ln/>
        </p:spPr>
        <p:txBody>
          <a:bodyPr wrap="square" lIns="0" tIns="0" rIns="0" bIns="0" rtlCol="0" anchor="ctr"/>
          <a:lstStyle/>
          <a:p>
            <a:pPr indent="0" marL="0">
              <a:buNone/>
            </a:pPr>
            <a:r>
              <a:rPr lang="en-US" sz="1800" dirty="0">
                <a:solidFill>
                  <a:schemeClr val="bg1"/>
                </a:solidFill>
              </a:rPr>
              <a:t>rule results</a:t>
            </a:r>
            <a:endParaRPr lang="en-US" sz="1800" dirty="0"/>
          </a:p>
        </p:txBody>
      </p:sp>
      <p:sp>
        <p:nvSpPr>
          <p:cNvPr id="19" name="Text 17"/>
          <p:cNvSpPr txBox="1"/>
          <p:nvPr/>
        </p:nvSpPr>
        <p:spPr>
          <a:xfrm>
            <a:off x="8961120" y="4206240"/>
            <a:ext cx="2560320" cy="32004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product_validation_results</a:t>
            </a:r>
            <a:endParaRPr lang="en-US" sz="1100" dirty="0"/>
          </a:p>
        </p:txBody>
      </p:sp>
      <p:sp>
        <p:nvSpPr>
          <p:cNvPr id="20" name="Text 18"/>
          <p:cNvSpPr txBox="1"/>
          <p:nvPr/>
        </p:nvSpPr>
        <p:spPr>
          <a:xfrm>
            <a:off x="731520" y="5212080"/>
            <a:ext cx="10698480" cy="457200"/>
          </a:xfrm>
          <a:prstGeom prst="rect">
            <a:avLst/>
          </a:prstGeom>
          <a:noFill/>
          <a:ln/>
        </p:spPr>
        <p:txBody>
          <a:bodyPr wrap="square" lIns="0" tIns="0" rIns="0" bIns="0" rtlCol="0" anchor="ctr"/>
          <a:lstStyle/>
          <a:p>
            <a:pPr indent="0" marL="0">
              <a:buNone/>
            </a:pPr>
            <a:r>
              <a:rPr lang="en-US" sz="1800" dirty="0">
                <a:solidFill>
                  <a:schemeClr val="accent6"/>
                </a:solidFill>
              </a:rPr>
              <a:t>One failure: PRD-PACK-GTIN on …FA003115.00.1, a Pack with no GTIN alternate key.</a:t>
            </a:r>
            <a:endParaRPr lang="en-US" sz="1800" dirty="0"/>
          </a:p>
        </p:txBody>
      </p:sp>
    </p:spTree>
  </p:cSld>
  <p:clrMapOvr>
    <a:masterClrMapping/>
  </p:clrMapOvr>
</p:sld>
</file>

<file path=ppt/theme/theme1.xml><?xml version="1.0" encoding="utf-8"?>
<a:theme xmlns:a="http://schemas.openxmlformats.org/drawingml/2006/main" name="Product Schema">
  <a:themeElements>
    <a:clrScheme name="Product Schema">
      <a:dk1>
        <a:srgbClr val="15212A"/>
      </a:dk1>
      <a:lt1>
        <a:srgbClr val="FFFFFF"/>
      </a:lt1>
      <a:dk2>
        <a:srgbClr val="2B3A44"/>
      </a:dk2>
      <a:lt2>
        <a:srgbClr val="F2F5F6"/>
      </a:lt2>
      <a:accent1>
        <a:srgbClr val="0E6F69"/>
      </a:accent1>
      <a:accent2>
        <a:srgbClr val="A8650F"/>
      </a:accent2>
      <a:accent3>
        <a:srgbClr val="4A4FB8"/>
      </a:accent3>
      <a:accent4>
        <a:srgbClr val="A72F55"/>
      </a:accent4>
      <a:accent5>
        <a:srgbClr val="586873"/>
      </a:accent5>
      <a:accent6>
        <a:srgbClr val="D3DCE1"/>
      </a:accent6>
      <a:hlink>
        <a:srgbClr val="0E6F69"/>
      </a:hlink>
      <a:folHlink>
        <a:srgbClr val="4A4FB8"/>
      </a:folHlink>
    </a:clrScheme>
    <a:fontScheme name="Product Schem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Database Schema</dc:title>
  <dc:subject>Tables of the product master data program</dc:subject>
  <dc:creator>PptxGenJS</dc:creator>
  <cp:lastModifiedBy>PptxGenJS</cp:lastModifiedBy>
  <cp:revision>1</cp:revision>
  <dcterms:created xsi:type="dcterms:W3CDTF">2026-10-09T04:16:55Z</dcterms:created>
  <dcterms:modified xsi:type="dcterms:W3CDTF">2026-10-09T04:16:55Z</dcterms:modified>
</cp:coreProperties>
</file>